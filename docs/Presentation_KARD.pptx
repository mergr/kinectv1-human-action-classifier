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Calibri (MS)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28493-206B-281E-E304-508775A2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22BAAD-A6B9-0EA9-C185-33026F7639A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AC3077-DBED-173C-4AB1-7E2E01EA6E8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84E9BB0-FEAF-A02D-8883-2692F0D05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86C4F07-1FB7-58B6-DCBB-0DC38D0BBF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F028AD-B16B-2D87-59E5-DC54B29F4AF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284CC-0C47-8AE3-65BC-CF9C5A24C0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5688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23143" y="-2207257"/>
            <a:ext cx="8255003" cy="8255003"/>
            <a:chOff x="0" y="0"/>
            <a:chExt cx="11006671" cy="110066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10972800" cy="10972800"/>
            </a:xfrm>
            <a:custGeom>
              <a:avLst/>
              <a:gdLst/>
              <a:ahLst/>
              <a:cxnLst/>
              <a:rect l="l" t="t" r="r" b="b"/>
              <a:pathLst>
                <a:path w="10972800" h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E5090">
                <a:alpha val="7451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841497" y="6388103"/>
            <a:ext cx="5511803" cy="5511803"/>
            <a:chOff x="0" y="0"/>
            <a:chExt cx="7349071" cy="7349071"/>
          </a:xfrm>
        </p:grpSpPr>
        <p:sp>
          <p:nvSpPr>
            <p:cNvPr id="5" name="Freeform 5"/>
            <p:cNvSpPr/>
            <p:nvPr/>
          </p:nvSpPr>
          <p:spPr>
            <a:xfrm>
              <a:off x="16891" y="16891"/>
              <a:ext cx="7315200" cy="7315200"/>
            </a:xfrm>
            <a:custGeom>
              <a:avLst/>
              <a:gdLst/>
              <a:ahLst/>
              <a:cxnLst/>
              <a:rect l="l" t="t" r="r" b="b"/>
              <a:pathLst>
                <a:path w="7315200" h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C44E52">
                <a:alpha val="3137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996160" y="2194560"/>
            <a:ext cx="2560320" cy="2560320"/>
            <a:chOff x="0" y="0"/>
            <a:chExt cx="3413760" cy="341376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3413760" cy="3413760"/>
            </a:xfrm>
            <a:custGeom>
              <a:avLst/>
              <a:gdLst/>
              <a:ahLst/>
              <a:cxnLst/>
              <a:rect l="l" t="t" r="r" b="b"/>
              <a:pathLst>
                <a:path w="3413760" h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3413760"/>
                  </a:lnTo>
                  <a:lnTo>
                    <a:pt x="0" y="3413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3716000" cy="585216"/>
            <a:chOff x="0" y="0"/>
            <a:chExt cx="18288000" cy="7802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88000" cy="780288"/>
            </a:xfrm>
            <a:custGeom>
              <a:avLst/>
              <a:gdLst/>
              <a:ahLst/>
              <a:cxnLst/>
              <a:rect l="l" t="t" r="r" b="b"/>
              <a:pathLst>
                <a:path w="18288000" h="780288">
                  <a:moveTo>
                    <a:pt x="0" y="0"/>
                  </a:moveTo>
                  <a:lnTo>
                    <a:pt x="18288000" y="0"/>
                  </a:lnTo>
                  <a:lnTo>
                    <a:pt x="182880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06680" b="-40668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2880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Université Sidi Mohamed Ben Abdallah de Fès  ·  FSTF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05840" y="1243584"/>
            <a:ext cx="13716000" cy="512064"/>
            <a:chOff x="0" y="0"/>
            <a:chExt cx="18288000" cy="68275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288000" cy="682752"/>
            </a:xfrm>
            <a:custGeom>
              <a:avLst/>
              <a:gdLst/>
              <a:ahLst/>
              <a:cxnLst/>
              <a:rect l="l" t="t" r="r" b="b"/>
              <a:pathLst>
                <a:path w="18288000" h="682752">
                  <a:moveTo>
                    <a:pt x="0" y="0"/>
                  </a:moveTo>
                  <a:lnTo>
                    <a:pt x="18288000" y="0"/>
                  </a:lnTo>
                  <a:lnTo>
                    <a:pt x="18288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1920" b="-47192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2880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6B88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MST-SDSI — Semestre 8  ·  Machine Learning  ·  2025 / 2026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3143" y="1998983"/>
            <a:ext cx="8255003" cy="71123"/>
            <a:chOff x="0" y="0"/>
            <a:chExt cx="11006671" cy="9483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0972800" cy="60960"/>
            </a:xfrm>
            <a:custGeom>
              <a:avLst/>
              <a:gdLst/>
              <a:ahLst/>
              <a:cxnLst/>
              <a:rect l="l" t="t" r="r" b="b"/>
              <a:pathLst>
                <a:path w="10972800" h="60960">
                  <a:moveTo>
                    <a:pt x="0" y="0"/>
                  </a:moveTo>
                  <a:lnTo>
                    <a:pt x="10972800" y="0"/>
                  </a:lnTo>
                  <a:lnTo>
                    <a:pt x="1097280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1006582" cy="94744"/>
            </a:xfrm>
            <a:custGeom>
              <a:avLst/>
              <a:gdLst/>
              <a:ahLst/>
              <a:cxnLst/>
              <a:rect l="l" t="t" r="r" b="b"/>
              <a:pathLst>
                <a:path w="11006582" h="94744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7851"/>
                  </a:lnTo>
                  <a:cubicBezTo>
                    <a:pt x="11006582" y="87249"/>
                    <a:pt x="10998962" y="94742"/>
                    <a:pt x="1098969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10989691" y="60960"/>
                  </a:lnTo>
                  <a:lnTo>
                    <a:pt x="10989691" y="77851"/>
                  </a:lnTo>
                  <a:lnTo>
                    <a:pt x="10972800" y="77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5840" y="2194560"/>
            <a:ext cx="15544800" cy="1645920"/>
            <a:chOff x="0" y="0"/>
            <a:chExt cx="20726400" cy="2194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726400" cy="2194560"/>
            </a:xfrm>
            <a:custGeom>
              <a:avLst/>
              <a:gdLst/>
              <a:ahLst/>
              <a:cxnLst/>
              <a:rect l="l" t="t" r="r" b="b"/>
              <a:pathLst>
                <a:path w="20726400" h="2194560">
                  <a:moveTo>
                    <a:pt x="0" y="0"/>
                  </a:moveTo>
                  <a:lnTo>
                    <a:pt x="20726400" y="0"/>
                  </a:lnTo>
                  <a:lnTo>
                    <a:pt x="20726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4025" b="-13402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52400"/>
              <a:ext cx="20726400" cy="2346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20"/>
                </a:lnSpc>
              </a:pPr>
              <a:r>
                <a:rPr lang="en-US" sz="7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Classification des Actions Humaines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3749040"/>
            <a:ext cx="14630400" cy="1005840"/>
            <a:chOff x="0" y="0"/>
            <a:chExt cx="19507200" cy="13411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85725"/>
              <a:ext cx="19507200" cy="1426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basée sur la profondeur skeleton 3D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05840" y="4846320"/>
            <a:ext cx="12801600" cy="640080"/>
            <a:chOff x="0" y="0"/>
            <a:chExt cx="17068800" cy="8534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7068800" cy="853440"/>
            </a:xfrm>
            <a:custGeom>
              <a:avLst/>
              <a:gdLst/>
              <a:ahLst/>
              <a:cxnLst/>
              <a:rect l="l" t="t" r="r" b="b"/>
              <a:pathLst>
                <a:path w="17068800" h="853440">
                  <a:moveTo>
                    <a:pt x="0" y="0"/>
                  </a:moveTo>
                  <a:lnTo>
                    <a:pt x="17068800" y="0"/>
                  </a:lnTo>
                  <a:lnTo>
                    <a:pt x="17068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70688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6B88B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Dataset KARD — Kinect Activity Recognition Dataset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3143" y="5802887"/>
            <a:ext cx="8255003" cy="71123"/>
            <a:chOff x="0" y="0"/>
            <a:chExt cx="11006671" cy="94831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10972800" cy="60960"/>
            </a:xfrm>
            <a:custGeom>
              <a:avLst/>
              <a:gdLst/>
              <a:ahLst/>
              <a:cxnLst/>
              <a:rect l="l" t="t" r="r" b="b"/>
              <a:pathLst>
                <a:path w="10972800" h="60960">
                  <a:moveTo>
                    <a:pt x="0" y="0"/>
                  </a:moveTo>
                  <a:lnTo>
                    <a:pt x="10972800" y="0"/>
                  </a:lnTo>
                  <a:lnTo>
                    <a:pt x="1097280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11006582" cy="94744"/>
            </a:xfrm>
            <a:custGeom>
              <a:avLst/>
              <a:gdLst/>
              <a:ahLst/>
              <a:cxnLst/>
              <a:rect l="l" t="t" r="r" b="b"/>
              <a:pathLst>
                <a:path w="11006582" h="94744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77851"/>
                  </a:lnTo>
                  <a:cubicBezTo>
                    <a:pt x="11006582" y="87249"/>
                    <a:pt x="10998962" y="94742"/>
                    <a:pt x="1098969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10989691" y="60960"/>
                  </a:lnTo>
                  <a:lnTo>
                    <a:pt x="10989691" y="77851"/>
                  </a:lnTo>
                  <a:lnTo>
                    <a:pt x="10972800" y="778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05840" y="6071616"/>
            <a:ext cx="5486400" cy="512064"/>
            <a:chOff x="0" y="0"/>
            <a:chExt cx="7315200" cy="6827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315200" cy="682752"/>
            </a:xfrm>
            <a:custGeom>
              <a:avLst/>
              <a:gdLst/>
              <a:ahLst/>
              <a:cxnLst/>
              <a:rect l="l" t="t" r="r" b="b"/>
              <a:pathLst>
                <a:path w="7315200" h="682752">
                  <a:moveTo>
                    <a:pt x="0" y="0"/>
                  </a:moveTo>
                  <a:lnTo>
                    <a:pt x="7315200" y="0"/>
                  </a:lnTo>
                  <a:lnTo>
                    <a:pt x="73152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768" b="-15876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731520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Préparé par :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547104"/>
            <a:ext cx="16459200" cy="694944"/>
            <a:chOff x="0" y="0"/>
            <a:chExt cx="21945600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945600" cy="926592"/>
            </a:xfrm>
            <a:custGeom>
              <a:avLst/>
              <a:gdLst/>
              <a:ahLst/>
              <a:cxnLst/>
              <a:rect l="l" t="t" r="r" b="b"/>
              <a:pathLst>
                <a:path w="21945600" h="926592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11487" b="-41148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1945600" cy="9742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WIAME EL-AMIMRI   ·   GRAOUI ABDERRAHMANE   ·   HAJAR SAMTAL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9487" y="8223247"/>
            <a:ext cx="3085081" cy="652777"/>
            <a:chOff x="0" y="0"/>
            <a:chExt cx="4113441" cy="870369"/>
          </a:xfrm>
        </p:grpSpPr>
        <p:sp>
          <p:nvSpPr>
            <p:cNvPr id="36" name="Freeform 36"/>
            <p:cNvSpPr/>
            <p:nvPr/>
          </p:nvSpPr>
          <p:spPr>
            <a:xfrm>
              <a:off x="8509" y="8509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146304"/>
                  </a:moveTo>
                  <a:cubicBezTo>
                    <a:pt x="0" y="65405"/>
                    <a:pt x="66548" y="0"/>
                    <a:pt x="148590" y="0"/>
                  </a:cubicBezTo>
                  <a:lnTo>
                    <a:pt x="3947922" y="0"/>
                  </a:lnTo>
                  <a:cubicBezTo>
                    <a:pt x="4029964" y="0"/>
                    <a:pt x="4096512" y="65532"/>
                    <a:pt x="4096512" y="146304"/>
                  </a:cubicBezTo>
                  <a:lnTo>
                    <a:pt x="4096512" y="707136"/>
                  </a:lnTo>
                  <a:cubicBezTo>
                    <a:pt x="4096512" y="787908"/>
                    <a:pt x="4029964" y="853440"/>
                    <a:pt x="3947922" y="853440"/>
                  </a:cubicBezTo>
                  <a:lnTo>
                    <a:pt x="148590" y="853440"/>
                  </a:lnTo>
                  <a:cubicBezTo>
                    <a:pt x="66548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53B6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113530" cy="870458"/>
            </a:xfrm>
            <a:custGeom>
              <a:avLst/>
              <a:gdLst/>
              <a:ahLst/>
              <a:cxnLst/>
              <a:rect l="l" t="t" r="r" b="b"/>
              <a:pathLst>
                <a:path w="4113530" h="870458">
                  <a:moveTo>
                    <a:pt x="0" y="154813"/>
                  </a:moveTo>
                  <a:cubicBezTo>
                    <a:pt x="0" y="69215"/>
                    <a:pt x="70485" y="0"/>
                    <a:pt x="157099" y="0"/>
                  </a:cubicBezTo>
                  <a:lnTo>
                    <a:pt x="3956431" y="0"/>
                  </a:lnTo>
                  <a:lnTo>
                    <a:pt x="3956431" y="8509"/>
                  </a:lnTo>
                  <a:lnTo>
                    <a:pt x="3956431" y="0"/>
                  </a:lnTo>
                  <a:cubicBezTo>
                    <a:pt x="4043045" y="0"/>
                    <a:pt x="4113530" y="69215"/>
                    <a:pt x="4113530" y="154813"/>
                  </a:cubicBezTo>
                  <a:lnTo>
                    <a:pt x="4113530" y="715645"/>
                  </a:lnTo>
                  <a:lnTo>
                    <a:pt x="4105021" y="715645"/>
                  </a:lnTo>
                  <a:lnTo>
                    <a:pt x="4113530" y="715645"/>
                  </a:lnTo>
                  <a:cubicBezTo>
                    <a:pt x="4113530" y="801243"/>
                    <a:pt x="4043045" y="870458"/>
                    <a:pt x="3956431" y="870458"/>
                  </a:cubicBezTo>
                  <a:lnTo>
                    <a:pt x="3956431" y="861949"/>
                  </a:lnTo>
                  <a:lnTo>
                    <a:pt x="3956431" y="870458"/>
                  </a:lnTo>
                  <a:lnTo>
                    <a:pt x="157099" y="870458"/>
                  </a:lnTo>
                  <a:lnTo>
                    <a:pt x="157099" y="861949"/>
                  </a:lnTo>
                  <a:lnTo>
                    <a:pt x="157099" y="870458"/>
                  </a:lnTo>
                  <a:cubicBezTo>
                    <a:pt x="70485" y="870331"/>
                    <a:pt x="0" y="801243"/>
                    <a:pt x="0" y="715645"/>
                  </a:cubicBezTo>
                  <a:lnTo>
                    <a:pt x="0" y="154813"/>
                  </a:lnTo>
                  <a:lnTo>
                    <a:pt x="8509" y="154813"/>
                  </a:lnTo>
                  <a:lnTo>
                    <a:pt x="0" y="154813"/>
                  </a:lnTo>
                  <a:moveTo>
                    <a:pt x="16891" y="154813"/>
                  </a:moveTo>
                  <a:lnTo>
                    <a:pt x="16891" y="715645"/>
                  </a:lnTo>
                  <a:lnTo>
                    <a:pt x="8509" y="715645"/>
                  </a:lnTo>
                  <a:lnTo>
                    <a:pt x="17018" y="715645"/>
                  </a:lnTo>
                  <a:cubicBezTo>
                    <a:pt x="17018" y="791591"/>
                    <a:pt x="79629" y="853440"/>
                    <a:pt x="157099" y="853440"/>
                  </a:cubicBezTo>
                  <a:lnTo>
                    <a:pt x="3956431" y="853440"/>
                  </a:lnTo>
                  <a:cubicBezTo>
                    <a:pt x="4033901" y="853440"/>
                    <a:pt x="4096512" y="791591"/>
                    <a:pt x="4096512" y="715645"/>
                  </a:cubicBezTo>
                  <a:lnTo>
                    <a:pt x="4096512" y="154813"/>
                  </a:lnTo>
                  <a:lnTo>
                    <a:pt x="4105021" y="154813"/>
                  </a:lnTo>
                  <a:lnTo>
                    <a:pt x="4096512" y="154813"/>
                  </a:lnTo>
                  <a:cubicBezTo>
                    <a:pt x="4096512" y="78867"/>
                    <a:pt x="4033901" y="17018"/>
                    <a:pt x="3956431" y="17018"/>
                  </a:cubicBezTo>
                  <a:lnTo>
                    <a:pt x="157099" y="17018"/>
                  </a:lnTo>
                  <a:lnTo>
                    <a:pt x="157099" y="8509"/>
                  </a:lnTo>
                  <a:lnTo>
                    <a:pt x="157099" y="17018"/>
                  </a:lnTo>
                  <a:cubicBezTo>
                    <a:pt x="79502" y="16891"/>
                    <a:pt x="16891" y="78740"/>
                    <a:pt x="16891" y="154813"/>
                  </a:cubicBez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8229600"/>
            <a:ext cx="3072384" cy="640080"/>
            <a:chOff x="0" y="0"/>
            <a:chExt cx="4096512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4096512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SVM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327903" y="8223247"/>
            <a:ext cx="3085081" cy="652777"/>
            <a:chOff x="0" y="0"/>
            <a:chExt cx="4113441" cy="870369"/>
          </a:xfrm>
        </p:grpSpPr>
        <p:sp>
          <p:nvSpPr>
            <p:cNvPr id="42" name="Freeform 42"/>
            <p:cNvSpPr/>
            <p:nvPr/>
          </p:nvSpPr>
          <p:spPr>
            <a:xfrm>
              <a:off x="8509" y="8509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146304"/>
                  </a:moveTo>
                  <a:cubicBezTo>
                    <a:pt x="0" y="65405"/>
                    <a:pt x="66548" y="0"/>
                    <a:pt x="148590" y="0"/>
                  </a:cubicBezTo>
                  <a:lnTo>
                    <a:pt x="3947922" y="0"/>
                  </a:lnTo>
                  <a:cubicBezTo>
                    <a:pt x="4029964" y="0"/>
                    <a:pt x="4096512" y="65532"/>
                    <a:pt x="4096512" y="146304"/>
                  </a:cubicBezTo>
                  <a:lnTo>
                    <a:pt x="4096512" y="707136"/>
                  </a:lnTo>
                  <a:cubicBezTo>
                    <a:pt x="4096512" y="787908"/>
                    <a:pt x="4029964" y="853440"/>
                    <a:pt x="3947922" y="853440"/>
                  </a:cubicBezTo>
                  <a:lnTo>
                    <a:pt x="148590" y="853440"/>
                  </a:lnTo>
                  <a:cubicBezTo>
                    <a:pt x="66548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53B6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4113530" cy="870458"/>
            </a:xfrm>
            <a:custGeom>
              <a:avLst/>
              <a:gdLst/>
              <a:ahLst/>
              <a:cxnLst/>
              <a:rect l="l" t="t" r="r" b="b"/>
              <a:pathLst>
                <a:path w="4113530" h="870458">
                  <a:moveTo>
                    <a:pt x="0" y="154813"/>
                  </a:moveTo>
                  <a:cubicBezTo>
                    <a:pt x="0" y="69215"/>
                    <a:pt x="70485" y="0"/>
                    <a:pt x="157099" y="0"/>
                  </a:cubicBezTo>
                  <a:lnTo>
                    <a:pt x="3956431" y="0"/>
                  </a:lnTo>
                  <a:lnTo>
                    <a:pt x="3956431" y="8509"/>
                  </a:lnTo>
                  <a:lnTo>
                    <a:pt x="3956431" y="0"/>
                  </a:lnTo>
                  <a:cubicBezTo>
                    <a:pt x="4043045" y="0"/>
                    <a:pt x="4113530" y="69215"/>
                    <a:pt x="4113530" y="154813"/>
                  </a:cubicBezTo>
                  <a:lnTo>
                    <a:pt x="4113530" y="715645"/>
                  </a:lnTo>
                  <a:lnTo>
                    <a:pt x="4105021" y="715645"/>
                  </a:lnTo>
                  <a:lnTo>
                    <a:pt x="4113530" y="715645"/>
                  </a:lnTo>
                  <a:cubicBezTo>
                    <a:pt x="4113530" y="801243"/>
                    <a:pt x="4043045" y="870458"/>
                    <a:pt x="3956431" y="870458"/>
                  </a:cubicBezTo>
                  <a:lnTo>
                    <a:pt x="3956431" y="861949"/>
                  </a:lnTo>
                  <a:lnTo>
                    <a:pt x="3956431" y="870458"/>
                  </a:lnTo>
                  <a:lnTo>
                    <a:pt x="157099" y="870458"/>
                  </a:lnTo>
                  <a:lnTo>
                    <a:pt x="157099" y="861949"/>
                  </a:lnTo>
                  <a:lnTo>
                    <a:pt x="157099" y="870458"/>
                  </a:lnTo>
                  <a:cubicBezTo>
                    <a:pt x="70485" y="870331"/>
                    <a:pt x="0" y="801243"/>
                    <a:pt x="0" y="715645"/>
                  </a:cubicBezTo>
                  <a:lnTo>
                    <a:pt x="0" y="154813"/>
                  </a:lnTo>
                  <a:lnTo>
                    <a:pt x="8509" y="154813"/>
                  </a:lnTo>
                  <a:lnTo>
                    <a:pt x="0" y="154813"/>
                  </a:lnTo>
                  <a:moveTo>
                    <a:pt x="16891" y="154813"/>
                  </a:moveTo>
                  <a:lnTo>
                    <a:pt x="16891" y="715645"/>
                  </a:lnTo>
                  <a:lnTo>
                    <a:pt x="8509" y="715645"/>
                  </a:lnTo>
                  <a:lnTo>
                    <a:pt x="17018" y="715645"/>
                  </a:lnTo>
                  <a:cubicBezTo>
                    <a:pt x="17018" y="791591"/>
                    <a:pt x="79629" y="853440"/>
                    <a:pt x="157099" y="853440"/>
                  </a:cubicBezTo>
                  <a:lnTo>
                    <a:pt x="3956431" y="853440"/>
                  </a:lnTo>
                  <a:cubicBezTo>
                    <a:pt x="4033901" y="853440"/>
                    <a:pt x="4096512" y="791591"/>
                    <a:pt x="4096512" y="715645"/>
                  </a:cubicBezTo>
                  <a:lnTo>
                    <a:pt x="4096512" y="154813"/>
                  </a:lnTo>
                  <a:lnTo>
                    <a:pt x="4105021" y="154813"/>
                  </a:lnTo>
                  <a:lnTo>
                    <a:pt x="4096512" y="154813"/>
                  </a:lnTo>
                  <a:cubicBezTo>
                    <a:pt x="4096512" y="78867"/>
                    <a:pt x="4033901" y="17018"/>
                    <a:pt x="3956431" y="17018"/>
                  </a:cubicBezTo>
                  <a:lnTo>
                    <a:pt x="157099" y="17018"/>
                  </a:lnTo>
                  <a:lnTo>
                    <a:pt x="157099" y="8509"/>
                  </a:lnTo>
                  <a:lnTo>
                    <a:pt x="157099" y="17018"/>
                  </a:lnTo>
                  <a:cubicBezTo>
                    <a:pt x="79502" y="16891"/>
                    <a:pt x="16891" y="78740"/>
                    <a:pt x="16891" y="154813"/>
                  </a:cubicBez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34256" y="8229600"/>
            <a:ext cx="3072384" cy="640080"/>
            <a:chOff x="0" y="0"/>
            <a:chExt cx="4096512" cy="8534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096512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656319" y="8223247"/>
            <a:ext cx="3085081" cy="652777"/>
            <a:chOff x="0" y="0"/>
            <a:chExt cx="4113441" cy="870369"/>
          </a:xfrm>
        </p:grpSpPr>
        <p:sp>
          <p:nvSpPr>
            <p:cNvPr id="48" name="Freeform 48"/>
            <p:cNvSpPr/>
            <p:nvPr/>
          </p:nvSpPr>
          <p:spPr>
            <a:xfrm>
              <a:off x="8509" y="8509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146304"/>
                  </a:moveTo>
                  <a:cubicBezTo>
                    <a:pt x="0" y="65405"/>
                    <a:pt x="66548" y="0"/>
                    <a:pt x="148590" y="0"/>
                  </a:cubicBezTo>
                  <a:lnTo>
                    <a:pt x="3947922" y="0"/>
                  </a:lnTo>
                  <a:cubicBezTo>
                    <a:pt x="4029964" y="0"/>
                    <a:pt x="4096512" y="65532"/>
                    <a:pt x="4096512" y="146304"/>
                  </a:cubicBezTo>
                  <a:lnTo>
                    <a:pt x="4096512" y="707136"/>
                  </a:lnTo>
                  <a:cubicBezTo>
                    <a:pt x="4096512" y="787908"/>
                    <a:pt x="4029964" y="853440"/>
                    <a:pt x="3947922" y="853440"/>
                  </a:cubicBezTo>
                  <a:lnTo>
                    <a:pt x="148590" y="853440"/>
                  </a:lnTo>
                  <a:cubicBezTo>
                    <a:pt x="66548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53B6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4113530" cy="870458"/>
            </a:xfrm>
            <a:custGeom>
              <a:avLst/>
              <a:gdLst/>
              <a:ahLst/>
              <a:cxnLst/>
              <a:rect l="l" t="t" r="r" b="b"/>
              <a:pathLst>
                <a:path w="4113530" h="870458">
                  <a:moveTo>
                    <a:pt x="0" y="154813"/>
                  </a:moveTo>
                  <a:cubicBezTo>
                    <a:pt x="0" y="69215"/>
                    <a:pt x="70485" y="0"/>
                    <a:pt x="157099" y="0"/>
                  </a:cubicBezTo>
                  <a:lnTo>
                    <a:pt x="3956431" y="0"/>
                  </a:lnTo>
                  <a:lnTo>
                    <a:pt x="3956431" y="8509"/>
                  </a:lnTo>
                  <a:lnTo>
                    <a:pt x="3956431" y="0"/>
                  </a:lnTo>
                  <a:cubicBezTo>
                    <a:pt x="4043045" y="0"/>
                    <a:pt x="4113530" y="69215"/>
                    <a:pt x="4113530" y="154813"/>
                  </a:cubicBezTo>
                  <a:lnTo>
                    <a:pt x="4113530" y="715645"/>
                  </a:lnTo>
                  <a:lnTo>
                    <a:pt x="4105021" y="715645"/>
                  </a:lnTo>
                  <a:lnTo>
                    <a:pt x="4113530" y="715645"/>
                  </a:lnTo>
                  <a:cubicBezTo>
                    <a:pt x="4113530" y="801243"/>
                    <a:pt x="4043045" y="870458"/>
                    <a:pt x="3956431" y="870458"/>
                  </a:cubicBezTo>
                  <a:lnTo>
                    <a:pt x="3956431" y="861949"/>
                  </a:lnTo>
                  <a:lnTo>
                    <a:pt x="3956431" y="870458"/>
                  </a:lnTo>
                  <a:lnTo>
                    <a:pt x="157099" y="870458"/>
                  </a:lnTo>
                  <a:lnTo>
                    <a:pt x="157099" y="861949"/>
                  </a:lnTo>
                  <a:lnTo>
                    <a:pt x="157099" y="870458"/>
                  </a:lnTo>
                  <a:cubicBezTo>
                    <a:pt x="70485" y="870331"/>
                    <a:pt x="0" y="801243"/>
                    <a:pt x="0" y="715645"/>
                  </a:cubicBezTo>
                  <a:lnTo>
                    <a:pt x="0" y="154813"/>
                  </a:lnTo>
                  <a:lnTo>
                    <a:pt x="8509" y="154813"/>
                  </a:lnTo>
                  <a:lnTo>
                    <a:pt x="0" y="154813"/>
                  </a:lnTo>
                  <a:moveTo>
                    <a:pt x="16891" y="154813"/>
                  </a:moveTo>
                  <a:lnTo>
                    <a:pt x="16891" y="715645"/>
                  </a:lnTo>
                  <a:lnTo>
                    <a:pt x="8509" y="715645"/>
                  </a:lnTo>
                  <a:lnTo>
                    <a:pt x="17018" y="715645"/>
                  </a:lnTo>
                  <a:cubicBezTo>
                    <a:pt x="17018" y="791591"/>
                    <a:pt x="79629" y="853440"/>
                    <a:pt x="157099" y="853440"/>
                  </a:cubicBezTo>
                  <a:lnTo>
                    <a:pt x="3956431" y="853440"/>
                  </a:lnTo>
                  <a:cubicBezTo>
                    <a:pt x="4033901" y="853440"/>
                    <a:pt x="4096512" y="791591"/>
                    <a:pt x="4096512" y="715645"/>
                  </a:cubicBezTo>
                  <a:lnTo>
                    <a:pt x="4096512" y="154813"/>
                  </a:lnTo>
                  <a:lnTo>
                    <a:pt x="4105021" y="154813"/>
                  </a:lnTo>
                  <a:lnTo>
                    <a:pt x="4096512" y="154813"/>
                  </a:lnTo>
                  <a:cubicBezTo>
                    <a:pt x="4096512" y="78867"/>
                    <a:pt x="4033901" y="17018"/>
                    <a:pt x="3956431" y="17018"/>
                  </a:cubicBezTo>
                  <a:lnTo>
                    <a:pt x="157099" y="17018"/>
                  </a:lnTo>
                  <a:lnTo>
                    <a:pt x="157099" y="8509"/>
                  </a:lnTo>
                  <a:lnTo>
                    <a:pt x="157099" y="17018"/>
                  </a:lnTo>
                  <a:cubicBezTo>
                    <a:pt x="79502" y="16891"/>
                    <a:pt x="16891" y="78740"/>
                    <a:pt x="16891" y="154813"/>
                  </a:cubicBez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62672" y="8229600"/>
            <a:ext cx="3072384" cy="640080"/>
            <a:chOff x="0" y="0"/>
            <a:chExt cx="4096512" cy="8534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4096512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Squelette 3D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984735" y="8223247"/>
            <a:ext cx="3085081" cy="652777"/>
            <a:chOff x="0" y="0"/>
            <a:chExt cx="4113441" cy="870369"/>
          </a:xfrm>
        </p:grpSpPr>
        <p:sp>
          <p:nvSpPr>
            <p:cNvPr id="54" name="Freeform 54"/>
            <p:cNvSpPr/>
            <p:nvPr/>
          </p:nvSpPr>
          <p:spPr>
            <a:xfrm>
              <a:off x="8509" y="8509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146304"/>
                  </a:moveTo>
                  <a:cubicBezTo>
                    <a:pt x="0" y="65405"/>
                    <a:pt x="66548" y="0"/>
                    <a:pt x="148590" y="0"/>
                  </a:cubicBezTo>
                  <a:lnTo>
                    <a:pt x="3947922" y="0"/>
                  </a:lnTo>
                  <a:cubicBezTo>
                    <a:pt x="4029964" y="0"/>
                    <a:pt x="4096512" y="65532"/>
                    <a:pt x="4096512" y="146304"/>
                  </a:cubicBezTo>
                  <a:lnTo>
                    <a:pt x="4096512" y="707136"/>
                  </a:lnTo>
                  <a:cubicBezTo>
                    <a:pt x="4096512" y="787908"/>
                    <a:pt x="4029964" y="853440"/>
                    <a:pt x="3947922" y="853440"/>
                  </a:cubicBezTo>
                  <a:lnTo>
                    <a:pt x="148590" y="853440"/>
                  </a:lnTo>
                  <a:cubicBezTo>
                    <a:pt x="66548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53B6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4113530" cy="870458"/>
            </a:xfrm>
            <a:custGeom>
              <a:avLst/>
              <a:gdLst/>
              <a:ahLst/>
              <a:cxnLst/>
              <a:rect l="l" t="t" r="r" b="b"/>
              <a:pathLst>
                <a:path w="4113530" h="870458">
                  <a:moveTo>
                    <a:pt x="0" y="154813"/>
                  </a:moveTo>
                  <a:cubicBezTo>
                    <a:pt x="0" y="69215"/>
                    <a:pt x="70485" y="0"/>
                    <a:pt x="157099" y="0"/>
                  </a:cubicBezTo>
                  <a:lnTo>
                    <a:pt x="3956431" y="0"/>
                  </a:lnTo>
                  <a:lnTo>
                    <a:pt x="3956431" y="8509"/>
                  </a:lnTo>
                  <a:lnTo>
                    <a:pt x="3956431" y="0"/>
                  </a:lnTo>
                  <a:cubicBezTo>
                    <a:pt x="4043045" y="0"/>
                    <a:pt x="4113530" y="69215"/>
                    <a:pt x="4113530" y="154813"/>
                  </a:cubicBezTo>
                  <a:lnTo>
                    <a:pt x="4113530" y="715645"/>
                  </a:lnTo>
                  <a:lnTo>
                    <a:pt x="4105021" y="715645"/>
                  </a:lnTo>
                  <a:lnTo>
                    <a:pt x="4113530" y="715645"/>
                  </a:lnTo>
                  <a:cubicBezTo>
                    <a:pt x="4113530" y="801243"/>
                    <a:pt x="4043045" y="870458"/>
                    <a:pt x="3956431" y="870458"/>
                  </a:cubicBezTo>
                  <a:lnTo>
                    <a:pt x="3956431" y="861949"/>
                  </a:lnTo>
                  <a:lnTo>
                    <a:pt x="3956431" y="870458"/>
                  </a:lnTo>
                  <a:lnTo>
                    <a:pt x="157099" y="870458"/>
                  </a:lnTo>
                  <a:lnTo>
                    <a:pt x="157099" y="861949"/>
                  </a:lnTo>
                  <a:lnTo>
                    <a:pt x="157099" y="870458"/>
                  </a:lnTo>
                  <a:cubicBezTo>
                    <a:pt x="70485" y="870331"/>
                    <a:pt x="0" y="801243"/>
                    <a:pt x="0" y="715645"/>
                  </a:cubicBezTo>
                  <a:lnTo>
                    <a:pt x="0" y="154813"/>
                  </a:lnTo>
                  <a:lnTo>
                    <a:pt x="8509" y="154813"/>
                  </a:lnTo>
                  <a:lnTo>
                    <a:pt x="0" y="154813"/>
                  </a:lnTo>
                  <a:moveTo>
                    <a:pt x="16891" y="154813"/>
                  </a:moveTo>
                  <a:lnTo>
                    <a:pt x="16891" y="715645"/>
                  </a:lnTo>
                  <a:lnTo>
                    <a:pt x="8509" y="715645"/>
                  </a:lnTo>
                  <a:lnTo>
                    <a:pt x="17018" y="715645"/>
                  </a:lnTo>
                  <a:cubicBezTo>
                    <a:pt x="17018" y="791591"/>
                    <a:pt x="79629" y="853440"/>
                    <a:pt x="157099" y="853440"/>
                  </a:cubicBezTo>
                  <a:lnTo>
                    <a:pt x="3956431" y="853440"/>
                  </a:lnTo>
                  <a:cubicBezTo>
                    <a:pt x="4033901" y="853440"/>
                    <a:pt x="4096512" y="791591"/>
                    <a:pt x="4096512" y="715645"/>
                  </a:cubicBezTo>
                  <a:lnTo>
                    <a:pt x="4096512" y="154813"/>
                  </a:lnTo>
                  <a:lnTo>
                    <a:pt x="4105021" y="154813"/>
                  </a:lnTo>
                  <a:lnTo>
                    <a:pt x="4096512" y="154813"/>
                  </a:lnTo>
                  <a:cubicBezTo>
                    <a:pt x="4096512" y="78867"/>
                    <a:pt x="4033901" y="17018"/>
                    <a:pt x="3956431" y="17018"/>
                  </a:cubicBezTo>
                  <a:lnTo>
                    <a:pt x="157099" y="17018"/>
                  </a:lnTo>
                  <a:lnTo>
                    <a:pt x="157099" y="8509"/>
                  </a:lnTo>
                  <a:lnTo>
                    <a:pt x="157099" y="17018"/>
                  </a:lnTo>
                  <a:cubicBezTo>
                    <a:pt x="79502" y="16891"/>
                    <a:pt x="16891" y="78740"/>
                    <a:pt x="16891" y="154813"/>
                  </a:cubicBez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991088" y="8229600"/>
            <a:ext cx="3072384" cy="640080"/>
            <a:chOff x="0" y="0"/>
            <a:chExt cx="4096512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4096512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Kinect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4313151" y="8223247"/>
            <a:ext cx="3085081" cy="652777"/>
            <a:chOff x="0" y="0"/>
            <a:chExt cx="4113441" cy="870369"/>
          </a:xfrm>
        </p:grpSpPr>
        <p:sp>
          <p:nvSpPr>
            <p:cNvPr id="60" name="Freeform 60"/>
            <p:cNvSpPr/>
            <p:nvPr/>
          </p:nvSpPr>
          <p:spPr>
            <a:xfrm>
              <a:off x="8509" y="8509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146304"/>
                  </a:moveTo>
                  <a:cubicBezTo>
                    <a:pt x="0" y="65405"/>
                    <a:pt x="66548" y="0"/>
                    <a:pt x="148590" y="0"/>
                  </a:cubicBezTo>
                  <a:lnTo>
                    <a:pt x="3947922" y="0"/>
                  </a:lnTo>
                  <a:cubicBezTo>
                    <a:pt x="4029964" y="0"/>
                    <a:pt x="4096512" y="65532"/>
                    <a:pt x="4096512" y="146304"/>
                  </a:cubicBezTo>
                  <a:lnTo>
                    <a:pt x="4096512" y="707136"/>
                  </a:lnTo>
                  <a:cubicBezTo>
                    <a:pt x="4096512" y="787908"/>
                    <a:pt x="4029964" y="853440"/>
                    <a:pt x="3947922" y="853440"/>
                  </a:cubicBezTo>
                  <a:lnTo>
                    <a:pt x="148590" y="853440"/>
                  </a:lnTo>
                  <a:cubicBezTo>
                    <a:pt x="66548" y="853440"/>
                    <a:pt x="0" y="787908"/>
                    <a:pt x="0" y="707136"/>
                  </a:cubicBezTo>
                  <a:close/>
                </a:path>
              </a:pathLst>
            </a:custGeom>
            <a:solidFill>
              <a:srgbClr val="253B6E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Freeform 61"/>
            <p:cNvSpPr/>
            <p:nvPr/>
          </p:nvSpPr>
          <p:spPr>
            <a:xfrm>
              <a:off x="0" y="0"/>
              <a:ext cx="4113530" cy="870458"/>
            </a:xfrm>
            <a:custGeom>
              <a:avLst/>
              <a:gdLst/>
              <a:ahLst/>
              <a:cxnLst/>
              <a:rect l="l" t="t" r="r" b="b"/>
              <a:pathLst>
                <a:path w="4113530" h="870458">
                  <a:moveTo>
                    <a:pt x="0" y="154813"/>
                  </a:moveTo>
                  <a:cubicBezTo>
                    <a:pt x="0" y="69215"/>
                    <a:pt x="70485" y="0"/>
                    <a:pt x="157099" y="0"/>
                  </a:cubicBezTo>
                  <a:lnTo>
                    <a:pt x="3956431" y="0"/>
                  </a:lnTo>
                  <a:lnTo>
                    <a:pt x="3956431" y="8509"/>
                  </a:lnTo>
                  <a:lnTo>
                    <a:pt x="3956431" y="0"/>
                  </a:lnTo>
                  <a:cubicBezTo>
                    <a:pt x="4043045" y="0"/>
                    <a:pt x="4113530" y="69215"/>
                    <a:pt x="4113530" y="154813"/>
                  </a:cubicBezTo>
                  <a:lnTo>
                    <a:pt x="4113530" y="715645"/>
                  </a:lnTo>
                  <a:lnTo>
                    <a:pt x="4105021" y="715645"/>
                  </a:lnTo>
                  <a:lnTo>
                    <a:pt x="4113530" y="715645"/>
                  </a:lnTo>
                  <a:cubicBezTo>
                    <a:pt x="4113530" y="801243"/>
                    <a:pt x="4043045" y="870458"/>
                    <a:pt x="3956431" y="870458"/>
                  </a:cubicBezTo>
                  <a:lnTo>
                    <a:pt x="3956431" y="861949"/>
                  </a:lnTo>
                  <a:lnTo>
                    <a:pt x="3956431" y="870458"/>
                  </a:lnTo>
                  <a:lnTo>
                    <a:pt x="157099" y="870458"/>
                  </a:lnTo>
                  <a:lnTo>
                    <a:pt x="157099" y="861949"/>
                  </a:lnTo>
                  <a:lnTo>
                    <a:pt x="157099" y="870458"/>
                  </a:lnTo>
                  <a:cubicBezTo>
                    <a:pt x="70485" y="870331"/>
                    <a:pt x="0" y="801243"/>
                    <a:pt x="0" y="715645"/>
                  </a:cubicBezTo>
                  <a:lnTo>
                    <a:pt x="0" y="154813"/>
                  </a:lnTo>
                  <a:lnTo>
                    <a:pt x="8509" y="154813"/>
                  </a:lnTo>
                  <a:lnTo>
                    <a:pt x="0" y="154813"/>
                  </a:lnTo>
                  <a:moveTo>
                    <a:pt x="16891" y="154813"/>
                  </a:moveTo>
                  <a:lnTo>
                    <a:pt x="16891" y="715645"/>
                  </a:lnTo>
                  <a:lnTo>
                    <a:pt x="8509" y="715645"/>
                  </a:lnTo>
                  <a:lnTo>
                    <a:pt x="17018" y="715645"/>
                  </a:lnTo>
                  <a:cubicBezTo>
                    <a:pt x="17018" y="791591"/>
                    <a:pt x="79629" y="853440"/>
                    <a:pt x="157099" y="853440"/>
                  </a:cubicBezTo>
                  <a:lnTo>
                    <a:pt x="3956431" y="853440"/>
                  </a:lnTo>
                  <a:cubicBezTo>
                    <a:pt x="4033901" y="853440"/>
                    <a:pt x="4096512" y="791591"/>
                    <a:pt x="4096512" y="715645"/>
                  </a:cubicBezTo>
                  <a:lnTo>
                    <a:pt x="4096512" y="154813"/>
                  </a:lnTo>
                  <a:lnTo>
                    <a:pt x="4105021" y="154813"/>
                  </a:lnTo>
                  <a:lnTo>
                    <a:pt x="4096512" y="154813"/>
                  </a:lnTo>
                  <a:cubicBezTo>
                    <a:pt x="4096512" y="78867"/>
                    <a:pt x="4033901" y="17018"/>
                    <a:pt x="3956431" y="17018"/>
                  </a:cubicBezTo>
                  <a:lnTo>
                    <a:pt x="157099" y="17018"/>
                  </a:lnTo>
                  <a:lnTo>
                    <a:pt x="157099" y="8509"/>
                  </a:lnTo>
                  <a:lnTo>
                    <a:pt x="157099" y="17018"/>
                  </a:lnTo>
                  <a:cubicBezTo>
                    <a:pt x="79502" y="16891"/>
                    <a:pt x="16891" y="78740"/>
                    <a:pt x="16891" y="154813"/>
                  </a:cubicBez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319504" y="8229600"/>
            <a:ext cx="3072384" cy="640080"/>
            <a:chOff x="0" y="0"/>
            <a:chExt cx="4096512" cy="8534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96512" cy="853440"/>
            </a:xfrm>
            <a:custGeom>
              <a:avLst/>
              <a:gdLst/>
              <a:ahLst/>
              <a:cxnLst/>
              <a:rect l="l" t="t" r="r" b="b"/>
              <a:pathLst>
                <a:path w="4096512" h="853440">
                  <a:moveTo>
                    <a:pt x="0" y="0"/>
                  </a:moveTo>
                  <a:lnTo>
                    <a:pt x="4096512" y="0"/>
                  </a:lnTo>
                  <a:lnTo>
                    <a:pt x="409651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096512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8EA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Streamlit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SOMMAIRE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1520" y="731520"/>
            <a:ext cx="16459200" cy="1005840"/>
            <a:chOff x="0" y="0"/>
            <a:chExt cx="21945600" cy="13411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846" b="-26884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de la présentation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5167" y="2188207"/>
            <a:ext cx="8242297" cy="2024377"/>
            <a:chOff x="0" y="0"/>
            <a:chExt cx="10989729" cy="2699169"/>
          </a:xfrm>
        </p:grpSpPr>
        <p:sp>
          <p:nvSpPr>
            <p:cNvPr id="12" name="Freeform 12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8823" y="2181863"/>
            <a:ext cx="135131" cy="2037083"/>
            <a:chOff x="0" y="0"/>
            <a:chExt cx="180175" cy="2716111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05840" y="2340864"/>
            <a:ext cx="1005840" cy="768096"/>
            <a:chOff x="0" y="0"/>
            <a:chExt cx="134112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27264" y="2706624"/>
            <a:ext cx="768096" cy="768096"/>
            <a:chOff x="0" y="0"/>
            <a:chExt cx="1024128" cy="1024128"/>
          </a:xfrm>
        </p:grpSpPr>
        <p:sp>
          <p:nvSpPr>
            <p:cNvPr id="21" name="Freeform 21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3200400"/>
            <a:ext cx="6949440" cy="768096"/>
            <a:chOff x="0" y="0"/>
            <a:chExt cx="9265920" cy="10241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 &amp; Contexte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94847" y="2188207"/>
            <a:ext cx="8242297" cy="2024377"/>
            <a:chOff x="0" y="0"/>
            <a:chExt cx="10989729" cy="2699169"/>
          </a:xfrm>
        </p:grpSpPr>
        <p:sp>
          <p:nvSpPr>
            <p:cNvPr id="26" name="Freeform 26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88503" y="2181863"/>
            <a:ext cx="135131" cy="2037083"/>
            <a:chOff x="0" y="0"/>
            <a:chExt cx="180175" cy="2716111"/>
          </a:xfrm>
        </p:grpSpPr>
        <p:sp>
          <p:nvSpPr>
            <p:cNvPr id="29" name="Freeform 29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875520" y="2340864"/>
            <a:ext cx="1005840" cy="768096"/>
            <a:chOff x="0" y="0"/>
            <a:chExt cx="1341120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6696944" y="2706624"/>
            <a:ext cx="768096" cy="768096"/>
            <a:chOff x="0" y="0"/>
            <a:chExt cx="1024128" cy="1024128"/>
          </a:xfrm>
        </p:grpSpPr>
        <p:sp>
          <p:nvSpPr>
            <p:cNvPr id="35" name="Freeform 35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875520" y="3200400"/>
            <a:ext cx="6949440" cy="768096"/>
            <a:chOff x="0" y="0"/>
            <a:chExt cx="9265920" cy="10241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Jeu de données KARD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25167" y="4657087"/>
            <a:ext cx="8242297" cy="2024377"/>
            <a:chOff x="0" y="0"/>
            <a:chExt cx="10989729" cy="2699169"/>
          </a:xfrm>
        </p:grpSpPr>
        <p:sp>
          <p:nvSpPr>
            <p:cNvPr id="40" name="Freeform 40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18823" y="4650743"/>
            <a:ext cx="135131" cy="2037083"/>
            <a:chOff x="0" y="0"/>
            <a:chExt cx="180175" cy="2716111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05840" y="4809744"/>
            <a:ext cx="1005840" cy="768096"/>
            <a:chOff x="0" y="0"/>
            <a:chExt cx="1341120" cy="102412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27264" y="5175504"/>
            <a:ext cx="768096" cy="768096"/>
            <a:chOff x="0" y="0"/>
            <a:chExt cx="1024128" cy="1024128"/>
          </a:xfrm>
        </p:grpSpPr>
        <p:sp>
          <p:nvSpPr>
            <p:cNvPr id="49" name="Freeform 49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05840" y="5669280"/>
            <a:ext cx="6949440" cy="768096"/>
            <a:chOff x="0" y="0"/>
            <a:chExt cx="9265920" cy="102412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Préparation &amp; Feature Engineering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594847" y="4657087"/>
            <a:ext cx="8242297" cy="2024377"/>
            <a:chOff x="0" y="0"/>
            <a:chExt cx="10989729" cy="2699169"/>
          </a:xfrm>
        </p:grpSpPr>
        <p:sp>
          <p:nvSpPr>
            <p:cNvPr id="54" name="Freeform 54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88503" y="4650743"/>
            <a:ext cx="135131" cy="2037083"/>
            <a:chOff x="0" y="0"/>
            <a:chExt cx="180175" cy="2716111"/>
          </a:xfrm>
        </p:grpSpPr>
        <p:sp>
          <p:nvSpPr>
            <p:cNvPr id="57" name="Freeform 57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875520" y="4809744"/>
            <a:ext cx="1005840" cy="768096"/>
            <a:chOff x="0" y="0"/>
            <a:chExt cx="1341120" cy="102412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6696944" y="5175504"/>
            <a:ext cx="768096" cy="768096"/>
            <a:chOff x="0" y="0"/>
            <a:chExt cx="1024128" cy="1024128"/>
          </a:xfrm>
        </p:grpSpPr>
        <p:sp>
          <p:nvSpPr>
            <p:cNvPr id="63" name="Freeform 63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875520" y="5669280"/>
            <a:ext cx="6949440" cy="768096"/>
            <a:chOff x="0" y="0"/>
            <a:chExt cx="9265920" cy="10241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Modélisation &amp; Évaluation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25167" y="7125967"/>
            <a:ext cx="8242297" cy="2024377"/>
            <a:chOff x="0" y="0"/>
            <a:chExt cx="10989729" cy="2699169"/>
          </a:xfrm>
        </p:grpSpPr>
        <p:sp>
          <p:nvSpPr>
            <p:cNvPr id="68" name="Freeform 68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9" name="Freeform 69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18823" y="7119623"/>
            <a:ext cx="135131" cy="2037083"/>
            <a:chOff x="0" y="0"/>
            <a:chExt cx="180175" cy="2716111"/>
          </a:xfrm>
        </p:grpSpPr>
        <p:sp>
          <p:nvSpPr>
            <p:cNvPr id="71" name="Freeform 71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2" name="Freeform 72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005840" y="7278624"/>
            <a:ext cx="1005840" cy="768096"/>
            <a:chOff x="0" y="0"/>
            <a:chExt cx="1341120" cy="1024128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827264" y="7644384"/>
            <a:ext cx="768096" cy="768096"/>
            <a:chOff x="0" y="0"/>
            <a:chExt cx="1024128" cy="1024128"/>
          </a:xfrm>
        </p:grpSpPr>
        <p:sp>
          <p:nvSpPr>
            <p:cNvPr id="77" name="Freeform 77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005840" y="8138160"/>
            <a:ext cx="6949440" cy="768096"/>
            <a:chOff x="0" y="0"/>
            <a:chExt cx="9265920" cy="102412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Démonstration temps réel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594847" y="7125967"/>
            <a:ext cx="8242297" cy="2024377"/>
            <a:chOff x="0" y="0"/>
            <a:chExt cx="10989729" cy="2699169"/>
          </a:xfrm>
        </p:grpSpPr>
        <p:sp>
          <p:nvSpPr>
            <p:cNvPr id="82" name="Freeform 82"/>
            <p:cNvSpPr/>
            <p:nvPr/>
          </p:nvSpPr>
          <p:spPr>
            <a:xfrm>
              <a:off x="8509" y="8509"/>
              <a:ext cx="10972800" cy="2682240"/>
            </a:xfrm>
            <a:custGeom>
              <a:avLst/>
              <a:gdLst/>
              <a:ahLst/>
              <a:cxnLst/>
              <a:rect l="l" t="t" r="r" b="b"/>
              <a:pathLst>
                <a:path w="10972800" h="268224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10678795" y="0"/>
                  </a:lnTo>
                  <a:cubicBezTo>
                    <a:pt x="10841228" y="0"/>
                    <a:pt x="10972800" y="131064"/>
                    <a:pt x="10972800" y="292608"/>
                  </a:cubicBezTo>
                  <a:lnTo>
                    <a:pt x="10972800" y="2389632"/>
                  </a:lnTo>
                  <a:cubicBezTo>
                    <a:pt x="10972800" y="2551176"/>
                    <a:pt x="10841228" y="2682240"/>
                    <a:pt x="10678795" y="2682240"/>
                  </a:cubicBezTo>
                  <a:lnTo>
                    <a:pt x="294005" y="2682240"/>
                  </a:lnTo>
                  <a:cubicBezTo>
                    <a:pt x="131572" y="2682240"/>
                    <a:pt x="0" y="2551176"/>
                    <a:pt x="0" y="23896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0" y="0"/>
              <a:ext cx="10989818" cy="2699258"/>
            </a:xfrm>
            <a:custGeom>
              <a:avLst/>
              <a:gdLst/>
              <a:ahLst/>
              <a:cxnLst/>
              <a:rect l="l" t="t" r="r" b="b"/>
              <a:pathLst>
                <a:path w="10989818" h="269925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10687304" y="0"/>
                  </a:lnTo>
                  <a:lnTo>
                    <a:pt x="10687304" y="8509"/>
                  </a:lnTo>
                  <a:lnTo>
                    <a:pt x="10687304" y="0"/>
                  </a:lnTo>
                  <a:cubicBezTo>
                    <a:pt x="10854309" y="0"/>
                    <a:pt x="10989818" y="134747"/>
                    <a:pt x="10989818" y="301117"/>
                  </a:cubicBezTo>
                  <a:lnTo>
                    <a:pt x="10981309" y="301117"/>
                  </a:lnTo>
                  <a:lnTo>
                    <a:pt x="10989818" y="301117"/>
                  </a:lnTo>
                  <a:lnTo>
                    <a:pt x="10989818" y="2398141"/>
                  </a:lnTo>
                  <a:lnTo>
                    <a:pt x="10981309" y="2398141"/>
                  </a:lnTo>
                  <a:lnTo>
                    <a:pt x="10989818" y="2398141"/>
                  </a:lnTo>
                  <a:cubicBezTo>
                    <a:pt x="10989818" y="2564511"/>
                    <a:pt x="10854309" y="2699258"/>
                    <a:pt x="10687304" y="2699258"/>
                  </a:cubicBezTo>
                  <a:lnTo>
                    <a:pt x="10687304" y="2690749"/>
                  </a:lnTo>
                  <a:lnTo>
                    <a:pt x="10687304" y="2699258"/>
                  </a:lnTo>
                  <a:lnTo>
                    <a:pt x="302514" y="2699258"/>
                  </a:lnTo>
                  <a:lnTo>
                    <a:pt x="302514" y="2690749"/>
                  </a:lnTo>
                  <a:lnTo>
                    <a:pt x="302514" y="2699258"/>
                  </a:lnTo>
                  <a:cubicBezTo>
                    <a:pt x="135509" y="2699131"/>
                    <a:pt x="0" y="2564384"/>
                    <a:pt x="0" y="23981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398141"/>
                  </a:lnTo>
                  <a:lnTo>
                    <a:pt x="8509" y="2398141"/>
                  </a:lnTo>
                  <a:lnTo>
                    <a:pt x="17018" y="2398141"/>
                  </a:lnTo>
                  <a:cubicBezTo>
                    <a:pt x="17018" y="2554986"/>
                    <a:pt x="144780" y="2682240"/>
                    <a:pt x="302514" y="2682240"/>
                  </a:cubicBezTo>
                  <a:lnTo>
                    <a:pt x="10687304" y="2682240"/>
                  </a:lnTo>
                  <a:cubicBezTo>
                    <a:pt x="10845038" y="2682240"/>
                    <a:pt x="10972800" y="2554986"/>
                    <a:pt x="10972800" y="2398141"/>
                  </a:cubicBezTo>
                  <a:lnTo>
                    <a:pt x="10972800" y="301117"/>
                  </a:lnTo>
                  <a:cubicBezTo>
                    <a:pt x="10972800" y="144272"/>
                    <a:pt x="10845038" y="17018"/>
                    <a:pt x="10687304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588503" y="7119623"/>
            <a:ext cx="135131" cy="2037083"/>
            <a:chOff x="0" y="0"/>
            <a:chExt cx="180175" cy="2716111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146304" cy="2682240"/>
            </a:xfrm>
            <a:custGeom>
              <a:avLst/>
              <a:gdLst/>
              <a:ahLst/>
              <a:cxnLst/>
              <a:rect l="l" t="t" r="r" b="b"/>
              <a:pathLst>
                <a:path w="146304" h="2682240">
                  <a:moveTo>
                    <a:pt x="0" y="0"/>
                  </a:moveTo>
                  <a:lnTo>
                    <a:pt x="146304" y="0"/>
                  </a:lnTo>
                  <a:lnTo>
                    <a:pt x="146304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Freeform 86"/>
            <p:cNvSpPr/>
            <p:nvPr/>
          </p:nvSpPr>
          <p:spPr>
            <a:xfrm>
              <a:off x="0" y="0"/>
              <a:ext cx="180086" cy="2716022"/>
            </a:xfrm>
            <a:custGeom>
              <a:avLst/>
              <a:gdLst/>
              <a:ahLst/>
              <a:cxnLst/>
              <a:rect l="l" t="t" r="r" b="b"/>
              <a:pathLst>
                <a:path w="180086" h="271602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699131"/>
                  </a:lnTo>
                  <a:cubicBezTo>
                    <a:pt x="180086" y="2708529"/>
                    <a:pt x="172466" y="2716022"/>
                    <a:pt x="163195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63195" y="2682240"/>
                  </a:lnTo>
                  <a:lnTo>
                    <a:pt x="163195" y="2699131"/>
                  </a:lnTo>
                  <a:lnTo>
                    <a:pt x="146304" y="269913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875520" y="7278624"/>
            <a:ext cx="1005840" cy="768096"/>
            <a:chOff x="0" y="0"/>
            <a:chExt cx="1341120" cy="102412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341120" cy="1024128"/>
            </a:xfrm>
            <a:custGeom>
              <a:avLst/>
              <a:gdLst/>
              <a:ahLst/>
              <a:cxnLst/>
              <a:rect l="l" t="t" r="r" b="b"/>
              <a:pathLst>
                <a:path w="1341120" h="1024128">
                  <a:moveTo>
                    <a:pt x="0" y="0"/>
                  </a:moveTo>
                  <a:lnTo>
                    <a:pt x="1341120" y="0"/>
                  </a:lnTo>
                  <a:lnTo>
                    <a:pt x="1341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977" r="-4797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76200"/>
              <a:ext cx="1341120" cy="11003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6696944" y="7644384"/>
            <a:ext cx="768096" cy="768096"/>
            <a:chOff x="0" y="0"/>
            <a:chExt cx="1024128" cy="1024128"/>
          </a:xfrm>
        </p:grpSpPr>
        <p:sp>
          <p:nvSpPr>
            <p:cNvPr id="91" name="Freeform 91" descr="preencoded.png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9875520" y="8138160"/>
            <a:ext cx="6949440" cy="768096"/>
            <a:chOff x="0" y="0"/>
            <a:chExt cx="9265920" cy="1024128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9265920" cy="1024128"/>
            </a:xfrm>
            <a:custGeom>
              <a:avLst/>
              <a:gdLst/>
              <a:ahLst/>
              <a:cxnLst/>
              <a:rect l="l" t="t" r="r" b="b"/>
              <a:pathLst>
                <a:path w="9265920" h="1024128">
                  <a:moveTo>
                    <a:pt x="0" y="0"/>
                  </a:moveTo>
                  <a:lnTo>
                    <a:pt x="9265920" y="0"/>
                  </a:lnTo>
                  <a:lnTo>
                    <a:pt x="9265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6293" b="-12629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57150"/>
              <a:ext cx="9265920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Conclusion &amp; Perspectives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INTRODUCTION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 &amp; Problématique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5167" y="2151631"/>
            <a:ext cx="8242297" cy="6962137"/>
            <a:chOff x="0" y="0"/>
            <a:chExt cx="10989729" cy="9282849"/>
          </a:xfrm>
        </p:grpSpPr>
        <p:sp>
          <p:nvSpPr>
            <p:cNvPr id="15" name="Freeform 15"/>
            <p:cNvSpPr/>
            <p:nvPr/>
          </p:nvSpPr>
          <p:spPr>
            <a:xfrm>
              <a:off x="8509" y="8509"/>
              <a:ext cx="10972800" cy="9265919"/>
            </a:xfrm>
            <a:custGeom>
              <a:avLst/>
              <a:gdLst/>
              <a:ahLst/>
              <a:cxnLst/>
              <a:rect l="l" t="t" r="r" b="b"/>
              <a:pathLst>
                <a:path w="10972800" h="9265919">
                  <a:moveTo>
                    <a:pt x="0" y="292608"/>
                  </a:moveTo>
                  <a:cubicBezTo>
                    <a:pt x="0" y="130937"/>
                    <a:pt x="131064" y="0"/>
                    <a:pt x="292608" y="0"/>
                  </a:cubicBezTo>
                  <a:lnTo>
                    <a:pt x="10680065" y="0"/>
                  </a:lnTo>
                  <a:cubicBezTo>
                    <a:pt x="10841736" y="0"/>
                    <a:pt x="10972800" y="131064"/>
                    <a:pt x="10972800" y="292608"/>
                  </a:cubicBezTo>
                  <a:lnTo>
                    <a:pt x="10972800" y="8973312"/>
                  </a:lnTo>
                  <a:cubicBezTo>
                    <a:pt x="10972800" y="9134983"/>
                    <a:pt x="10841736" y="9265919"/>
                    <a:pt x="10680065" y="9265919"/>
                  </a:cubicBezTo>
                  <a:lnTo>
                    <a:pt x="292608" y="9265919"/>
                  </a:lnTo>
                  <a:cubicBezTo>
                    <a:pt x="131064" y="9265920"/>
                    <a:pt x="0" y="9134856"/>
                    <a:pt x="0" y="8973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989691" cy="9282938"/>
            </a:xfrm>
            <a:custGeom>
              <a:avLst/>
              <a:gdLst/>
              <a:ahLst/>
              <a:cxnLst/>
              <a:rect l="l" t="t" r="r" b="b"/>
              <a:pathLst>
                <a:path w="10989691" h="9282938">
                  <a:moveTo>
                    <a:pt x="0" y="301117"/>
                  </a:moveTo>
                  <a:cubicBezTo>
                    <a:pt x="0" y="134747"/>
                    <a:pt x="134874" y="0"/>
                    <a:pt x="301117" y="0"/>
                  </a:cubicBezTo>
                  <a:lnTo>
                    <a:pt x="10688574" y="0"/>
                  </a:lnTo>
                  <a:lnTo>
                    <a:pt x="10688574" y="8509"/>
                  </a:lnTo>
                  <a:lnTo>
                    <a:pt x="10688574" y="0"/>
                  </a:lnTo>
                  <a:cubicBezTo>
                    <a:pt x="10854944" y="0"/>
                    <a:pt x="10989691" y="134747"/>
                    <a:pt x="10989691" y="301117"/>
                  </a:cubicBezTo>
                  <a:lnTo>
                    <a:pt x="10981182" y="301117"/>
                  </a:lnTo>
                  <a:lnTo>
                    <a:pt x="10989691" y="301117"/>
                  </a:lnTo>
                  <a:lnTo>
                    <a:pt x="10989691" y="8981821"/>
                  </a:lnTo>
                  <a:lnTo>
                    <a:pt x="10981182" y="8981821"/>
                  </a:lnTo>
                  <a:lnTo>
                    <a:pt x="10989691" y="8981821"/>
                  </a:lnTo>
                  <a:cubicBezTo>
                    <a:pt x="10989691" y="9148064"/>
                    <a:pt x="10854817" y="9282938"/>
                    <a:pt x="10688574" y="9282938"/>
                  </a:cubicBezTo>
                  <a:lnTo>
                    <a:pt x="10688574" y="9274428"/>
                  </a:lnTo>
                  <a:lnTo>
                    <a:pt x="10688574" y="9282938"/>
                  </a:lnTo>
                  <a:lnTo>
                    <a:pt x="301117" y="9282938"/>
                  </a:lnTo>
                  <a:lnTo>
                    <a:pt x="301117" y="9274428"/>
                  </a:lnTo>
                  <a:lnTo>
                    <a:pt x="301117" y="9282938"/>
                  </a:lnTo>
                  <a:cubicBezTo>
                    <a:pt x="134874" y="9282811"/>
                    <a:pt x="0" y="9148064"/>
                    <a:pt x="0" y="8981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8981821"/>
                  </a:lnTo>
                  <a:lnTo>
                    <a:pt x="8509" y="8981821"/>
                  </a:lnTo>
                  <a:lnTo>
                    <a:pt x="17018" y="8981821"/>
                  </a:lnTo>
                  <a:cubicBezTo>
                    <a:pt x="17018" y="9138793"/>
                    <a:pt x="144272" y="9265920"/>
                    <a:pt x="301244" y="9265920"/>
                  </a:cubicBezTo>
                  <a:lnTo>
                    <a:pt x="10688574" y="9265920"/>
                  </a:lnTo>
                  <a:cubicBezTo>
                    <a:pt x="10845546" y="9265920"/>
                    <a:pt x="10972800" y="9138665"/>
                    <a:pt x="10972800" y="8981821"/>
                  </a:cubicBezTo>
                  <a:lnTo>
                    <a:pt x="10972800" y="301117"/>
                  </a:lnTo>
                  <a:cubicBezTo>
                    <a:pt x="10972800" y="144145"/>
                    <a:pt x="10845546" y="17018"/>
                    <a:pt x="10688574" y="17018"/>
                  </a:cubicBezTo>
                  <a:lnTo>
                    <a:pt x="301117" y="17018"/>
                  </a:lnTo>
                  <a:lnTo>
                    <a:pt x="301117" y="8509"/>
                  </a:lnTo>
                  <a:lnTo>
                    <a:pt x="301117" y="17018"/>
                  </a:lnTo>
                  <a:cubicBezTo>
                    <a:pt x="144145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97280" y="2377440"/>
            <a:ext cx="7498080" cy="640080"/>
            <a:chOff x="0" y="0"/>
            <a:chExt cx="9997440" cy="8534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88720" y="3143631"/>
            <a:ext cx="7315200" cy="3762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La reconnaissance des actions humaines, appelée aussi HAR, est un domaine important en vision par ordinateur.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Grâce au capteur Kinect, on peut capturer le squelette 3D du corps humain en temps réel, sans utiliser d’équipements coûteux.</a:t>
            </a:r>
          </a:p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 Le corps est représenté par 15 points appelés “joints”.</a:t>
            </a:r>
          </a:p>
          <a:p>
            <a:pPr algn="l">
              <a:lnSpc>
                <a:spcPts val="2999"/>
              </a:lnSpc>
            </a:pPr>
            <a:endParaRPr lang="en-US" sz="24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9320527" y="2151631"/>
            <a:ext cx="8242297" cy="6962137"/>
            <a:chOff x="0" y="0"/>
            <a:chExt cx="10989729" cy="9282849"/>
          </a:xfrm>
        </p:grpSpPr>
        <p:sp>
          <p:nvSpPr>
            <p:cNvPr id="22" name="Freeform 22"/>
            <p:cNvSpPr/>
            <p:nvPr/>
          </p:nvSpPr>
          <p:spPr>
            <a:xfrm>
              <a:off x="8509" y="8509"/>
              <a:ext cx="10972800" cy="9265919"/>
            </a:xfrm>
            <a:custGeom>
              <a:avLst/>
              <a:gdLst/>
              <a:ahLst/>
              <a:cxnLst/>
              <a:rect l="l" t="t" r="r" b="b"/>
              <a:pathLst>
                <a:path w="10972800" h="9265919">
                  <a:moveTo>
                    <a:pt x="0" y="292608"/>
                  </a:moveTo>
                  <a:cubicBezTo>
                    <a:pt x="0" y="130937"/>
                    <a:pt x="131064" y="0"/>
                    <a:pt x="292608" y="0"/>
                  </a:cubicBezTo>
                  <a:lnTo>
                    <a:pt x="10680065" y="0"/>
                  </a:lnTo>
                  <a:cubicBezTo>
                    <a:pt x="10841736" y="0"/>
                    <a:pt x="10972800" y="131064"/>
                    <a:pt x="10972800" y="292608"/>
                  </a:cubicBezTo>
                  <a:lnTo>
                    <a:pt x="10972800" y="8973312"/>
                  </a:lnTo>
                  <a:cubicBezTo>
                    <a:pt x="10972800" y="9134983"/>
                    <a:pt x="10841736" y="9265919"/>
                    <a:pt x="10680065" y="9265919"/>
                  </a:cubicBezTo>
                  <a:lnTo>
                    <a:pt x="292608" y="9265919"/>
                  </a:lnTo>
                  <a:cubicBezTo>
                    <a:pt x="131064" y="9265920"/>
                    <a:pt x="0" y="9134856"/>
                    <a:pt x="0" y="8973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10989691" cy="9282938"/>
            </a:xfrm>
            <a:custGeom>
              <a:avLst/>
              <a:gdLst/>
              <a:ahLst/>
              <a:cxnLst/>
              <a:rect l="l" t="t" r="r" b="b"/>
              <a:pathLst>
                <a:path w="10989691" h="9282938">
                  <a:moveTo>
                    <a:pt x="0" y="301117"/>
                  </a:moveTo>
                  <a:cubicBezTo>
                    <a:pt x="0" y="134747"/>
                    <a:pt x="134874" y="0"/>
                    <a:pt x="301117" y="0"/>
                  </a:cubicBezTo>
                  <a:lnTo>
                    <a:pt x="10688574" y="0"/>
                  </a:lnTo>
                  <a:lnTo>
                    <a:pt x="10688574" y="8509"/>
                  </a:lnTo>
                  <a:lnTo>
                    <a:pt x="10688574" y="0"/>
                  </a:lnTo>
                  <a:cubicBezTo>
                    <a:pt x="10854944" y="0"/>
                    <a:pt x="10989691" y="134747"/>
                    <a:pt x="10989691" y="301117"/>
                  </a:cubicBezTo>
                  <a:lnTo>
                    <a:pt x="10981182" y="301117"/>
                  </a:lnTo>
                  <a:lnTo>
                    <a:pt x="10989691" y="301117"/>
                  </a:lnTo>
                  <a:lnTo>
                    <a:pt x="10989691" y="8981821"/>
                  </a:lnTo>
                  <a:lnTo>
                    <a:pt x="10981182" y="8981821"/>
                  </a:lnTo>
                  <a:lnTo>
                    <a:pt x="10989691" y="8981821"/>
                  </a:lnTo>
                  <a:cubicBezTo>
                    <a:pt x="10989691" y="9148064"/>
                    <a:pt x="10854817" y="9282938"/>
                    <a:pt x="10688574" y="9282938"/>
                  </a:cubicBezTo>
                  <a:lnTo>
                    <a:pt x="10688574" y="9274428"/>
                  </a:lnTo>
                  <a:lnTo>
                    <a:pt x="10688574" y="9282938"/>
                  </a:lnTo>
                  <a:lnTo>
                    <a:pt x="301117" y="9282938"/>
                  </a:lnTo>
                  <a:lnTo>
                    <a:pt x="301117" y="9274428"/>
                  </a:lnTo>
                  <a:lnTo>
                    <a:pt x="301117" y="9282938"/>
                  </a:lnTo>
                  <a:cubicBezTo>
                    <a:pt x="134874" y="9282811"/>
                    <a:pt x="0" y="9148064"/>
                    <a:pt x="0" y="8981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8981821"/>
                  </a:lnTo>
                  <a:lnTo>
                    <a:pt x="8509" y="8981821"/>
                  </a:lnTo>
                  <a:lnTo>
                    <a:pt x="17018" y="8981821"/>
                  </a:lnTo>
                  <a:cubicBezTo>
                    <a:pt x="17018" y="9138793"/>
                    <a:pt x="144272" y="9265920"/>
                    <a:pt x="301244" y="9265920"/>
                  </a:cubicBezTo>
                  <a:lnTo>
                    <a:pt x="10688574" y="9265920"/>
                  </a:lnTo>
                  <a:cubicBezTo>
                    <a:pt x="10845546" y="9265920"/>
                    <a:pt x="10972800" y="9138665"/>
                    <a:pt x="10972800" y="8981821"/>
                  </a:cubicBezTo>
                  <a:lnTo>
                    <a:pt x="10972800" y="301117"/>
                  </a:lnTo>
                  <a:cubicBezTo>
                    <a:pt x="10972800" y="144145"/>
                    <a:pt x="10845546" y="17018"/>
                    <a:pt x="10688574" y="17018"/>
                  </a:cubicBezTo>
                  <a:lnTo>
                    <a:pt x="301117" y="17018"/>
                  </a:lnTo>
                  <a:lnTo>
                    <a:pt x="301117" y="8509"/>
                  </a:lnTo>
                  <a:lnTo>
                    <a:pt x="301117" y="17018"/>
                  </a:lnTo>
                  <a:cubicBezTo>
                    <a:pt x="144145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314183" y="2145287"/>
            <a:ext cx="135131" cy="6974843"/>
            <a:chOff x="0" y="0"/>
            <a:chExt cx="180175" cy="9299791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146304" cy="9265920"/>
            </a:xfrm>
            <a:custGeom>
              <a:avLst/>
              <a:gdLst/>
              <a:ahLst/>
              <a:cxnLst/>
              <a:rect l="l" t="t" r="r" b="b"/>
              <a:pathLst>
                <a:path w="146304" h="9265920">
                  <a:moveTo>
                    <a:pt x="0" y="0"/>
                  </a:moveTo>
                  <a:lnTo>
                    <a:pt x="146304" y="0"/>
                  </a:lnTo>
                  <a:lnTo>
                    <a:pt x="146304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80086" cy="9299701"/>
            </a:xfrm>
            <a:custGeom>
              <a:avLst/>
              <a:gdLst/>
              <a:ahLst/>
              <a:cxnLst/>
              <a:rect l="l" t="t" r="r" b="b"/>
              <a:pathLst>
                <a:path w="180086" h="9299701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9282811"/>
                  </a:lnTo>
                  <a:cubicBezTo>
                    <a:pt x="180086" y="9292209"/>
                    <a:pt x="172466" y="9299701"/>
                    <a:pt x="163195" y="9299701"/>
                  </a:cubicBezTo>
                  <a:lnTo>
                    <a:pt x="16891" y="9299701"/>
                  </a:lnTo>
                  <a:cubicBezTo>
                    <a:pt x="7493" y="9299701"/>
                    <a:pt x="0" y="9292082"/>
                    <a:pt x="0" y="928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282811"/>
                  </a:lnTo>
                  <a:lnTo>
                    <a:pt x="16891" y="9282811"/>
                  </a:lnTo>
                  <a:lnTo>
                    <a:pt x="16891" y="9265920"/>
                  </a:lnTo>
                  <a:lnTo>
                    <a:pt x="163195" y="9265920"/>
                  </a:lnTo>
                  <a:lnTo>
                    <a:pt x="163195" y="9282811"/>
                  </a:lnTo>
                  <a:lnTo>
                    <a:pt x="146304" y="92828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92640" y="2377440"/>
            <a:ext cx="7498080" cy="640080"/>
            <a:chOff x="0" y="0"/>
            <a:chExt cx="9997440" cy="8534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997440" cy="853440"/>
            </a:xfrm>
            <a:custGeom>
              <a:avLst/>
              <a:gdLst/>
              <a:ahLst/>
              <a:cxnLst/>
              <a:rect l="l" t="t" r="r" b="b"/>
              <a:pathLst>
                <a:path w="9997440" h="853440">
                  <a:moveTo>
                    <a:pt x="0" y="0"/>
                  </a:moveTo>
                  <a:lnTo>
                    <a:pt x="9997440" y="0"/>
                  </a:lnTo>
                  <a:lnTo>
                    <a:pt x="99974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8253" b="-17825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999744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Objectifs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784080" y="3143631"/>
            <a:ext cx="7223760" cy="204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analyser le dataset KARD</a:t>
            </a:r>
          </a:p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extraire les caractéristiques importantes</a:t>
            </a:r>
          </a:p>
          <a:p>
            <a:pPr marL="539750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entraîner les modèles :KNN, SVM et Random Forest</a:t>
            </a:r>
          </a:p>
          <a:p>
            <a:pPr marL="539749" lvl="1" indent="-269875" algn="l">
              <a:lnSpc>
                <a:spcPts val="2999"/>
              </a:lnSpc>
              <a:buFont typeface="Arial"/>
              <a:buChar char="•"/>
            </a:pPr>
            <a:r>
              <a:rPr lang="en-US" sz="2499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évaluer leurs performances et créer une application simple avec Streamlit</a:t>
            </a:r>
          </a:p>
          <a:p>
            <a:pPr algn="l">
              <a:lnSpc>
                <a:spcPts val="1200"/>
              </a:lnSpc>
            </a:pPr>
            <a:endParaRPr lang="en-US" sz="2499">
              <a:solidFill>
                <a:srgbClr val="1A1A2E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JEU DE DONNÉES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KARD — Vue d'ensemble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5167" y="2151631"/>
            <a:ext cx="3853177" cy="2755897"/>
            <a:chOff x="0" y="0"/>
            <a:chExt cx="5137569" cy="3674529"/>
          </a:xfrm>
        </p:grpSpPr>
        <p:sp>
          <p:nvSpPr>
            <p:cNvPr id="15" name="Freeform 15"/>
            <p:cNvSpPr/>
            <p:nvPr/>
          </p:nvSpPr>
          <p:spPr>
            <a:xfrm>
              <a:off x="8509" y="8509"/>
              <a:ext cx="5120640" cy="3657600"/>
            </a:xfrm>
            <a:custGeom>
              <a:avLst/>
              <a:gdLst/>
              <a:ahLst/>
              <a:cxnLst/>
              <a:rect l="l" t="t" r="r" b="b"/>
              <a:pathLst>
                <a:path w="5120640" h="3657600">
                  <a:moveTo>
                    <a:pt x="0" y="292608"/>
                  </a:moveTo>
                  <a:cubicBezTo>
                    <a:pt x="0" y="130937"/>
                    <a:pt x="131191" y="0"/>
                    <a:pt x="292989" y="0"/>
                  </a:cubicBezTo>
                  <a:lnTo>
                    <a:pt x="4827651" y="0"/>
                  </a:lnTo>
                  <a:cubicBezTo>
                    <a:pt x="4989449" y="0"/>
                    <a:pt x="5120640" y="131064"/>
                    <a:pt x="5120640" y="292608"/>
                  </a:cubicBezTo>
                  <a:lnTo>
                    <a:pt x="5120640" y="3364992"/>
                  </a:lnTo>
                  <a:cubicBezTo>
                    <a:pt x="5120640" y="3526536"/>
                    <a:pt x="4989449" y="3657600"/>
                    <a:pt x="4827651" y="3657600"/>
                  </a:cubicBezTo>
                  <a:lnTo>
                    <a:pt x="292989" y="3657600"/>
                  </a:lnTo>
                  <a:cubicBezTo>
                    <a:pt x="131191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5137658" cy="3674618"/>
            </a:xfrm>
            <a:custGeom>
              <a:avLst/>
              <a:gdLst/>
              <a:ahLst/>
              <a:cxnLst/>
              <a:rect l="l" t="t" r="r" b="b"/>
              <a:pathLst>
                <a:path w="5137658" h="3674618">
                  <a:moveTo>
                    <a:pt x="0" y="301117"/>
                  </a:moveTo>
                  <a:cubicBezTo>
                    <a:pt x="0" y="134747"/>
                    <a:pt x="135001" y="0"/>
                    <a:pt x="301498" y="0"/>
                  </a:cubicBezTo>
                  <a:lnTo>
                    <a:pt x="4836160" y="0"/>
                  </a:lnTo>
                  <a:lnTo>
                    <a:pt x="4836160" y="8509"/>
                  </a:lnTo>
                  <a:lnTo>
                    <a:pt x="4836160" y="0"/>
                  </a:lnTo>
                  <a:cubicBezTo>
                    <a:pt x="5002657" y="0"/>
                    <a:pt x="5137658" y="134747"/>
                    <a:pt x="5137658" y="301117"/>
                  </a:cubicBezTo>
                  <a:lnTo>
                    <a:pt x="5129149" y="301117"/>
                  </a:lnTo>
                  <a:lnTo>
                    <a:pt x="5137658" y="301117"/>
                  </a:lnTo>
                  <a:lnTo>
                    <a:pt x="5137658" y="3373501"/>
                  </a:lnTo>
                  <a:lnTo>
                    <a:pt x="5129149" y="3373501"/>
                  </a:lnTo>
                  <a:lnTo>
                    <a:pt x="5137658" y="3373501"/>
                  </a:lnTo>
                  <a:cubicBezTo>
                    <a:pt x="5137658" y="3539744"/>
                    <a:pt x="5002657" y="3674618"/>
                    <a:pt x="4836160" y="3674618"/>
                  </a:cubicBezTo>
                  <a:lnTo>
                    <a:pt x="4836160" y="3666109"/>
                  </a:lnTo>
                  <a:lnTo>
                    <a:pt x="4836160" y="3674618"/>
                  </a:lnTo>
                  <a:lnTo>
                    <a:pt x="301498" y="3674618"/>
                  </a:lnTo>
                  <a:lnTo>
                    <a:pt x="301498" y="3666109"/>
                  </a:lnTo>
                  <a:lnTo>
                    <a:pt x="301498" y="3674618"/>
                  </a:lnTo>
                  <a:cubicBezTo>
                    <a:pt x="135001" y="3674491"/>
                    <a:pt x="0" y="3539744"/>
                    <a:pt x="0" y="33735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3373501"/>
                  </a:lnTo>
                  <a:lnTo>
                    <a:pt x="8509" y="3373501"/>
                  </a:lnTo>
                  <a:lnTo>
                    <a:pt x="17018" y="3373501"/>
                  </a:lnTo>
                  <a:cubicBezTo>
                    <a:pt x="17018" y="3530473"/>
                    <a:pt x="144399" y="3657600"/>
                    <a:pt x="301498" y="3657600"/>
                  </a:cubicBezTo>
                  <a:lnTo>
                    <a:pt x="4836160" y="3657600"/>
                  </a:lnTo>
                  <a:cubicBezTo>
                    <a:pt x="4993259" y="3657600"/>
                    <a:pt x="5120640" y="3530346"/>
                    <a:pt x="5120640" y="3373501"/>
                  </a:cubicBezTo>
                  <a:lnTo>
                    <a:pt x="5120640" y="301117"/>
                  </a:lnTo>
                  <a:cubicBezTo>
                    <a:pt x="5120640" y="144145"/>
                    <a:pt x="4993259" y="17018"/>
                    <a:pt x="4836160" y="17018"/>
                  </a:cubicBezTo>
                  <a:lnTo>
                    <a:pt x="301498" y="17018"/>
                  </a:lnTo>
                  <a:lnTo>
                    <a:pt x="301498" y="8509"/>
                  </a:lnTo>
                  <a:lnTo>
                    <a:pt x="301498" y="17018"/>
                  </a:lnTo>
                  <a:cubicBezTo>
                    <a:pt x="144399" y="17018"/>
                    <a:pt x="17018" y="144272"/>
                    <a:pt x="17018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2960" y="2523744"/>
            <a:ext cx="3657600" cy="1450330"/>
            <a:chOff x="0" y="0"/>
            <a:chExt cx="4876800" cy="193377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76800" cy="1933773"/>
            </a:xfrm>
            <a:custGeom>
              <a:avLst/>
              <a:gdLst/>
              <a:ahLst/>
              <a:cxnLst/>
              <a:rect l="l" t="t" r="r" b="b"/>
              <a:pathLst>
                <a:path w="4876800" h="1933773">
                  <a:moveTo>
                    <a:pt x="0" y="0"/>
                  </a:moveTo>
                  <a:lnTo>
                    <a:pt x="4876800" y="0"/>
                  </a:lnTo>
                  <a:lnTo>
                    <a:pt x="48768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6" b="672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42875"/>
              <a:ext cx="48768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330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22960" y="3803904"/>
            <a:ext cx="3657600" cy="822960"/>
            <a:chOff x="0" y="0"/>
            <a:chExt cx="4876800" cy="109728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6800" cy="1097280"/>
            </a:xfrm>
            <a:custGeom>
              <a:avLst/>
              <a:gdLst/>
              <a:ahLst/>
              <a:cxnLst/>
              <a:rect l="l" t="t" r="r" b="b"/>
              <a:pathLst>
                <a:path w="4876800" h="109728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8768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Séquences totales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14287" y="2151631"/>
            <a:ext cx="3853177" cy="2755897"/>
            <a:chOff x="0" y="0"/>
            <a:chExt cx="5137569" cy="3674529"/>
          </a:xfrm>
        </p:grpSpPr>
        <p:sp>
          <p:nvSpPr>
            <p:cNvPr id="24" name="Freeform 24"/>
            <p:cNvSpPr/>
            <p:nvPr/>
          </p:nvSpPr>
          <p:spPr>
            <a:xfrm>
              <a:off x="8509" y="8509"/>
              <a:ext cx="5120640" cy="3657600"/>
            </a:xfrm>
            <a:custGeom>
              <a:avLst/>
              <a:gdLst/>
              <a:ahLst/>
              <a:cxnLst/>
              <a:rect l="l" t="t" r="r" b="b"/>
              <a:pathLst>
                <a:path w="5120640" h="3657600">
                  <a:moveTo>
                    <a:pt x="0" y="292608"/>
                  </a:moveTo>
                  <a:cubicBezTo>
                    <a:pt x="0" y="130937"/>
                    <a:pt x="131191" y="0"/>
                    <a:pt x="292989" y="0"/>
                  </a:cubicBezTo>
                  <a:lnTo>
                    <a:pt x="4827651" y="0"/>
                  </a:lnTo>
                  <a:cubicBezTo>
                    <a:pt x="4989449" y="0"/>
                    <a:pt x="5120640" y="131064"/>
                    <a:pt x="5120640" y="292608"/>
                  </a:cubicBezTo>
                  <a:lnTo>
                    <a:pt x="5120640" y="3364992"/>
                  </a:lnTo>
                  <a:cubicBezTo>
                    <a:pt x="5120640" y="3526536"/>
                    <a:pt x="4989449" y="3657600"/>
                    <a:pt x="4827651" y="3657600"/>
                  </a:cubicBezTo>
                  <a:lnTo>
                    <a:pt x="292989" y="3657600"/>
                  </a:lnTo>
                  <a:cubicBezTo>
                    <a:pt x="131191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0" y="0"/>
              <a:ext cx="5137658" cy="3674618"/>
            </a:xfrm>
            <a:custGeom>
              <a:avLst/>
              <a:gdLst/>
              <a:ahLst/>
              <a:cxnLst/>
              <a:rect l="l" t="t" r="r" b="b"/>
              <a:pathLst>
                <a:path w="5137658" h="3674618">
                  <a:moveTo>
                    <a:pt x="0" y="301117"/>
                  </a:moveTo>
                  <a:cubicBezTo>
                    <a:pt x="0" y="134747"/>
                    <a:pt x="135001" y="0"/>
                    <a:pt x="301498" y="0"/>
                  </a:cubicBezTo>
                  <a:lnTo>
                    <a:pt x="4836160" y="0"/>
                  </a:lnTo>
                  <a:lnTo>
                    <a:pt x="4836160" y="8509"/>
                  </a:lnTo>
                  <a:lnTo>
                    <a:pt x="4836160" y="0"/>
                  </a:lnTo>
                  <a:cubicBezTo>
                    <a:pt x="5002657" y="0"/>
                    <a:pt x="5137658" y="134747"/>
                    <a:pt x="5137658" y="301117"/>
                  </a:cubicBezTo>
                  <a:lnTo>
                    <a:pt x="5129149" y="301117"/>
                  </a:lnTo>
                  <a:lnTo>
                    <a:pt x="5137658" y="301117"/>
                  </a:lnTo>
                  <a:lnTo>
                    <a:pt x="5137658" y="3373501"/>
                  </a:lnTo>
                  <a:lnTo>
                    <a:pt x="5129149" y="3373501"/>
                  </a:lnTo>
                  <a:lnTo>
                    <a:pt x="5137658" y="3373501"/>
                  </a:lnTo>
                  <a:cubicBezTo>
                    <a:pt x="5137658" y="3539744"/>
                    <a:pt x="5002657" y="3674618"/>
                    <a:pt x="4836160" y="3674618"/>
                  </a:cubicBezTo>
                  <a:lnTo>
                    <a:pt x="4836160" y="3666109"/>
                  </a:lnTo>
                  <a:lnTo>
                    <a:pt x="4836160" y="3674618"/>
                  </a:lnTo>
                  <a:lnTo>
                    <a:pt x="301498" y="3674618"/>
                  </a:lnTo>
                  <a:lnTo>
                    <a:pt x="301498" y="3666109"/>
                  </a:lnTo>
                  <a:lnTo>
                    <a:pt x="301498" y="3674618"/>
                  </a:lnTo>
                  <a:cubicBezTo>
                    <a:pt x="135001" y="3674491"/>
                    <a:pt x="0" y="3539744"/>
                    <a:pt x="0" y="33735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3373501"/>
                  </a:lnTo>
                  <a:lnTo>
                    <a:pt x="8509" y="3373501"/>
                  </a:lnTo>
                  <a:lnTo>
                    <a:pt x="17018" y="3373501"/>
                  </a:lnTo>
                  <a:cubicBezTo>
                    <a:pt x="17018" y="3530473"/>
                    <a:pt x="144399" y="3657600"/>
                    <a:pt x="301498" y="3657600"/>
                  </a:cubicBezTo>
                  <a:lnTo>
                    <a:pt x="4836160" y="3657600"/>
                  </a:lnTo>
                  <a:cubicBezTo>
                    <a:pt x="4993259" y="3657600"/>
                    <a:pt x="5120640" y="3530346"/>
                    <a:pt x="5120640" y="3373501"/>
                  </a:cubicBezTo>
                  <a:lnTo>
                    <a:pt x="5120640" y="301117"/>
                  </a:lnTo>
                  <a:cubicBezTo>
                    <a:pt x="5120640" y="144145"/>
                    <a:pt x="4993259" y="17018"/>
                    <a:pt x="4836160" y="17018"/>
                  </a:cubicBezTo>
                  <a:lnTo>
                    <a:pt x="301498" y="17018"/>
                  </a:lnTo>
                  <a:lnTo>
                    <a:pt x="301498" y="8509"/>
                  </a:lnTo>
                  <a:lnTo>
                    <a:pt x="301498" y="17018"/>
                  </a:lnTo>
                  <a:cubicBezTo>
                    <a:pt x="144399" y="17018"/>
                    <a:pt x="17018" y="144272"/>
                    <a:pt x="17018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12080" y="2523744"/>
            <a:ext cx="3657600" cy="1450330"/>
            <a:chOff x="0" y="0"/>
            <a:chExt cx="4876800" cy="193377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76800" cy="1933773"/>
            </a:xfrm>
            <a:custGeom>
              <a:avLst/>
              <a:gdLst/>
              <a:ahLst/>
              <a:cxnLst/>
              <a:rect l="l" t="t" r="r" b="b"/>
              <a:pathLst>
                <a:path w="4876800" h="1933773">
                  <a:moveTo>
                    <a:pt x="0" y="0"/>
                  </a:moveTo>
                  <a:lnTo>
                    <a:pt x="4876800" y="0"/>
                  </a:lnTo>
                  <a:lnTo>
                    <a:pt x="48768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6" b="672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42875"/>
              <a:ext cx="48768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  <a:r>
                <a:rPr lang="en-US" sz="7200" b="1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12080" y="3803904"/>
            <a:ext cx="3657600" cy="822960"/>
            <a:chOff x="0" y="0"/>
            <a:chExt cx="4876800" cy="109728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876800" cy="1097280"/>
            </a:xfrm>
            <a:custGeom>
              <a:avLst/>
              <a:gdLst/>
              <a:ahLst/>
              <a:cxnLst/>
              <a:rect l="l" t="t" r="r" b="b"/>
              <a:pathLst>
                <a:path w="4876800" h="109728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48768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 d'actions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503407" y="2151631"/>
            <a:ext cx="3853177" cy="2755897"/>
            <a:chOff x="0" y="0"/>
            <a:chExt cx="5137569" cy="3674529"/>
          </a:xfrm>
        </p:grpSpPr>
        <p:sp>
          <p:nvSpPr>
            <p:cNvPr id="33" name="Freeform 33"/>
            <p:cNvSpPr/>
            <p:nvPr/>
          </p:nvSpPr>
          <p:spPr>
            <a:xfrm>
              <a:off x="8509" y="8509"/>
              <a:ext cx="5120640" cy="3657600"/>
            </a:xfrm>
            <a:custGeom>
              <a:avLst/>
              <a:gdLst/>
              <a:ahLst/>
              <a:cxnLst/>
              <a:rect l="l" t="t" r="r" b="b"/>
              <a:pathLst>
                <a:path w="5120640" h="3657600">
                  <a:moveTo>
                    <a:pt x="0" y="292608"/>
                  </a:moveTo>
                  <a:cubicBezTo>
                    <a:pt x="0" y="130937"/>
                    <a:pt x="131191" y="0"/>
                    <a:pt x="292989" y="0"/>
                  </a:cubicBezTo>
                  <a:lnTo>
                    <a:pt x="4827651" y="0"/>
                  </a:lnTo>
                  <a:cubicBezTo>
                    <a:pt x="4989449" y="0"/>
                    <a:pt x="5120640" y="131064"/>
                    <a:pt x="5120640" y="292608"/>
                  </a:cubicBezTo>
                  <a:lnTo>
                    <a:pt x="5120640" y="3364992"/>
                  </a:lnTo>
                  <a:cubicBezTo>
                    <a:pt x="5120640" y="3526536"/>
                    <a:pt x="4989449" y="3657600"/>
                    <a:pt x="4827651" y="3657600"/>
                  </a:cubicBezTo>
                  <a:lnTo>
                    <a:pt x="292989" y="3657600"/>
                  </a:lnTo>
                  <a:cubicBezTo>
                    <a:pt x="131191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5137658" cy="3674618"/>
            </a:xfrm>
            <a:custGeom>
              <a:avLst/>
              <a:gdLst/>
              <a:ahLst/>
              <a:cxnLst/>
              <a:rect l="l" t="t" r="r" b="b"/>
              <a:pathLst>
                <a:path w="5137658" h="3674618">
                  <a:moveTo>
                    <a:pt x="0" y="301117"/>
                  </a:moveTo>
                  <a:cubicBezTo>
                    <a:pt x="0" y="134747"/>
                    <a:pt x="135001" y="0"/>
                    <a:pt x="301498" y="0"/>
                  </a:cubicBezTo>
                  <a:lnTo>
                    <a:pt x="4836160" y="0"/>
                  </a:lnTo>
                  <a:lnTo>
                    <a:pt x="4836160" y="8509"/>
                  </a:lnTo>
                  <a:lnTo>
                    <a:pt x="4836160" y="0"/>
                  </a:lnTo>
                  <a:cubicBezTo>
                    <a:pt x="5002657" y="0"/>
                    <a:pt x="5137658" y="134747"/>
                    <a:pt x="5137658" y="301117"/>
                  </a:cubicBezTo>
                  <a:lnTo>
                    <a:pt x="5129149" y="301117"/>
                  </a:lnTo>
                  <a:lnTo>
                    <a:pt x="5137658" y="301117"/>
                  </a:lnTo>
                  <a:lnTo>
                    <a:pt x="5137658" y="3373501"/>
                  </a:lnTo>
                  <a:lnTo>
                    <a:pt x="5129149" y="3373501"/>
                  </a:lnTo>
                  <a:lnTo>
                    <a:pt x="5137658" y="3373501"/>
                  </a:lnTo>
                  <a:cubicBezTo>
                    <a:pt x="5137658" y="3539744"/>
                    <a:pt x="5002657" y="3674618"/>
                    <a:pt x="4836160" y="3674618"/>
                  </a:cubicBezTo>
                  <a:lnTo>
                    <a:pt x="4836160" y="3666109"/>
                  </a:lnTo>
                  <a:lnTo>
                    <a:pt x="4836160" y="3674618"/>
                  </a:lnTo>
                  <a:lnTo>
                    <a:pt x="301498" y="3674618"/>
                  </a:lnTo>
                  <a:lnTo>
                    <a:pt x="301498" y="3666109"/>
                  </a:lnTo>
                  <a:lnTo>
                    <a:pt x="301498" y="3674618"/>
                  </a:lnTo>
                  <a:cubicBezTo>
                    <a:pt x="135001" y="3674491"/>
                    <a:pt x="0" y="3539744"/>
                    <a:pt x="0" y="33735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3373501"/>
                  </a:lnTo>
                  <a:lnTo>
                    <a:pt x="8509" y="3373501"/>
                  </a:lnTo>
                  <a:lnTo>
                    <a:pt x="17018" y="3373501"/>
                  </a:lnTo>
                  <a:cubicBezTo>
                    <a:pt x="17018" y="3530473"/>
                    <a:pt x="144399" y="3657600"/>
                    <a:pt x="301498" y="3657600"/>
                  </a:cubicBezTo>
                  <a:lnTo>
                    <a:pt x="4836160" y="3657600"/>
                  </a:lnTo>
                  <a:cubicBezTo>
                    <a:pt x="4993259" y="3657600"/>
                    <a:pt x="5120640" y="3530346"/>
                    <a:pt x="5120640" y="3373501"/>
                  </a:cubicBezTo>
                  <a:lnTo>
                    <a:pt x="5120640" y="301117"/>
                  </a:lnTo>
                  <a:cubicBezTo>
                    <a:pt x="5120640" y="144145"/>
                    <a:pt x="4993259" y="17018"/>
                    <a:pt x="4836160" y="17018"/>
                  </a:cubicBezTo>
                  <a:lnTo>
                    <a:pt x="301498" y="17018"/>
                  </a:lnTo>
                  <a:lnTo>
                    <a:pt x="301498" y="8509"/>
                  </a:lnTo>
                  <a:lnTo>
                    <a:pt x="301498" y="17018"/>
                  </a:lnTo>
                  <a:cubicBezTo>
                    <a:pt x="144399" y="17018"/>
                    <a:pt x="17018" y="144272"/>
                    <a:pt x="17018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601200" y="2523744"/>
            <a:ext cx="3657600" cy="1280160"/>
            <a:chOff x="0" y="0"/>
            <a:chExt cx="4876800" cy="170688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876800" cy="1706880"/>
            </a:xfrm>
            <a:custGeom>
              <a:avLst/>
              <a:gdLst/>
              <a:ahLst/>
              <a:cxnLst/>
              <a:rect l="l" t="t" r="r" b="b"/>
              <a:pathLst>
                <a:path w="4876800" h="1706880">
                  <a:moveTo>
                    <a:pt x="0" y="0"/>
                  </a:moveTo>
                  <a:lnTo>
                    <a:pt x="4876800" y="0"/>
                  </a:lnTo>
                  <a:lnTo>
                    <a:pt x="48768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" b="-567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42875"/>
              <a:ext cx="4876800" cy="1849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601200" y="3803904"/>
            <a:ext cx="3657600" cy="822960"/>
            <a:chOff x="0" y="0"/>
            <a:chExt cx="4876800" cy="109728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876800" cy="1097280"/>
            </a:xfrm>
            <a:custGeom>
              <a:avLst/>
              <a:gdLst/>
              <a:ahLst/>
              <a:cxnLst/>
              <a:rect l="l" t="t" r="r" b="b"/>
              <a:pathLst>
                <a:path w="4876800" h="109728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48768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Sujets participants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892527" y="2151631"/>
            <a:ext cx="3853177" cy="2755897"/>
            <a:chOff x="0" y="0"/>
            <a:chExt cx="5137569" cy="3674529"/>
          </a:xfrm>
        </p:grpSpPr>
        <p:sp>
          <p:nvSpPr>
            <p:cNvPr id="42" name="Freeform 42"/>
            <p:cNvSpPr/>
            <p:nvPr/>
          </p:nvSpPr>
          <p:spPr>
            <a:xfrm>
              <a:off x="8509" y="8509"/>
              <a:ext cx="5120640" cy="3657600"/>
            </a:xfrm>
            <a:custGeom>
              <a:avLst/>
              <a:gdLst/>
              <a:ahLst/>
              <a:cxnLst/>
              <a:rect l="l" t="t" r="r" b="b"/>
              <a:pathLst>
                <a:path w="5120640" h="3657600">
                  <a:moveTo>
                    <a:pt x="0" y="292608"/>
                  </a:moveTo>
                  <a:cubicBezTo>
                    <a:pt x="0" y="130937"/>
                    <a:pt x="131191" y="0"/>
                    <a:pt x="292989" y="0"/>
                  </a:cubicBezTo>
                  <a:lnTo>
                    <a:pt x="4827651" y="0"/>
                  </a:lnTo>
                  <a:cubicBezTo>
                    <a:pt x="4989449" y="0"/>
                    <a:pt x="5120640" y="131064"/>
                    <a:pt x="5120640" y="292608"/>
                  </a:cubicBezTo>
                  <a:lnTo>
                    <a:pt x="5120640" y="3364992"/>
                  </a:lnTo>
                  <a:cubicBezTo>
                    <a:pt x="5120640" y="3526536"/>
                    <a:pt x="4989449" y="3657600"/>
                    <a:pt x="4827651" y="3657600"/>
                  </a:cubicBezTo>
                  <a:lnTo>
                    <a:pt x="292989" y="3657600"/>
                  </a:lnTo>
                  <a:cubicBezTo>
                    <a:pt x="131191" y="3657600"/>
                    <a:pt x="0" y="3526536"/>
                    <a:pt x="0" y="33649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5137658" cy="3674618"/>
            </a:xfrm>
            <a:custGeom>
              <a:avLst/>
              <a:gdLst/>
              <a:ahLst/>
              <a:cxnLst/>
              <a:rect l="l" t="t" r="r" b="b"/>
              <a:pathLst>
                <a:path w="5137658" h="3674618">
                  <a:moveTo>
                    <a:pt x="0" y="301117"/>
                  </a:moveTo>
                  <a:cubicBezTo>
                    <a:pt x="0" y="134747"/>
                    <a:pt x="135001" y="0"/>
                    <a:pt x="301498" y="0"/>
                  </a:cubicBezTo>
                  <a:lnTo>
                    <a:pt x="4836160" y="0"/>
                  </a:lnTo>
                  <a:lnTo>
                    <a:pt x="4836160" y="8509"/>
                  </a:lnTo>
                  <a:lnTo>
                    <a:pt x="4836160" y="0"/>
                  </a:lnTo>
                  <a:cubicBezTo>
                    <a:pt x="5002657" y="0"/>
                    <a:pt x="5137658" y="134747"/>
                    <a:pt x="5137658" y="301117"/>
                  </a:cubicBezTo>
                  <a:lnTo>
                    <a:pt x="5129149" y="301117"/>
                  </a:lnTo>
                  <a:lnTo>
                    <a:pt x="5137658" y="301117"/>
                  </a:lnTo>
                  <a:lnTo>
                    <a:pt x="5137658" y="3373501"/>
                  </a:lnTo>
                  <a:lnTo>
                    <a:pt x="5129149" y="3373501"/>
                  </a:lnTo>
                  <a:lnTo>
                    <a:pt x="5137658" y="3373501"/>
                  </a:lnTo>
                  <a:cubicBezTo>
                    <a:pt x="5137658" y="3539744"/>
                    <a:pt x="5002657" y="3674618"/>
                    <a:pt x="4836160" y="3674618"/>
                  </a:cubicBezTo>
                  <a:lnTo>
                    <a:pt x="4836160" y="3666109"/>
                  </a:lnTo>
                  <a:lnTo>
                    <a:pt x="4836160" y="3674618"/>
                  </a:lnTo>
                  <a:lnTo>
                    <a:pt x="301498" y="3674618"/>
                  </a:lnTo>
                  <a:lnTo>
                    <a:pt x="301498" y="3666109"/>
                  </a:lnTo>
                  <a:lnTo>
                    <a:pt x="301498" y="3674618"/>
                  </a:lnTo>
                  <a:cubicBezTo>
                    <a:pt x="135001" y="3674491"/>
                    <a:pt x="0" y="3539744"/>
                    <a:pt x="0" y="33735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3373501"/>
                  </a:lnTo>
                  <a:lnTo>
                    <a:pt x="8509" y="3373501"/>
                  </a:lnTo>
                  <a:lnTo>
                    <a:pt x="17018" y="3373501"/>
                  </a:lnTo>
                  <a:cubicBezTo>
                    <a:pt x="17018" y="3530473"/>
                    <a:pt x="144399" y="3657600"/>
                    <a:pt x="301498" y="3657600"/>
                  </a:cubicBezTo>
                  <a:lnTo>
                    <a:pt x="4836160" y="3657600"/>
                  </a:lnTo>
                  <a:cubicBezTo>
                    <a:pt x="4993259" y="3657600"/>
                    <a:pt x="5120640" y="3530346"/>
                    <a:pt x="5120640" y="3373501"/>
                  </a:cubicBezTo>
                  <a:lnTo>
                    <a:pt x="5120640" y="301117"/>
                  </a:lnTo>
                  <a:cubicBezTo>
                    <a:pt x="5120640" y="144145"/>
                    <a:pt x="4993259" y="17018"/>
                    <a:pt x="4836160" y="17018"/>
                  </a:cubicBezTo>
                  <a:lnTo>
                    <a:pt x="301498" y="17018"/>
                  </a:lnTo>
                  <a:lnTo>
                    <a:pt x="301498" y="8509"/>
                  </a:lnTo>
                  <a:lnTo>
                    <a:pt x="301498" y="17018"/>
                  </a:lnTo>
                  <a:cubicBezTo>
                    <a:pt x="144399" y="17018"/>
                    <a:pt x="17018" y="144272"/>
                    <a:pt x="17018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990320" y="2523744"/>
            <a:ext cx="3657600" cy="1450330"/>
            <a:chOff x="0" y="0"/>
            <a:chExt cx="4876800" cy="1933773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876800" cy="1933773"/>
            </a:xfrm>
            <a:custGeom>
              <a:avLst/>
              <a:gdLst/>
              <a:ahLst/>
              <a:cxnLst/>
              <a:rect l="l" t="t" r="r" b="b"/>
              <a:pathLst>
                <a:path w="4876800" h="1933773">
                  <a:moveTo>
                    <a:pt x="0" y="0"/>
                  </a:moveTo>
                  <a:lnTo>
                    <a:pt x="4876800" y="0"/>
                  </a:lnTo>
                  <a:lnTo>
                    <a:pt x="4876800" y="1933773"/>
                  </a:lnTo>
                  <a:lnTo>
                    <a:pt x="0" y="19337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6" b="672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42875"/>
              <a:ext cx="4876800" cy="2076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640"/>
                </a:lnSpc>
              </a:pPr>
              <a:r>
                <a:rPr lang="en-US" sz="7200" b="1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990320" y="3803904"/>
            <a:ext cx="3657600" cy="822960"/>
            <a:chOff x="0" y="0"/>
            <a:chExt cx="4876800" cy="10972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876800" cy="1097280"/>
            </a:xfrm>
            <a:custGeom>
              <a:avLst/>
              <a:gdLst/>
              <a:ahLst/>
              <a:cxnLst/>
              <a:rect l="l" t="t" r="r" b="b"/>
              <a:pathLst>
                <a:path w="4876800" h="1097280">
                  <a:moveTo>
                    <a:pt x="0" y="0"/>
                  </a:moveTo>
                  <a:lnTo>
                    <a:pt x="4876800" y="0"/>
                  </a:lnTo>
                  <a:lnTo>
                    <a:pt x="4876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47625"/>
              <a:ext cx="487680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Répétition 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25167" y="5260591"/>
            <a:ext cx="9522457" cy="4584697"/>
            <a:chOff x="0" y="0"/>
            <a:chExt cx="12696609" cy="6112929"/>
          </a:xfrm>
        </p:grpSpPr>
        <p:sp>
          <p:nvSpPr>
            <p:cNvPr id="51" name="Freeform 51"/>
            <p:cNvSpPr/>
            <p:nvPr/>
          </p:nvSpPr>
          <p:spPr>
            <a:xfrm>
              <a:off x="8509" y="8509"/>
              <a:ext cx="12679553" cy="6096000"/>
            </a:xfrm>
            <a:custGeom>
              <a:avLst/>
              <a:gdLst/>
              <a:ahLst/>
              <a:cxnLst/>
              <a:rect l="l" t="t" r="r" b="b"/>
              <a:pathLst>
                <a:path w="12679553" h="6096000">
                  <a:moveTo>
                    <a:pt x="0" y="292608"/>
                  </a:moveTo>
                  <a:cubicBezTo>
                    <a:pt x="0" y="130937"/>
                    <a:pt x="131191" y="0"/>
                    <a:pt x="292989" y="0"/>
                  </a:cubicBezTo>
                  <a:lnTo>
                    <a:pt x="12386564" y="0"/>
                  </a:lnTo>
                  <a:cubicBezTo>
                    <a:pt x="12548362" y="0"/>
                    <a:pt x="12679553" y="131064"/>
                    <a:pt x="12679553" y="292608"/>
                  </a:cubicBezTo>
                  <a:lnTo>
                    <a:pt x="12679553" y="5803392"/>
                  </a:lnTo>
                  <a:cubicBezTo>
                    <a:pt x="12679553" y="5964936"/>
                    <a:pt x="12548362" y="6096000"/>
                    <a:pt x="12386564" y="6096000"/>
                  </a:cubicBezTo>
                  <a:lnTo>
                    <a:pt x="292989" y="6096000"/>
                  </a:lnTo>
                  <a:cubicBezTo>
                    <a:pt x="131191" y="6096000"/>
                    <a:pt x="0" y="5964936"/>
                    <a:pt x="0" y="5803392"/>
                  </a:cubicBezTo>
                  <a:close/>
                </a:path>
              </a:pathLst>
            </a:custGeom>
            <a:solidFill>
              <a:srgbClr val="F0F4F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12696571" cy="6113018"/>
            </a:xfrm>
            <a:custGeom>
              <a:avLst/>
              <a:gdLst/>
              <a:ahLst/>
              <a:cxnLst/>
              <a:rect l="l" t="t" r="r" b="b"/>
              <a:pathLst>
                <a:path w="12696571" h="6113018">
                  <a:moveTo>
                    <a:pt x="0" y="301117"/>
                  </a:moveTo>
                  <a:cubicBezTo>
                    <a:pt x="0" y="134747"/>
                    <a:pt x="135001" y="0"/>
                    <a:pt x="301498" y="0"/>
                  </a:cubicBezTo>
                  <a:lnTo>
                    <a:pt x="12395073" y="0"/>
                  </a:lnTo>
                  <a:lnTo>
                    <a:pt x="12395073" y="8509"/>
                  </a:lnTo>
                  <a:lnTo>
                    <a:pt x="12395073" y="0"/>
                  </a:lnTo>
                  <a:cubicBezTo>
                    <a:pt x="12561570" y="0"/>
                    <a:pt x="12696571" y="134747"/>
                    <a:pt x="12696571" y="301117"/>
                  </a:cubicBezTo>
                  <a:lnTo>
                    <a:pt x="12688062" y="301117"/>
                  </a:lnTo>
                  <a:lnTo>
                    <a:pt x="12696571" y="301117"/>
                  </a:lnTo>
                  <a:lnTo>
                    <a:pt x="12696571" y="5811901"/>
                  </a:lnTo>
                  <a:lnTo>
                    <a:pt x="12688062" y="5811901"/>
                  </a:lnTo>
                  <a:lnTo>
                    <a:pt x="12696571" y="5811901"/>
                  </a:lnTo>
                  <a:cubicBezTo>
                    <a:pt x="12696571" y="5978144"/>
                    <a:pt x="12561570" y="6113018"/>
                    <a:pt x="12395073" y="6113018"/>
                  </a:cubicBezTo>
                  <a:lnTo>
                    <a:pt x="12395073" y="6104509"/>
                  </a:lnTo>
                  <a:lnTo>
                    <a:pt x="12395073" y="6113018"/>
                  </a:lnTo>
                  <a:lnTo>
                    <a:pt x="301498" y="6113018"/>
                  </a:lnTo>
                  <a:lnTo>
                    <a:pt x="301498" y="6104509"/>
                  </a:lnTo>
                  <a:lnTo>
                    <a:pt x="301498" y="6113018"/>
                  </a:lnTo>
                  <a:cubicBezTo>
                    <a:pt x="135001" y="6112891"/>
                    <a:pt x="0" y="5978144"/>
                    <a:pt x="0" y="58119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5811901"/>
                  </a:lnTo>
                  <a:lnTo>
                    <a:pt x="8509" y="5811901"/>
                  </a:lnTo>
                  <a:lnTo>
                    <a:pt x="17018" y="5811901"/>
                  </a:lnTo>
                  <a:cubicBezTo>
                    <a:pt x="16891" y="5968746"/>
                    <a:pt x="144272" y="6096000"/>
                    <a:pt x="301498" y="6096000"/>
                  </a:cubicBezTo>
                  <a:lnTo>
                    <a:pt x="12395073" y="6096000"/>
                  </a:lnTo>
                  <a:cubicBezTo>
                    <a:pt x="12552299" y="6096000"/>
                    <a:pt x="12679680" y="5968746"/>
                    <a:pt x="12679680" y="5811901"/>
                  </a:cubicBezTo>
                  <a:lnTo>
                    <a:pt x="12679680" y="301117"/>
                  </a:lnTo>
                  <a:cubicBezTo>
                    <a:pt x="12679680" y="144145"/>
                    <a:pt x="12552299" y="17018"/>
                    <a:pt x="12395073" y="17018"/>
                  </a:cubicBezTo>
                  <a:lnTo>
                    <a:pt x="301498" y="17018"/>
                  </a:lnTo>
                  <a:lnTo>
                    <a:pt x="301498" y="8509"/>
                  </a:lnTo>
                  <a:lnTo>
                    <a:pt x="301498" y="17018"/>
                  </a:lnTo>
                  <a:cubicBezTo>
                    <a:pt x="144272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600687" y="5260591"/>
            <a:ext cx="6962137" cy="4584697"/>
            <a:chOff x="0" y="0"/>
            <a:chExt cx="9282849" cy="6112929"/>
          </a:xfrm>
        </p:grpSpPr>
        <p:sp>
          <p:nvSpPr>
            <p:cNvPr id="54" name="Freeform 54"/>
            <p:cNvSpPr/>
            <p:nvPr/>
          </p:nvSpPr>
          <p:spPr>
            <a:xfrm>
              <a:off x="8509" y="8509"/>
              <a:ext cx="9265793" cy="6096000"/>
            </a:xfrm>
            <a:custGeom>
              <a:avLst/>
              <a:gdLst/>
              <a:ahLst/>
              <a:cxnLst/>
              <a:rect l="l" t="t" r="r" b="b"/>
              <a:pathLst>
                <a:path w="9265793" h="609600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8972931" y="0"/>
                  </a:lnTo>
                  <a:cubicBezTo>
                    <a:pt x="9134729" y="0"/>
                    <a:pt x="9265793" y="131064"/>
                    <a:pt x="9265793" y="292608"/>
                  </a:cubicBezTo>
                  <a:lnTo>
                    <a:pt x="9265793" y="5803392"/>
                  </a:lnTo>
                  <a:cubicBezTo>
                    <a:pt x="9265793" y="5964936"/>
                    <a:pt x="9134602" y="6096000"/>
                    <a:pt x="8972931" y="6096000"/>
                  </a:cubicBezTo>
                  <a:lnTo>
                    <a:pt x="292862" y="6096000"/>
                  </a:lnTo>
                  <a:cubicBezTo>
                    <a:pt x="131064" y="6096000"/>
                    <a:pt x="0" y="5964936"/>
                    <a:pt x="0" y="580339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9282811" cy="6113018"/>
            </a:xfrm>
            <a:custGeom>
              <a:avLst/>
              <a:gdLst/>
              <a:ahLst/>
              <a:cxnLst/>
              <a:rect l="l" t="t" r="r" b="b"/>
              <a:pathLst>
                <a:path w="9282811" h="6113018">
                  <a:moveTo>
                    <a:pt x="0" y="301117"/>
                  </a:moveTo>
                  <a:cubicBezTo>
                    <a:pt x="0" y="134747"/>
                    <a:pt x="134874" y="0"/>
                    <a:pt x="301371" y="0"/>
                  </a:cubicBezTo>
                  <a:lnTo>
                    <a:pt x="8981440" y="0"/>
                  </a:lnTo>
                  <a:lnTo>
                    <a:pt x="8981440" y="8509"/>
                  </a:lnTo>
                  <a:lnTo>
                    <a:pt x="8981440" y="0"/>
                  </a:lnTo>
                  <a:cubicBezTo>
                    <a:pt x="9147810" y="0"/>
                    <a:pt x="9282811" y="134747"/>
                    <a:pt x="9282811" y="301117"/>
                  </a:cubicBezTo>
                  <a:lnTo>
                    <a:pt x="9274302" y="301117"/>
                  </a:lnTo>
                  <a:lnTo>
                    <a:pt x="9282811" y="301117"/>
                  </a:lnTo>
                  <a:lnTo>
                    <a:pt x="9282811" y="5811901"/>
                  </a:lnTo>
                  <a:lnTo>
                    <a:pt x="9274302" y="5811901"/>
                  </a:lnTo>
                  <a:lnTo>
                    <a:pt x="9282811" y="5811901"/>
                  </a:lnTo>
                  <a:cubicBezTo>
                    <a:pt x="9282811" y="5978144"/>
                    <a:pt x="9147937" y="6113018"/>
                    <a:pt x="8981440" y="6113018"/>
                  </a:cubicBezTo>
                  <a:lnTo>
                    <a:pt x="8981440" y="6104509"/>
                  </a:lnTo>
                  <a:lnTo>
                    <a:pt x="8981440" y="6113018"/>
                  </a:lnTo>
                  <a:lnTo>
                    <a:pt x="301371" y="6113018"/>
                  </a:lnTo>
                  <a:lnTo>
                    <a:pt x="301371" y="6104509"/>
                  </a:lnTo>
                  <a:lnTo>
                    <a:pt x="301371" y="6113018"/>
                  </a:lnTo>
                  <a:cubicBezTo>
                    <a:pt x="134874" y="6112891"/>
                    <a:pt x="0" y="5978144"/>
                    <a:pt x="0" y="581190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5811901"/>
                  </a:lnTo>
                  <a:lnTo>
                    <a:pt x="8509" y="5811901"/>
                  </a:lnTo>
                  <a:lnTo>
                    <a:pt x="17018" y="5811901"/>
                  </a:lnTo>
                  <a:cubicBezTo>
                    <a:pt x="17018" y="5968873"/>
                    <a:pt x="144399" y="6096000"/>
                    <a:pt x="301498" y="6096000"/>
                  </a:cubicBezTo>
                  <a:lnTo>
                    <a:pt x="8981440" y="6096000"/>
                  </a:lnTo>
                  <a:cubicBezTo>
                    <a:pt x="9138539" y="6096000"/>
                    <a:pt x="9265920" y="5968746"/>
                    <a:pt x="9265920" y="5811901"/>
                  </a:cubicBezTo>
                  <a:lnTo>
                    <a:pt x="9265920" y="301117"/>
                  </a:lnTo>
                  <a:cubicBezTo>
                    <a:pt x="9265920" y="144145"/>
                    <a:pt x="9138539" y="17018"/>
                    <a:pt x="8981440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972800" y="5449824"/>
            <a:ext cx="6217920" cy="585216"/>
            <a:chOff x="0" y="0"/>
            <a:chExt cx="8290560" cy="78028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290560" cy="780288"/>
            </a:xfrm>
            <a:custGeom>
              <a:avLst/>
              <a:gdLst/>
              <a:ahLst/>
              <a:cxnLst/>
              <a:rect l="l" t="t" r="r" b="b"/>
              <a:pathLst>
                <a:path w="8290560" h="780288">
                  <a:moveTo>
                    <a:pt x="0" y="0"/>
                  </a:moveTo>
                  <a:lnTo>
                    <a:pt x="8290560" y="0"/>
                  </a:lnTo>
                  <a:lnTo>
                    <a:pt x="82905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028" b="-1570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829056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 Actions reconnues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064240" y="6097524"/>
            <a:ext cx="6035040" cy="332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Agiter bras (horizontal / haut)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Agiter deux mains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Se pencher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Applaudir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Marcher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Appeler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Boire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S'asseoir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Se lever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Debout (stationnaire)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 + 1 variante</a:t>
            </a:r>
          </a:p>
        </p:txBody>
      </p:sp>
      <p:sp>
        <p:nvSpPr>
          <p:cNvPr id="60" name="Freeform 60"/>
          <p:cNvSpPr/>
          <p:nvPr/>
        </p:nvSpPr>
        <p:spPr>
          <a:xfrm>
            <a:off x="2632710" y="5098028"/>
            <a:ext cx="5877430" cy="5085691"/>
          </a:xfrm>
          <a:custGeom>
            <a:avLst/>
            <a:gdLst/>
            <a:ahLst/>
            <a:cxnLst/>
            <a:rect l="l" t="t" r="r" b="b"/>
            <a:pathLst>
              <a:path w="5877430" h="5085691">
                <a:moveTo>
                  <a:pt x="0" y="0"/>
                </a:moveTo>
                <a:lnTo>
                  <a:pt x="5877430" y="0"/>
                </a:lnTo>
                <a:lnTo>
                  <a:pt x="5877430" y="5085691"/>
                </a:lnTo>
                <a:lnTo>
                  <a:pt x="0" y="508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4079"/>
            </a:stretch>
          </a:blipFill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PRÉPARATION DES DONNÉES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 — Pipeline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8591" y="2224783"/>
            <a:ext cx="3048505" cy="2390137"/>
            <a:chOff x="0" y="0"/>
            <a:chExt cx="4064673" cy="3186849"/>
          </a:xfrm>
        </p:grpSpPr>
        <p:sp>
          <p:nvSpPr>
            <p:cNvPr id="15" name="Freeform 15"/>
            <p:cNvSpPr/>
            <p:nvPr/>
          </p:nvSpPr>
          <p:spPr>
            <a:xfrm>
              <a:off x="8509" y="8509"/>
              <a:ext cx="4047744" cy="3169920"/>
            </a:xfrm>
            <a:custGeom>
              <a:avLst/>
              <a:gdLst/>
              <a:ahLst/>
              <a:cxnLst/>
              <a:rect l="l" t="t" r="r" b="b"/>
              <a:pathLst>
                <a:path w="4047744" h="316992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3754755" y="0"/>
                  </a:lnTo>
                  <a:cubicBezTo>
                    <a:pt x="3916553" y="0"/>
                    <a:pt x="4047744" y="131064"/>
                    <a:pt x="4047744" y="292608"/>
                  </a:cubicBezTo>
                  <a:lnTo>
                    <a:pt x="4047744" y="2877312"/>
                  </a:lnTo>
                  <a:cubicBezTo>
                    <a:pt x="4047744" y="3038856"/>
                    <a:pt x="3916553" y="3169920"/>
                    <a:pt x="3754755" y="3169920"/>
                  </a:cubicBezTo>
                  <a:lnTo>
                    <a:pt x="292862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064635" cy="3186938"/>
            </a:xfrm>
            <a:custGeom>
              <a:avLst/>
              <a:gdLst/>
              <a:ahLst/>
              <a:cxnLst/>
              <a:rect l="l" t="t" r="r" b="b"/>
              <a:pathLst>
                <a:path w="4064635" h="3186938">
                  <a:moveTo>
                    <a:pt x="0" y="301117"/>
                  </a:moveTo>
                  <a:cubicBezTo>
                    <a:pt x="0" y="134747"/>
                    <a:pt x="135001" y="0"/>
                    <a:pt x="301371" y="0"/>
                  </a:cubicBezTo>
                  <a:lnTo>
                    <a:pt x="3763264" y="0"/>
                  </a:lnTo>
                  <a:lnTo>
                    <a:pt x="3763264" y="8509"/>
                  </a:lnTo>
                  <a:lnTo>
                    <a:pt x="3763264" y="0"/>
                  </a:lnTo>
                  <a:cubicBezTo>
                    <a:pt x="3929761" y="0"/>
                    <a:pt x="4064635" y="134747"/>
                    <a:pt x="4064635" y="301117"/>
                  </a:cubicBezTo>
                  <a:lnTo>
                    <a:pt x="4056126" y="301117"/>
                  </a:lnTo>
                  <a:lnTo>
                    <a:pt x="4064635" y="301117"/>
                  </a:lnTo>
                  <a:lnTo>
                    <a:pt x="4064635" y="2885821"/>
                  </a:lnTo>
                  <a:lnTo>
                    <a:pt x="4056126" y="2885821"/>
                  </a:lnTo>
                  <a:lnTo>
                    <a:pt x="4064635" y="2885821"/>
                  </a:lnTo>
                  <a:cubicBezTo>
                    <a:pt x="4064635" y="3052064"/>
                    <a:pt x="3929634" y="3186938"/>
                    <a:pt x="3763264" y="3186938"/>
                  </a:cubicBezTo>
                  <a:lnTo>
                    <a:pt x="3763264" y="3178429"/>
                  </a:lnTo>
                  <a:lnTo>
                    <a:pt x="3763264" y="3186938"/>
                  </a:lnTo>
                  <a:lnTo>
                    <a:pt x="301371" y="3186938"/>
                  </a:lnTo>
                  <a:lnTo>
                    <a:pt x="301371" y="3178429"/>
                  </a:lnTo>
                  <a:lnTo>
                    <a:pt x="301371" y="3186938"/>
                  </a:lnTo>
                  <a:cubicBezTo>
                    <a:pt x="135001" y="3186811"/>
                    <a:pt x="0" y="3052064"/>
                    <a:pt x="0" y="2885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885821"/>
                  </a:lnTo>
                  <a:lnTo>
                    <a:pt x="8509" y="2885821"/>
                  </a:lnTo>
                  <a:lnTo>
                    <a:pt x="17018" y="2885821"/>
                  </a:lnTo>
                  <a:cubicBezTo>
                    <a:pt x="17018" y="3042793"/>
                    <a:pt x="144399" y="3169920"/>
                    <a:pt x="301498" y="3169920"/>
                  </a:cubicBezTo>
                  <a:lnTo>
                    <a:pt x="3763264" y="3169920"/>
                  </a:lnTo>
                  <a:cubicBezTo>
                    <a:pt x="3920363" y="3169920"/>
                    <a:pt x="4047744" y="3042666"/>
                    <a:pt x="4047744" y="2885821"/>
                  </a:cubicBezTo>
                  <a:lnTo>
                    <a:pt x="4047744" y="301117"/>
                  </a:lnTo>
                  <a:cubicBezTo>
                    <a:pt x="4047744" y="144145"/>
                    <a:pt x="3920363" y="17018"/>
                    <a:pt x="3763264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2247" y="2218439"/>
            <a:ext cx="3061211" cy="135131"/>
            <a:chOff x="0" y="0"/>
            <a:chExt cx="4081615" cy="180175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4047744" cy="146304"/>
            </a:xfrm>
            <a:custGeom>
              <a:avLst/>
              <a:gdLst/>
              <a:ahLst/>
              <a:cxnLst/>
              <a:rect l="l" t="t" r="r" b="b"/>
              <a:pathLst>
                <a:path w="4047744" h="146304">
                  <a:moveTo>
                    <a:pt x="0" y="0"/>
                  </a:moveTo>
                  <a:lnTo>
                    <a:pt x="4047744" y="0"/>
                  </a:lnTo>
                  <a:lnTo>
                    <a:pt x="40477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4081526" cy="180088"/>
            </a:xfrm>
            <a:custGeom>
              <a:avLst/>
              <a:gdLst/>
              <a:ahLst/>
              <a:cxnLst/>
              <a:rect l="l" t="t" r="r" b="b"/>
              <a:pathLst>
                <a:path w="4081526" h="180088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163195"/>
                  </a:lnTo>
                  <a:cubicBezTo>
                    <a:pt x="4081526" y="172593"/>
                    <a:pt x="4073906" y="180086"/>
                    <a:pt x="40646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64635" y="146304"/>
                  </a:lnTo>
                  <a:lnTo>
                    <a:pt x="4064635" y="163195"/>
                  </a:lnTo>
                  <a:lnTo>
                    <a:pt x="4047744" y="163195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4944" y="2414016"/>
            <a:ext cx="3035808" cy="640080"/>
            <a:chOff x="0" y="0"/>
            <a:chExt cx="4047744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47744" cy="853440"/>
            </a:xfrm>
            <a:custGeom>
              <a:avLst/>
              <a:gdLst/>
              <a:ahLst/>
              <a:cxnLst/>
              <a:rect l="l" t="t" r="r" b="b"/>
              <a:pathLst>
                <a:path w="4047744" h="853440">
                  <a:moveTo>
                    <a:pt x="0" y="0"/>
                  </a:moveTo>
                  <a:lnTo>
                    <a:pt x="4047744" y="0"/>
                  </a:lnTo>
                  <a:lnTo>
                    <a:pt x="404774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14" b="-4241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76200"/>
              <a:ext cx="4047744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94944" y="3108960"/>
            <a:ext cx="3035808" cy="548640"/>
            <a:chOff x="0" y="0"/>
            <a:chExt cx="4047744" cy="73152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047744" cy="731520"/>
            </a:xfrm>
            <a:custGeom>
              <a:avLst/>
              <a:gdLst/>
              <a:ahLst/>
              <a:cxnLst/>
              <a:rect l="l" t="t" r="r" b="b"/>
              <a:pathLst>
                <a:path w="4047744" h="731520">
                  <a:moveTo>
                    <a:pt x="0" y="0"/>
                  </a:moveTo>
                  <a:lnTo>
                    <a:pt x="4047744" y="0"/>
                  </a:lnTo>
                  <a:lnTo>
                    <a:pt x="4047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817" b="-5781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404774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Chargement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94944" y="3694176"/>
            <a:ext cx="3035808" cy="768096"/>
            <a:chOff x="0" y="0"/>
            <a:chExt cx="4047744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Fichiers .txt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joints × 3D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772919" y="3379727"/>
            <a:ext cx="318011" cy="80267"/>
            <a:chOff x="0" y="0"/>
            <a:chExt cx="424015" cy="10702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390144" cy="73152"/>
            </a:xfrm>
            <a:custGeom>
              <a:avLst/>
              <a:gdLst/>
              <a:ahLst/>
              <a:cxnLst/>
              <a:rect l="l" t="t" r="r" b="b"/>
              <a:pathLst>
                <a:path w="390144" h="73152">
                  <a:moveTo>
                    <a:pt x="0" y="0"/>
                  </a:moveTo>
                  <a:lnTo>
                    <a:pt x="390144" y="0"/>
                  </a:lnTo>
                  <a:lnTo>
                    <a:pt x="39014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423926" cy="106936"/>
            </a:xfrm>
            <a:custGeom>
              <a:avLst/>
              <a:gdLst/>
              <a:ahLst/>
              <a:cxnLst/>
              <a:rect l="l" t="t" r="r" b="b"/>
              <a:pathLst>
                <a:path w="423926" h="10693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90043"/>
                  </a:lnTo>
                  <a:cubicBezTo>
                    <a:pt x="423926" y="99441"/>
                    <a:pt x="416306" y="106934"/>
                    <a:pt x="40703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407035" y="73152"/>
                  </a:lnTo>
                  <a:lnTo>
                    <a:pt x="407035" y="90043"/>
                  </a:lnTo>
                  <a:lnTo>
                    <a:pt x="390144" y="90043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126735" y="2224783"/>
            <a:ext cx="3048505" cy="2390137"/>
            <a:chOff x="0" y="0"/>
            <a:chExt cx="4064673" cy="3186849"/>
          </a:xfrm>
        </p:grpSpPr>
        <p:sp>
          <p:nvSpPr>
            <p:cNvPr id="33" name="Freeform 33"/>
            <p:cNvSpPr/>
            <p:nvPr/>
          </p:nvSpPr>
          <p:spPr>
            <a:xfrm>
              <a:off x="8509" y="8509"/>
              <a:ext cx="4047744" cy="3169920"/>
            </a:xfrm>
            <a:custGeom>
              <a:avLst/>
              <a:gdLst/>
              <a:ahLst/>
              <a:cxnLst/>
              <a:rect l="l" t="t" r="r" b="b"/>
              <a:pathLst>
                <a:path w="4047744" h="316992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3754755" y="0"/>
                  </a:lnTo>
                  <a:cubicBezTo>
                    <a:pt x="3916553" y="0"/>
                    <a:pt x="4047744" y="131064"/>
                    <a:pt x="4047744" y="292608"/>
                  </a:cubicBezTo>
                  <a:lnTo>
                    <a:pt x="4047744" y="2877312"/>
                  </a:lnTo>
                  <a:cubicBezTo>
                    <a:pt x="4047744" y="3038856"/>
                    <a:pt x="3916553" y="3169920"/>
                    <a:pt x="3754755" y="3169920"/>
                  </a:cubicBezTo>
                  <a:lnTo>
                    <a:pt x="292862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4064635" cy="3186938"/>
            </a:xfrm>
            <a:custGeom>
              <a:avLst/>
              <a:gdLst/>
              <a:ahLst/>
              <a:cxnLst/>
              <a:rect l="l" t="t" r="r" b="b"/>
              <a:pathLst>
                <a:path w="4064635" h="3186938">
                  <a:moveTo>
                    <a:pt x="0" y="301117"/>
                  </a:moveTo>
                  <a:cubicBezTo>
                    <a:pt x="0" y="134747"/>
                    <a:pt x="135001" y="0"/>
                    <a:pt x="301371" y="0"/>
                  </a:cubicBezTo>
                  <a:lnTo>
                    <a:pt x="3763264" y="0"/>
                  </a:lnTo>
                  <a:lnTo>
                    <a:pt x="3763264" y="8509"/>
                  </a:lnTo>
                  <a:lnTo>
                    <a:pt x="3763264" y="0"/>
                  </a:lnTo>
                  <a:cubicBezTo>
                    <a:pt x="3929761" y="0"/>
                    <a:pt x="4064635" y="134747"/>
                    <a:pt x="4064635" y="301117"/>
                  </a:cubicBezTo>
                  <a:lnTo>
                    <a:pt x="4056126" y="301117"/>
                  </a:lnTo>
                  <a:lnTo>
                    <a:pt x="4064635" y="301117"/>
                  </a:lnTo>
                  <a:lnTo>
                    <a:pt x="4064635" y="2885821"/>
                  </a:lnTo>
                  <a:lnTo>
                    <a:pt x="4056126" y="2885821"/>
                  </a:lnTo>
                  <a:lnTo>
                    <a:pt x="4064635" y="2885821"/>
                  </a:lnTo>
                  <a:cubicBezTo>
                    <a:pt x="4064635" y="3052064"/>
                    <a:pt x="3929634" y="3186938"/>
                    <a:pt x="3763264" y="3186938"/>
                  </a:cubicBezTo>
                  <a:lnTo>
                    <a:pt x="3763264" y="3178429"/>
                  </a:lnTo>
                  <a:lnTo>
                    <a:pt x="3763264" y="3186938"/>
                  </a:lnTo>
                  <a:lnTo>
                    <a:pt x="301371" y="3186938"/>
                  </a:lnTo>
                  <a:lnTo>
                    <a:pt x="301371" y="3178429"/>
                  </a:lnTo>
                  <a:lnTo>
                    <a:pt x="301371" y="3186938"/>
                  </a:lnTo>
                  <a:cubicBezTo>
                    <a:pt x="135001" y="3186811"/>
                    <a:pt x="0" y="3052064"/>
                    <a:pt x="0" y="2885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885821"/>
                  </a:lnTo>
                  <a:lnTo>
                    <a:pt x="8509" y="2885821"/>
                  </a:lnTo>
                  <a:lnTo>
                    <a:pt x="17018" y="2885821"/>
                  </a:lnTo>
                  <a:cubicBezTo>
                    <a:pt x="17018" y="3042793"/>
                    <a:pt x="144399" y="3169920"/>
                    <a:pt x="301498" y="3169920"/>
                  </a:cubicBezTo>
                  <a:lnTo>
                    <a:pt x="3763264" y="3169920"/>
                  </a:lnTo>
                  <a:cubicBezTo>
                    <a:pt x="3920363" y="3169920"/>
                    <a:pt x="4047744" y="3042666"/>
                    <a:pt x="4047744" y="2885821"/>
                  </a:cubicBezTo>
                  <a:lnTo>
                    <a:pt x="4047744" y="301117"/>
                  </a:lnTo>
                  <a:cubicBezTo>
                    <a:pt x="4047744" y="144145"/>
                    <a:pt x="3920363" y="17018"/>
                    <a:pt x="3763264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120391" y="2218439"/>
            <a:ext cx="3061211" cy="135131"/>
            <a:chOff x="0" y="0"/>
            <a:chExt cx="4081615" cy="180175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047744" cy="146304"/>
            </a:xfrm>
            <a:custGeom>
              <a:avLst/>
              <a:gdLst/>
              <a:ahLst/>
              <a:cxnLst/>
              <a:rect l="l" t="t" r="r" b="b"/>
              <a:pathLst>
                <a:path w="4047744" h="146304">
                  <a:moveTo>
                    <a:pt x="0" y="0"/>
                  </a:moveTo>
                  <a:lnTo>
                    <a:pt x="4047744" y="0"/>
                  </a:lnTo>
                  <a:lnTo>
                    <a:pt x="40477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081526" cy="180088"/>
            </a:xfrm>
            <a:custGeom>
              <a:avLst/>
              <a:gdLst/>
              <a:ahLst/>
              <a:cxnLst/>
              <a:rect l="l" t="t" r="r" b="b"/>
              <a:pathLst>
                <a:path w="4081526" h="180088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163195"/>
                  </a:lnTo>
                  <a:cubicBezTo>
                    <a:pt x="4081526" y="172593"/>
                    <a:pt x="4073906" y="180086"/>
                    <a:pt x="40646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64635" y="146304"/>
                  </a:lnTo>
                  <a:lnTo>
                    <a:pt x="4064635" y="163195"/>
                  </a:lnTo>
                  <a:lnTo>
                    <a:pt x="4047744" y="163195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133088" y="2414016"/>
            <a:ext cx="3035808" cy="640080"/>
            <a:chOff x="0" y="0"/>
            <a:chExt cx="4047744" cy="85344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047744" cy="853440"/>
            </a:xfrm>
            <a:custGeom>
              <a:avLst/>
              <a:gdLst/>
              <a:ahLst/>
              <a:cxnLst/>
              <a:rect l="l" t="t" r="r" b="b"/>
              <a:pathLst>
                <a:path w="4047744" h="853440">
                  <a:moveTo>
                    <a:pt x="0" y="0"/>
                  </a:moveTo>
                  <a:lnTo>
                    <a:pt x="4047744" y="0"/>
                  </a:lnTo>
                  <a:lnTo>
                    <a:pt x="404774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14" b="-4241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76200"/>
              <a:ext cx="4047744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133088" y="3108960"/>
            <a:ext cx="3035808" cy="548640"/>
            <a:chOff x="0" y="0"/>
            <a:chExt cx="4047744" cy="7315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047744" cy="731520"/>
            </a:xfrm>
            <a:custGeom>
              <a:avLst/>
              <a:gdLst/>
              <a:ahLst/>
              <a:cxnLst/>
              <a:rect l="l" t="t" r="r" b="b"/>
              <a:pathLst>
                <a:path w="4047744" h="731520">
                  <a:moveTo>
                    <a:pt x="0" y="0"/>
                  </a:moveTo>
                  <a:lnTo>
                    <a:pt x="4047744" y="0"/>
                  </a:lnTo>
                  <a:lnTo>
                    <a:pt x="4047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817" b="-5781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404774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Augmentation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133088" y="3694176"/>
            <a:ext cx="3035808" cy="768096"/>
            <a:chOff x="0" y="0"/>
            <a:chExt cx="4047744" cy="102412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Rotation, bruit gaussien, inversion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11063" y="3379727"/>
            <a:ext cx="318011" cy="80267"/>
            <a:chOff x="0" y="0"/>
            <a:chExt cx="424015" cy="107023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90144" cy="73152"/>
            </a:xfrm>
            <a:custGeom>
              <a:avLst/>
              <a:gdLst/>
              <a:ahLst/>
              <a:cxnLst/>
              <a:rect l="l" t="t" r="r" b="b"/>
              <a:pathLst>
                <a:path w="390144" h="73152">
                  <a:moveTo>
                    <a:pt x="0" y="0"/>
                  </a:moveTo>
                  <a:lnTo>
                    <a:pt x="390144" y="0"/>
                  </a:lnTo>
                  <a:lnTo>
                    <a:pt x="39014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9" name="Freeform 49"/>
            <p:cNvSpPr/>
            <p:nvPr/>
          </p:nvSpPr>
          <p:spPr>
            <a:xfrm>
              <a:off x="0" y="0"/>
              <a:ext cx="423926" cy="106936"/>
            </a:xfrm>
            <a:custGeom>
              <a:avLst/>
              <a:gdLst/>
              <a:ahLst/>
              <a:cxnLst/>
              <a:rect l="l" t="t" r="r" b="b"/>
              <a:pathLst>
                <a:path w="423926" h="10693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90043"/>
                  </a:lnTo>
                  <a:cubicBezTo>
                    <a:pt x="423926" y="99441"/>
                    <a:pt x="416306" y="106934"/>
                    <a:pt x="40703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407035" y="73152"/>
                  </a:lnTo>
                  <a:lnTo>
                    <a:pt x="407035" y="90043"/>
                  </a:lnTo>
                  <a:lnTo>
                    <a:pt x="390144" y="90043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64879" y="2224783"/>
            <a:ext cx="3048505" cy="2390137"/>
            <a:chOff x="0" y="0"/>
            <a:chExt cx="4064673" cy="3186849"/>
          </a:xfrm>
        </p:grpSpPr>
        <p:sp>
          <p:nvSpPr>
            <p:cNvPr id="51" name="Freeform 51"/>
            <p:cNvSpPr/>
            <p:nvPr/>
          </p:nvSpPr>
          <p:spPr>
            <a:xfrm>
              <a:off x="8509" y="8509"/>
              <a:ext cx="4047744" cy="3169920"/>
            </a:xfrm>
            <a:custGeom>
              <a:avLst/>
              <a:gdLst/>
              <a:ahLst/>
              <a:cxnLst/>
              <a:rect l="l" t="t" r="r" b="b"/>
              <a:pathLst>
                <a:path w="4047744" h="316992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3754755" y="0"/>
                  </a:lnTo>
                  <a:cubicBezTo>
                    <a:pt x="3916553" y="0"/>
                    <a:pt x="4047744" y="131064"/>
                    <a:pt x="4047744" y="292608"/>
                  </a:cubicBezTo>
                  <a:lnTo>
                    <a:pt x="4047744" y="2877312"/>
                  </a:lnTo>
                  <a:cubicBezTo>
                    <a:pt x="4047744" y="3038856"/>
                    <a:pt x="3916553" y="3169920"/>
                    <a:pt x="3754755" y="3169920"/>
                  </a:cubicBezTo>
                  <a:lnTo>
                    <a:pt x="292862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0" y="0"/>
              <a:ext cx="4064635" cy="3186938"/>
            </a:xfrm>
            <a:custGeom>
              <a:avLst/>
              <a:gdLst/>
              <a:ahLst/>
              <a:cxnLst/>
              <a:rect l="l" t="t" r="r" b="b"/>
              <a:pathLst>
                <a:path w="4064635" h="3186938">
                  <a:moveTo>
                    <a:pt x="0" y="301117"/>
                  </a:moveTo>
                  <a:cubicBezTo>
                    <a:pt x="0" y="134747"/>
                    <a:pt x="135001" y="0"/>
                    <a:pt x="301371" y="0"/>
                  </a:cubicBezTo>
                  <a:lnTo>
                    <a:pt x="3763264" y="0"/>
                  </a:lnTo>
                  <a:lnTo>
                    <a:pt x="3763264" y="8509"/>
                  </a:lnTo>
                  <a:lnTo>
                    <a:pt x="3763264" y="0"/>
                  </a:lnTo>
                  <a:cubicBezTo>
                    <a:pt x="3929761" y="0"/>
                    <a:pt x="4064635" y="134747"/>
                    <a:pt x="4064635" y="301117"/>
                  </a:cubicBezTo>
                  <a:lnTo>
                    <a:pt x="4056126" y="301117"/>
                  </a:lnTo>
                  <a:lnTo>
                    <a:pt x="4064635" y="301117"/>
                  </a:lnTo>
                  <a:lnTo>
                    <a:pt x="4064635" y="2885821"/>
                  </a:lnTo>
                  <a:lnTo>
                    <a:pt x="4056126" y="2885821"/>
                  </a:lnTo>
                  <a:lnTo>
                    <a:pt x="4064635" y="2885821"/>
                  </a:lnTo>
                  <a:cubicBezTo>
                    <a:pt x="4064635" y="3052064"/>
                    <a:pt x="3929634" y="3186938"/>
                    <a:pt x="3763264" y="3186938"/>
                  </a:cubicBezTo>
                  <a:lnTo>
                    <a:pt x="3763264" y="3178429"/>
                  </a:lnTo>
                  <a:lnTo>
                    <a:pt x="3763264" y="3186938"/>
                  </a:lnTo>
                  <a:lnTo>
                    <a:pt x="301371" y="3186938"/>
                  </a:lnTo>
                  <a:lnTo>
                    <a:pt x="301371" y="3178429"/>
                  </a:lnTo>
                  <a:lnTo>
                    <a:pt x="301371" y="3186938"/>
                  </a:lnTo>
                  <a:cubicBezTo>
                    <a:pt x="135001" y="3186811"/>
                    <a:pt x="0" y="3052064"/>
                    <a:pt x="0" y="2885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885821"/>
                  </a:lnTo>
                  <a:lnTo>
                    <a:pt x="8509" y="2885821"/>
                  </a:lnTo>
                  <a:lnTo>
                    <a:pt x="17018" y="2885821"/>
                  </a:lnTo>
                  <a:cubicBezTo>
                    <a:pt x="17018" y="3042793"/>
                    <a:pt x="144399" y="3169920"/>
                    <a:pt x="301498" y="3169920"/>
                  </a:cubicBezTo>
                  <a:lnTo>
                    <a:pt x="3763264" y="3169920"/>
                  </a:lnTo>
                  <a:cubicBezTo>
                    <a:pt x="3920363" y="3169920"/>
                    <a:pt x="4047744" y="3042666"/>
                    <a:pt x="4047744" y="2885821"/>
                  </a:cubicBezTo>
                  <a:lnTo>
                    <a:pt x="4047744" y="301117"/>
                  </a:lnTo>
                  <a:cubicBezTo>
                    <a:pt x="4047744" y="144145"/>
                    <a:pt x="3920363" y="17018"/>
                    <a:pt x="3763264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558535" y="2218439"/>
            <a:ext cx="3061211" cy="135131"/>
            <a:chOff x="0" y="0"/>
            <a:chExt cx="4081615" cy="180175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4047744" cy="146304"/>
            </a:xfrm>
            <a:custGeom>
              <a:avLst/>
              <a:gdLst/>
              <a:ahLst/>
              <a:cxnLst/>
              <a:rect l="l" t="t" r="r" b="b"/>
              <a:pathLst>
                <a:path w="4047744" h="146304">
                  <a:moveTo>
                    <a:pt x="0" y="0"/>
                  </a:moveTo>
                  <a:lnTo>
                    <a:pt x="4047744" y="0"/>
                  </a:lnTo>
                  <a:lnTo>
                    <a:pt x="40477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0" y="0"/>
              <a:ext cx="4081526" cy="180088"/>
            </a:xfrm>
            <a:custGeom>
              <a:avLst/>
              <a:gdLst/>
              <a:ahLst/>
              <a:cxnLst/>
              <a:rect l="l" t="t" r="r" b="b"/>
              <a:pathLst>
                <a:path w="4081526" h="180088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163195"/>
                  </a:lnTo>
                  <a:cubicBezTo>
                    <a:pt x="4081526" y="172593"/>
                    <a:pt x="4073906" y="180086"/>
                    <a:pt x="40646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64635" y="146304"/>
                  </a:lnTo>
                  <a:lnTo>
                    <a:pt x="4064635" y="163195"/>
                  </a:lnTo>
                  <a:lnTo>
                    <a:pt x="4047744" y="163195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571232" y="2414016"/>
            <a:ext cx="3035808" cy="640080"/>
            <a:chOff x="0" y="0"/>
            <a:chExt cx="4047744" cy="8534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047744" cy="853440"/>
            </a:xfrm>
            <a:custGeom>
              <a:avLst/>
              <a:gdLst/>
              <a:ahLst/>
              <a:cxnLst/>
              <a:rect l="l" t="t" r="r" b="b"/>
              <a:pathLst>
                <a:path w="4047744" h="853440">
                  <a:moveTo>
                    <a:pt x="0" y="0"/>
                  </a:moveTo>
                  <a:lnTo>
                    <a:pt x="4047744" y="0"/>
                  </a:lnTo>
                  <a:lnTo>
                    <a:pt x="404774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14" b="-4241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76200"/>
              <a:ext cx="4047744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571232" y="3108960"/>
            <a:ext cx="3035808" cy="548640"/>
            <a:chOff x="0" y="0"/>
            <a:chExt cx="4047744" cy="73152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047744" cy="731520"/>
            </a:xfrm>
            <a:custGeom>
              <a:avLst/>
              <a:gdLst/>
              <a:ahLst/>
              <a:cxnLst/>
              <a:rect l="l" t="t" r="r" b="b"/>
              <a:pathLst>
                <a:path w="4047744" h="731520">
                  <a:moveTo>
                    <a:pt x="0" y="0"/>
                  </a:moveTo>
                  <a:lnTo>
                    <a:pt x="4047744" y="0"/>
                  </a:lnTo>
                  <a:lnTo>
                    <a:pt x="4047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817" b="-5781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404774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571232" y="3694176"/>
            <a:ext cx="3035808" cy="768096"/>
            <a:chOff x="0" y="0"/>
            <a:chExt cx="4047744" cy="102412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161 caractéristiques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familles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0649207" y="3379727"/>
            <a:ext cx="318011" cy="80267"/>
            <a:chOff x="0" y="0"/>
            <a:chExt cx="424015" cy="107023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390144" cy="73152"/>
            </a:xfrm>
            <a:custGeom>
              <a:avLst/>
              <a:gdLst/>
              <a:ahLst/>
              <a:cxnLst/>
              <a:rect l="l" t="t" r="r" b="b"/>
              <a:pathLst>
                <a:path w="390144" h="73152">
                  <a:moveTo>
                    <a:pt x="0" y="0"/>
                  </a:moveTo>
                  <a:lnTo>
                    <a:pt x="390144" y="0"/>
                  </a:lnTo>
                  <a:lnTo>
                    <a:pt x="39014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67" name="Freeform 67"/>
            <p:cNvSpPr/>
            <p:nvPr/>
          </p:nvSpPr>
          <p:spPr>
            <a:xfrm>
              <a:off x="0" y="0"/>
              <a:ext cx="423926" cy="106936"/>
            </a:xfrm>
            <a:custGeom>
              <a:avLst/>
              <a:gdLst/>
              <a:ahLst/>
              <a:cxnLst/>
              <a:rect l="l" t="t" r="r" b="b"/>
              <a:pathLst>
                <a:path w="423926" h="10693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90043"/>
                  </a:lnTo>
                  <a:cubicBezTo>
                    <a:pt x="423926" y="99441"/>
                    <a:pt x="416306" y="106934"/>
                    <a:pt x="40703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407035" y="73152"/>
                  </a:lnTo>
                  <a:lnTo>
                    <a:pt x="407035" y="90043"/>
                  </a:lnTo>
                  <a:lnTo>
                    <a:pt x="390144" y="90043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003023" y="2224783"/>
            <a:ext cx="3048505" cy="2390137"/>
            <a:chOff x="0" y="0"/>
            <a:chExt cx="4064673" cy="3186849"/>
          </a:xfrm>
        </p:grpSpPr>
        <p:sp>
          <p:nvSpPr>
            <p:cNvPr id="69" name="Freeform 69"/>
            <p:cNvSpPr/>
            <p:nvPr/>
          </p:nvSpPr>
          <p:spPr>
            <a:xfrm>
              <a:off x="8509" y="8509"/>
              <a:ext cx="4047744" cy="3169920"/>
            </a:xfrm>
            <a:custGeom>
              <a:avLst/>
              <a:gdLst/>
              <a:ahLst/>
              <a:cxnLst/>
              <a:rect l="l" t="t" r="r" b="b"/>
              <a:pathLst>
                <a:path w="4047744" h="316992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3754755" y="0"/>
                  </a:lnTo>
                  <a:cubicBezTo>
                    <a:pt x="3916553" y="0"/>
                    <a:pt x="4047744" y="131064"/>
                    <a:pt x="4047744" y="292608"/>
                  </a:cubicBezTo>
                  <a:lnTo>
                    <a:pt x="4047744" y="2877312"/>
                  </a:lnTo>
                  <a:cubicBezTo>
                    <a:pt x="4047744" y="3038856"/>
                    <a:pt x="3916553" y="3169920"/>
                    <a:pt x="3754755" y="3169920"/>
                  </a:cubicBezTo>
                  <a:lnTo>
                    <a:pt x="292862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0" name="Freeform 70"/>
            <p:cNvSpPr/>
            <p:nvPr/>
          </p:nvSpPr>
          <p:spPr>
            <a:xfrm>
              <a:off x="0" y="0"/>
              <a:ext cx="4064635" cy="3186938"/>
            </a:xfrm>
            <a:custGeom>
              <a:avLst/>
              <a:gdLst/>
              <a:ahLst/>
              <a:cxnLst/>
              <a:rect l="l" t="t" r="r" b="b"/>
              <a:pathLst>
                <a:path w="4064635" h="3186938">
                  <a:moveTo>
                    <a:pt x="0" y="301117"/>
                  </a:moveTo>
                  <a:cubicBezTo>
                    <a:pt x="0" y="134747"/>
                    <a:pt x="135001" y="0"/>
                    <a:pt x="301371" y="0"/>
                  </a:cubicBezTo>
                  <a:lnTo>
                    <a:pt x="3763264" y="0"/>
                  </a:lnTo>
                  <a:lnTo>
                    <a:pt x="3763264" y="8509"/>
                  </a:lnTo>
                  <a:lnTo>
                    <a:pt x="3763264" y="0"/>
                  </a:lnTo>
                  <a:cubicBezTo>
                    <a:pt x="3929761" y="0"/>
                    <a:pt x="4064635" y="134747"/>
                    <a:pt x="4064635" y="301117"/>
                  </a:cubicBezTo>
                  <a:lnTo>
                    <a:pt x="4056126" y="301117"/>
                  </a:lnTo>
                  <a:lnTo>
                    <a:pt x="4064635" y="301117"/>
                  </a:lnTo>
                  <a:lnTo>
                    <a:pt x="4064635" y="2885821"/>
                  </a:lnTo>
                  <a:lnTo>
                    <a:pt x="4056126" y="2885821"/>
                  </a:lnTo>
                  <a:lnTo>
                    <a:pt x="4064635" y="2885821"/>
                  </a:lnTo>
                  <a:cubicBezTo>
                    <a:pt x="4064635" y="3052064"/>
                    <a:pt x="3929634" y="3186938"/>
                    <a:pt x="3763264" y="3186938"/>
                  </a:cubicBezTo>
                  <a:lnTo>
                    <a:pt x="3763264" y="3178429"/>
                  </a:lnTo>
                  <a:lnTo>
                    <a:pt x="3763264" y="3186938"/>
                  </a:lnTo>
                  <a:lnTo>
                    <a:pt x="301371" y="3186938"/>
                  </a:lnTo>
                  <a:lnTo>
                    <a:pt x="301371" y="3178429"/>
                  </a:lnTo>
                  <a:lnTo>
                    <a:pt x="301371" y="3186938"/>
                  </a:lnTo>
                  <a:cubicBezTo>
                    <a:pt x="135001" y="3186811"/>
                    <a:pt x="0" y="3052064"/>
                    <a:pt x="0" y="2885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885821"/>
                  </a:lnTo>
                  <a:lnTo>
                    <a:pt x="8509" y="2885821"/>
                  </a:lnTo>
                  <a:lnTo>
                    <a:pt x="17018" y="2885821"/>
                  </a:lnTo>
                  <a:cubicBezTo>
                    <a:pt x="17018" y="3042793"/>
                    <a:pt x="144399" y="3169920"/>
                    <a:pt x="301498" y="3169920"/>
                  </a:cubicBezTo>
                  <a:lnTo>
                    <a:pt x="3763264" y="3169920"/>
                  </a:lnTo>
                  <a:cubicBezTo>
                    <a:pt x="3920363" y="3169920"/>
                    <a:pt x="4047744" y="3042666"/>
                    <a:pt x="4047744" y="2885821"/>
                  </a:cubicBezTo>
                  <a:lnTo>
                    <a:pt x="4047744" y="301117"/>
                  </a:lnTo>
                  <a:cubicBezTo>
                    <a:pt x="4047744" y="144145"/>
                    <a:pt x="3920363" y="17018"/>
                    <a:pt x="3763264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0996679" y="2218439"/>
            <a:ext cx="3061211" cy="135131"/>
            <a:chOff x="0" y="0"/>
            <a:chExt cx="4081615" cy="180175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4047744" cy="146304"/>
            </a:xfrm>
            <a:custGeom>
              <a:avLst/>
              <a:gdLst/>
              <a:ahLst/>
              <a:cxnLst/>
              <a:rect l="l" t="t" r="r" b="b"/>
              <a:pathLst>
                <a:path w="4047744" h="146304">
                  <a:moveTo>
                    <a:pt x="0" y="0"/>
                  </a:moveTo>
                  <a:lnTo>
                    <a:pt x="4047744" y="0"/>
                  </a:lnTo>
                  <a:lnTo>
                    <a:pt x="40477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3" name="Freeform 73"/>
            <p:cNvSpPr/>
            <p:nvPr/>
          </p:nvSpPr>
          <p:spPr>
            <a:xfrm>
              <a:off x="0" y="0"/>
              <a:ext cx="4081526" cy="180088"/>
            </a:xfrm>
            <a:custGeom>
              <a:avLst/>
              <a:gdLst/>
              <a:ahLst/>
              <a:cxnLst/>
              <a:rect l="l" t="t" r="r" b="b"/>
              <a:pathLst>
                <a:path w="4081526" h="180088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163195"/>
                  </a:lnTo>
                  <a:cubicBezTo>
                    <a:pt x="4081526" y="172593"/>
                    <a:pt x="4073906" y="180086"/>
                    <a:pt x="40646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64635" y="146304"/>
                  </a:lnTo>
                  <a:lnTo>
                    <a:pt x="4064635" y="163195"/>
                  </a:lnTo>
                  <a:lnTo>
                    <a:pt x="4047744" y="163195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1009376" y="2414016"/>
            <a:ext cx="3035808" cy="640080"/>
            <a:chOff x="0" y="0"/>
            <a:chExt cx="4047744" cy="8534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47744" cy="853440"/>
            </a:xfrm>
            <a:custGeom>
              <a:avLst/>
              <a:gdLst/>
              <a:ahLst/>
              <a:cxnLst/>
              <a:rect l="l" t="t" r="r" b="b"/>
              <a:pathLst>
                <a:path w="4047744" h="853440">
                  <a:moveTo>
                    <a:pt x="0" y="0"/>
                  </a:moveTo>
                  <a:lnTo>
                    <a:pt x="4047744" y="0"/>
                  </a:lnTo>
                  <a:lnTo>
                    <a:pt x="404774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14" b="-4241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76200"/>
              <a:ext cx="4047744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009376" y="3108960"/>
            <a:ext cx="3035808" cy="775208"/>
            <a:chOff x="0" y="0"/>
            <a:chExt cx="4047744" cy="1033611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047744" cy="1033611"/>
            </a:xfrm>
            <a:custGeom>
              <a:avLst/>
              <a:gdLst/>
              <a:ahLst/>
              <a:cxnLst/>
              <a:rect l="l" t="t" r="r" b="b"/>
              <a:pathLst>
                <a:path w="4047744" h="1033611">
                  <a:moveTo>
                    <a:pt x="0" y="0"/>
                  </a:moveTo>
                  <a:lnTo>
                    <a:pt x="4047744" y="0"/>
                  </a:lnTo>
                  <a:lnTo>
                    <a:pt x="4047744" y="1033611"/>
                  </a:lnTo>
                  <a:lnTo>
                    <a:pt x="0" y="10336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919" b="-1169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47625"/>
              <a:ext cx="4047744" cy="10812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Division Entrainement/Test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1009376" y="3694176"/>
            <a:ext cx="3035808" cy="768096"/>
            <a:chOff x="0" y="0"/>
            <a:chExt cx="4047744" cy="102412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4/5 entrainement, 1/5 test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4087351" y="3379727"/>
            <a:ext cx="318011" cy="80267"/>
            <a:chOff x="0" y="0"/>
            <a:chExt cx="424015" cy="107023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390144" cy="73152"/>
            </a:xfrm>
            <a:custGeom>
              <a:avLst/>
              <a:gdLst/>
              <a:ahLst/>
              <a:cxnLst/>
              <a:rect l="l" t="t" r="r" b="b"/>
              <a:pathLst>
                <a:path w="390144" h="73152">
                  <a:moveTo>
                    <a:pt x="0" y="0"/>
                  </a:moveTo>
                  <a:lnTo>
                    <a:pt x="390144" y="0"/>
                  </a:lnTo>
                  <a:lnTo>
                    <a:pt x="390144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5" name="Freeform 85"/>
            <p:cNvSpPr/>
            <p:nvPr/>
          </p:nvSpPr>
          <p:spPr>
            <a:xfrm>
              <a:off x="0" y="0"/>
              <a:ext cx="423926" cy="106936"/>
            </a:xfrm>
            <a:custGeom>
              <a:avLst/>
              <a:gdLst/>
              <a:ahLst/>
              <a:cxnLst/>
              <a:rect l="l" t="t" r="r" b="b"/>
              <a:pathLst>
                <a:path w="423926" h="106936">
                  <a:moveTo>
                    <a:pt x="16891" y="0"/>
                  </a:moveTo>
                  <a:lnTo>
                    <a:pt x="407035" y="0"/>
                  </a:lnTo>
                  <a:cubicBezTo>
                    <a:pt x="416433" y="0"/>
                    <a:pt x="423926" y="7620"/>
                    <a:pt x="423926" y="16891"/>
                  </a:cubicBezTo>
                  <a:lnTo>
                    <a:pt x="423926" y="90043"/>
                  </a:lnTo>
                  <a:cubicBezTo>
                    <a:pt x="423926" y="99441"/>
                    <a:pt x="416306" y="106934"/>
                    <a:pt x="407035" y="106934"/>
                  </a:cubicBezTo>
                  <a:lnTo>
                    <a:pt x="16891" y="106934"/>
                  </a:lnTo>
                  <a:cubicBezTo>
                    <a:pt x="7620" y="107061"/>
                    <a:pt x="0" y="99441"/>
                    <a:pt x="0" y="900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0043"/>
                  </a:lnTo>
                  <a:lnTo>
                    <a:pt x="16891" y="90043"/>
                  </a:lnTo>
                  <a:lnTo>
                    <a:pt x="16891" y="73152"/>
                  </a:lnTo>
                  <a:lnTo>
                    <a:pt x="407035" y="73152"/>
                  </a:lnTo>
                  <a:lnTo>
                    <a:pt x="407035" y="90043"/>
                  </a:lnTo>
                  <a:lnTo>
                    <a:pt x="390144" y="90043"/>
                  </a:lnTo>
                  <a:lnTo>
                    <a:pt x="390144" y="16891"/>
                  </a:lnTo>
                  <a:lnTo>
                    <a:pt x="407035" y="16891"/>
                  </a:lnTo>
                  <a:lnTo>
                    <a:pt x="4070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14441167" y="2224783"/>
            <a:ext cx="3048505" cy="2390137"/>
            <a:chOff x="0" y="0"/>
            <a:chExt cx="4064673" cy="3186849"/>
          </a:xfrm>
        </p:grpSpPr>
        <p:sp>
          <p:nvSpPr>
            <p:cNvPr id="87" name="Freeform 87"/>
            <p:cNvSpPr/>
            <p:nvPr/>
          </p:nvSpPr>
          <p:spPr>
            <a:xfrm>
              <a:off x="8509" y="8509"/>
              <a:ext cx="4047744" cy="3169920"/>
            </a:xfrm>
            <a:custGeom>
              <a:avLst/>
              <a:gdLst/>
              <a:ahLst/>
              <a:cxnLst/>
              <a:rect l="l" t="t" r="r" b="b"/>
              <a:pathLst>
                <a:path w="4047744" h="3169920">
                  <a:moveTo>
                    <a:pt x="0" y="292608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3754755" y="0"/>
                  </a:lnTo>
                  <a:cubicBezTo>
                    <a:pt x="3916553" y="0"/>
                    <a:pt x="4047744" y="131064"/>
                    <a:pt x="4047744" y="292608"/>
                  </a:cubicBezTo>
                  <a:lnTo>
                    <a:pt x="4047744" y="2877312"/>
                  </a:lnTo>
                  <a:cubicBezTo>
                    <a:pt x="4047744" y="3038856"/>
                    <a:pt x="3916553" y="3169920"/>
                    <a:pt x="3754755" y="3169920"/>
                  </a:cubicBezTo>
                  <a:lnTo>
                    <a:pt x="292862" y="3169920"/>
                  </a:lnTo>
                  <a:cubicBezTo>
                    <a:pt x="131064" y="3169920"/>
                    <a:pt x="0" y="3038856"/>
                    <a:pt x="0" y="287731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0" y="0"/>
              <a:ext cx="4064635" cy="3186938"/>
            </a:xfrm>
            <a:custGeom>
              <a:avLst/>
              <a:gdLst/>
              <a:ahLst/>
              <a:cxnLst/>
              <a:rect l="l" t="t" r="r" b="b"/>
              <a:pathLst>
                <a:path w="4064635" h="3186938">
                  <a:moveTo>
                    <a:pt x="0" y="301117"/>
                  </a:moveTo>
                  <a:cubicBezTo>
                    <a:pt x="0" y="134747"/>
                    <a:pt x="135001" y="0"/>
                    <a:pt x="301371" y="0"/>
                  </a:cubicBezTo>
                  <a:lnTo>
                    <a:pt x="3763264" y="0"/>
                  </a:lnTo>
                  <a:lnTo>
                    <a:pt x="3763264" y="8509"/>
                  </a:lnTo>
                  <a:lnTo>
                    <a:pt x="3763264" y="0"/>
                  </a:lnTo>
                  <a:cubicBezTo>
                    <a:pt x="3929761" y="0"/>
                    <a:pt x="4064635" y="134747"/>
                    <a:pt x="4064635" y="301117"/>
                  </a:cubicBezTo>
                  <a:lnTo>
                    <a:pt x="4056126" y="301117"/>
                  </a:lnTo>
                  <a:lnTo>
                    <a:pt x="4064635" y="301117"/>
                  </a:lnTo>
                  <a:lnTo>
                    <a:pt x="4064635" y="2885821"/>
                  </a:lnTo>
                  <a:lnTo>
                    <a:pt x="4056126" y="2885821"/>
                  </a:lnTo>
                  <a:lnTo>
                    <a:pt x="4064635" y="2885821"/>
                  </a:lnTo>
                  <a:cubicBezTo>
                    <a:pt x="4064635" y="3052064"/>
                    <a:pt x="3929634" y="3186938"/>
                    <a:pt x="3763264" y="3186938"/>
                  </a:cubicBezTo>
                  <a:lnTo>
                    <a:pt x="3763264" y="3178429"/>
                  </a:lnTo>
                  <a:lnTo>
                    <a:pt x="3763264" y="3186938"/>
                  </a:lnTo>
                  <a:lnTo>
                    <a:pt x="301371" y="3186938"/>
                  </a:lnTo>
                  <a:lnTo>
                    <a:pt x="301371" y="3178429"/>
                  </a:lnTo>
                  <a:lnTo>
                    <a:pt x="301371" y="3186938"/>
                  </a:lnTo>
                  <a:cubicBezTo>
                    <a:pt x="135001" y="3186811"/>
                    <a:pt x="0" y="3052064"/>
                    <a:pt x="0" y="288582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885821"/>
                  </a:lnTo>
                  <a:lnTo>
                    <a:pt x="8509" y="2885821"/>
                  </a:lnTo>
                  <a:lnTo>
                    <a:pt x="17018" y="2885821"/>
                  </a:lnTo>
                  <a:cubicBezTo>
                    <a:pt x="17018" y="3042793"/>
                    <a:pt x="144399" y="3169920"/>
                    <a:pt x="301498" y="3169920"/>
                  </a:cubicBezTo>
                  <a:lnTo>
                    <a:pt x="3763264" y="3169920"/>
                  </a:lnTo>
                  <a:cubicBezTo>
                    <a:pt x="3920363" y="3169920"/>
                    <a:pt x="4047744" y="3042666"/>
                    <a:pt x="4047744" y="2885821"/>
                  </a:cubicBezTo>
                  <a:lnTo>
                    <a:pt x="4047744" y="301117"/>
                  </a:lnTo>
                  <a:cubicBezTo>
                    <a:pt x="4047744" y="144145"/>
                    <a:pt x="3920363" y="17018"/>
                    <a:pt x="3763264" y="17018"/>
                  </a:cubicBezTo>
                  <a:lnTo>
                    <a:pt x="301371" y="17018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7018"/>
                    <a:pt x="16891" y="144272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4434823" y="2218439"/>
            <a:ext cx="3061211" cy="135131"/>
            <a:chOff x="0" y="0"/>
            <a:chExt cx="4081615" cy="180175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4047744" cy="146304"/>
            </a:xfrm>
            <a:custGeom>
              <a:avLst/>
              <a:gdLst/>
              <a:ahLst/>
              <a:cxnLst/>
              <a:rect l="l" t="t" r="r" b="b"/>
              <a:pathLst>
                <a:path w="4047744" h="146304">
                  <a:moveTo>
                    <a:pt x="0" y="0"/>
                  </a:moveTo>
                  <a:lnTo>
                    <a:pt x="4047744" y="0"/>
                  </a:lnTo>
                  <a:lnTo>
                    <a:pt x="4047744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0" y="0"/>
              <a:ext cx="4081526" cy="180088"/>
            </a:xfrm>
            <a:custGeom>
              <a:avLst/>
              <a:gdLst/>
              <a:ahLst/>
              <a:cxnLst/>
              <a:rect l="l" t="t" r="r" b="b"/>
              <a:pathLst>
                <a:path w="4081526" h="180088">
                  <a:moveTo>
                    <a:pt x="16891" y="0"/>
                  </a:moveTo>
                  <a:lnTo>
                    <a:pt x="4064635" y="0"/>
                  </a:lnTo>
                  <a:cubicBezTo>
                    <a:pt x="4074033" y="0"/>
                    <a:pt x="4081526" y="7620"/>
                    <a:pt x="4081526" y="16891"/>
                  </a:cubicBezTo>
                  <a:lnTo>
                    <a:pt x="4081526" y="163195"/>
                  </a:lnTo>
                  <a:cubicBezTo>
                    <a:pt x="4081526" y="172593"/>
                    <a:pt x="4073906" y="180086"/>
                    <a:pt x="4064635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4064635" y="146304"/>
                  </a:lnTo>
                  <a:lnTo>
                    <a:pt x="4064635" y="163195"/>
                  </a:lnTo>
                  <a:lnTo>
                    <a:pt x="4047744" y="163195"/>
                  </a:lnTo>
                  <a:lnTo>
                    <a:pt x="4047744" y="16891"/>
                  </a:lnTo>
                  <a:lnTo>
                    <a:pt x="4064635" y="16891"/>
                  </a:lnTo>
                  <a:lnTo>
                    <a:pt x="406463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4447520" y="2414016"/>
            <a:ext cx="3035808" cy="640080"/>
            <a:chOff x="0" y="0"/>
            <a:chExt cx="4047744" cy="85344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4047744" cy="853440"/>
            </a:xfrm>
            <a:custGeom>
              <a:avLst/>
              <a:gdLst/>
              <a:ahLst/>
              <a:cxnLst/>
              <a:rect l="l" t="t" r="r" b="b"/>
              <a:pathLst>
                <a:path w="4047744" h="853440">
                  <a:moveTo>
                    <a:pt x="0" y="0"/>
                  </a:moveTo>
                  <a:lnTo>
                    <a:pt x="4047744" y="0"/>
                  </a:lnTo>
                  <a:lnTo>
                    <a:pt x="404774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414" b="-4241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0" y="-76200"/>
              <a:ext cx="4047744" cy="929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4447520" y="3108960"/>
            <a:ext cx="3035808" cy="548640"/>
            <a:chOff x="0" y="0"/>
            <a:chExt cx="4047744" cy="731520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4047744" cy="731520"/>
            </a:xfrm>
            <a:custGeom>
              <a:avLst/>
              <a:gdLst/>
              <a:ahLst/>
              <a:cxnLst/>
              <a:rect l="l" t="t" r="r" b="b"/>
              <a:pathLst>
                <a:path w="4047744" h="731520">
                  <a:moveTo>
                    <a:pt x="0" y="0"/>
                  </a:moveTo>
                  <a:lnTo>
                    <a:pt x="4047744" y="0"/>
                  </a:lnTo>
                  <a:lnTo>
                    <a:pt x="4047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817" b="-5781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47625"/>
              <a:ext cx="4047744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Normalisation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14447520" y="3694176"/>
            <a:ext cx="3035808" cy="768096"/>
            <a:chOff x="0" y="0"/>
            <a:chExt cx="4047744" cy="1024128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4047744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6B7A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avec StandardScaler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31520" y="4974336"/>
            <a:ext cx="16459200" cy="585216"/>
            <a:chOff x="0" y="0"/>
            <a:chExt cx="21945600" cy="780288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1945600" cy="780288"/>
            </a:xfrm>
            <a:custGeom>
              <a:avLst/>
              <a:gdLst/>
              <a:ahLst/>
              <a:cxnLst/>
              <a:rect l="l" t="t" r="r" b="b"/>
              <a:pathLst>
                <a:path w="21945600" h="780288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57150"/>
              <a:ext cx="2194560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Les 5 familles de caractéristiques (161 dimensions)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718823" y="5839463"/>
            <a:ext cx="135131" cy="574043"/>
            <a:chOff x="0" y="0"/>
            <a:chExt cx="180175" cy="765391"/>
          </a:xfrm>
        </p:grpSpPr>
        <p:sp>
          <p:nvSpPr>
            <p:cNvPr id="105" name="Freeform 105"/>
            <p:cNvSpPr/>
            <p:nvPr/>
          </p:nvSpPr>
          <p:spPr>
            <a:xfrm>
              <a:off x="16891" y="16891"/>
              <a:ext cx="146304" cy="731520"/>
            </a:xfrm>
            <a:custGeom>
              <a:avLst/>
              <a:gdLst/>
              <a:ahLst/>
              <a:cxnLst/>
              <a:rect l="l" t="t" r="r" b="b"/>
              <a:pathLst>
                <a:path w="146304" h="731520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0" y="0"/>
              <a:ext cx="180086" cy="765304"/>
            </a:xfrm>
            <a:custGeom>
              <a:avLst/>
              <a:gdLst/>
              <a:ahLst/>
              <a:cxnLst/>
              <a:rect l="l" t="t" r="r" b="b"/>
              <a:pathLst>
                <a:path w="180086" h="76530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97280" y="5669280"/>
            <a:ext cx="4389120" cy="914400"/>
            <a:chOff x="0" y="0"/>
            <a:chExt cx="5852160" cy="121920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47625"/>
              <a:ext cx="58521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Pose &amp; Dynamique (75 dimensions)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5577840" y="5669280"/>
            <a:ext cx="3840480" cy="914400"/>
            <a:chOff x="0" y="0"/>
            <a:chExt cx="5120640" cy="12192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5120640" cy="1219200"/>
            </a:xfrm>
            <a:custGeom>
              <a:avLst/>
              <a:gdLst/>
              <a:ahLst/>
              <a:cxnLst/>
              <a:rect l="l" t="t" r="r" b="b"/>
              <a:pathLst>
                <a:path w="5120640" h="121920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Posture statique / Amplitude du mouvement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3289456" y="8067294"/>
            <a:ext cx="11343328" cy="914400"/>
            <a:chOff x="0" y="0"/>
            <a:chExt cx="15124438" cy="1219200"/>
          </a:xfrm>
        </p:grpSpPr>
        <p:grpSp>
          <p:nvGrpSpPr>
            <p:cNvPr id="114" name="Group 114"/>
            <p:cNvGrpSpPr/>
            <p:nvPr/>
          </p:nvGrpSpPr>
          <p:grpSpPr>
            <a:xfrm>
              <a:off x="0" y="226911"/>
              <a:ext cx="234931" cy="765391"/>
              <a:chOff x="0" y="0"/>
              <a:chExt cx="234931" cy="765391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22024" y="16891"/>
                <a:ext cx="190767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90767" h="731520">
                    <a:moveTo>
                      <a:pt x="0" y="0"/>
                    </a:moveTo>
                    <a:lnTo>
                      <a:pt x="190767" y="0"/>
                    </a:lnTo>
                    <a:lnTo>
                      <a:pt x="190767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Freeform 116"/>
              <p:cNvSpPr/>
              <p:nvPr/>
            </p:nvSpPr>
            <p:spPr>
              <a:xfrm>
                <a:off x="0" y="0"/>
                <a:ext cx="234815" cy="765304"/>
              </a:xfrm>
              <a:custGeom>
                <a:avLst/>
                <a:gdLst/>
                <a:ahLst/>
                <a:cxnLst/>
                <a:rect l="l" t="t" r="r" b="b"/>
                <a:pathLst>
                  <a:path w="234815" h="765304">
                    <a:moveTo>
                      <a:pt x="22024" y="0"/>
                    </a:moveTo>
                    <a:lnTo>
                      <a:pt x="212791" y="0"/>
                    </a:lnTo>
                    <a:cubicBezTo>
                      <a:pt x="225045" y="0"/>
                      <a:pt x="234815" y="7620"/>
                      <a:pt x="234815" y="16891"/>
                    </a:cubicBezTo>
                    <a:lnTo>
                      <a:pt x="234815" y="748411"/>
                    </a:lnTo>
                    <a:cubicBezTo>
                      <a:pt x="234815" y="757809"/>
                      <a:pt x="224880" y="765302"/>
                      <a:pt x="212791" y="765302"/>
                    </a:cubicBezTo>
                    <a:lnTo>
                      <a:pt x="22024" y="765302"/>
                    </a:lnTo>
                    <a:cubicBezTo>
                      <a:pt x="9936" y="765429"/>
                      <a:pt x="0" y="757809"/>
                      <a:pt x="0" y="748411"/>
                    </a:cubicBezTo>
                    <a:lnTo>
                      <a:pt x="0" y="16891"/>
                    </a:lnTo>
                    <a:cubicBezTo>
                      <a:pt x="0" y="7620"/>
                      <a:pt x="9936" y="0"/>
                      <a:pt x="22024" y="0"/>
                    </a:cubicBezTo>
                    <a:moveTo>
                      <a:pt x="22024" y="33909"/>
                    </a:moveTo>
                    <a:lnTo>
                      <a:pt x="22024" y="16891"/>
                    </a:lnTo>
                    <a:lnTo>
                      <a:pt x="44214" y="16891"/>
                    </a:lnTo>
                    <a:lnTo>
                      <a:pt x="44214" y="748411"/>
                    </a:lnTo>
                    <a:lnTo>
                      <a:pt x="22024" y="748411"/>
                    </a:lnTo>
                    <a:lnTo>
                      <a:pt x="22024" y="731520"/>
                    </a:lnTo>
                    <a:lnTo>
                      <a:pt x="212791" y="731520"/>
                    </a:lnTo>
                    <a:lnTo>
                      <a:pt x="212791" y="748411"/>
                    </a:lnTo>
                    <a:lnTo>
                      <a:pt x="190767" y="748411"/>
                    </a:lnTo>
                    <a:lnTo>
                      <a:pt x="190767" y="16891"/>
                    </a:lnTo>
                    <a:lnTo>
                      <a:pt x="212791" y="16891"/>
                    </a:lnTo>
                    <a:lnTo>
                      <a:pt x="212791" y="33909"/>
                    </a:lnTo>
                    <a:lnTo>
                      <a:pt x="22024" y="33909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657963" y="0"/>
              <a:ext cx="7630668" cy="1219200"/>
              <a:chOff x="0" y="0"/>
              <a:chExt cx="7630668" cy="12192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7630668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7630668" h="1219200">
                    <a:moveTo>
                      <a:pt x="0" y="0"/>
                    </a:moveTo>
                    <a:lnTo>
                      <a:pt x="7630668" y="0"/>
                    </a:lnTo>
                    <a:lnTo>
                      <a:pt x="7630668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3528" r="23307" b="-43528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9" name="TextBox 119"/>
              <p:cNvSpPr txBox="1"/>
              <p:nvPr/>
            </p:nvSpPr>
            <p:spPr>
              <a:xfrm>
                <a:off x="0" y="-47625"/>
                <a:ext cx="7630668" cy="12668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1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Normalisation Géométrique au niveau de torso</a:t>
                </a: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8447603" y="0"/>
              <a:ext cx="6676835" cy="1219200"/>
              <a:chOff x="0" y="0"/>
              <a:chExt cx="6676835" cy="12192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6676835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6676835" h="1219200">
                    <a:moveTo>
                      <a:pt x="0" y="0"/>
                    </a:moveTo>
                    <a:lnTo>
                      <a:pt x="6676835" y="0"/>
                    </a:lnTo>
                    <a:lnTo>
                      <a:pt x="6676835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837" r="23307" b="-31837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0" y="-38100"/>
                <a:ext cx="6676835" cy="1257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1">
                    <a:solidFill>
                      <a:srgbClr val="6B7A8D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 Invariance à la position et à l'échelle</a:t>
                </a:r>
              </a:p>
            </p:txBody>
          </p:sp>
        </p:grpSp>
      </p:grpSp>
      <p:grpSp>
        <p:nvGrpSpPr>
          <p:cNvPr id="123" name="Group 123"/>
          <p:cNvGrpSpPr/>
          <p:nvPr/>
        </p:nvGrpSpPr>
        <p:grpSpPr>
          <a:xfrm>
            <a:off x="718823" y="6790439"/>
            <a:ext cx="135131" cy="574043"/>
            <a:chOff x="0" y="0"/>
            <a:chExt cx="180175" cy="765391"/>
          </a:xfrm>
        </p:grpSpPr>
        <p:sp>
          <p:nvSpPr>
            <p:cNvPr id="124" name="Freeform 124"/>
            <p:cNvSpPr/>
            <p:nvPr/>
          </p:nvSpPr>
          <p:spPr>
            <a:xfrm>
              <a:off x="16891" y="16891"/>
              <a:ext cx="146304" cy="731520"/>
            </a:xfrm>
            <a:custGeom>
              <a:avLst/>
              <a:gdLst/>
              <a:ahLst/>
              <a:cxnLst/>
              <a:rect l="l" t="t" r="r" b="b"/>
              <a:pathLst>
                <a:path w="146304" h="731520">
                  <a:moveTo>
                    <a:pt x="0" y="0"/>
                  </a:moveTo>
                  <a:lnTo>
                    <a:pt x="146304" y="0"/>
                  </a:lnTo>
                  <a:lnTo>
                    <a:pt x="146304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25" name="Freeform 125"/>
            <p:cNvSpPr/>
            <p:nvPr/>
          </p:nvSpPr>
          <p:spPr>
            <a:xfrm>
              <a:off x="0" y="0"/>
              <a:ext cx="180086" cy="765304"/>
            </a:xfrm>
            <a:custGeom>
              <a:avLst/>
              <a:gdLst/>
              <a:ahLst/>
              <a:cxnLst/>
              <a:rect l="l" t="t" r="r" b="b"/>
              <a:pathLst>
                <a:path w="180086" h="765304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748411"/>
                  </a:lnTo>
                  <a:cubicBezTo>
                    <a:pt x="180086" y="757809"/>
                    <a:pt x="172466" y="765302"/>
                    <a:pt x="163195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163195" y="731520"/>
                  </a:lnTo>
                  <a:lnTo>
                    <a:pt x="163195" y="748411"/>
                  </a:lnTo>
                  <a:lnTo>
                    <a:pt x="146304" y="7484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097280" y="6620256"/>
            <a:ext cx="4389120" cy="914400"/>
            <a:chOff x="0" y="0"/>
            <a:chExt cx="5852160" cy="1219200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5852160" cy="1219200"/>
            </a:xfrm>
            <a:custGeom>
              <a:avLst/>
              <a:gdLst/>
              <a:ahLst/>
              <a:cxnLst/>
              <a:rect l="l" t="t" r="r" b="b"/>
              <a:pathLst>
                <a:path w="5852160" h="1219200">
                  <a:moveTo>
                    <a:pt x="0" y="0"/>
                  </a:moveTo>
                  <a:lnTo>
                    <a:pt x="5852160" y="0"/>
                  </a:lnTo>
                  <a:lnTo>
                    <a:pt x="58521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528" b="-4352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0" y="-47625"/>
              <a:ext cx="58521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Vitesse Directionnelle (45 dimensions)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5577840" y="6620256"/>
            <a:ext cx="3840480" cy="914400"/>
            <a:chOff x="0" y="0"/>
            <a:chExt cx="5120640" cy="1219200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5120640" cy="1219200"/>
            </a:xfrm>
            <a:custGeom>
              <a:avLst/>
              <a:gdLst/>
              <a:ahLst/>
              <a:cxnLst/>
              <a:rect l="l" t="t" r="r" b="b"/>
              <a:pathLst>
                <a:path w="5120640" h="1219200">
                  <a:moveTo>
                    <a:pt x="0" y="0"/>
                  </a:moveTo>
                  <a:lnTo>
                    <a:pt x="5120640" y="0"/>
                  </a:lnTo>
                  <a:lnTo>
                    <a:pt x="5120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0" y="-38100"/>
              <a:ext cx="512064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Transitions verticales (Y) et horizontales (X, Z)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9418320" y="5687568"/>
            <a:ext cx="8699497" cy="1865376"/>
            <a:chOff x="0" y="0"/>
            <a:chExt cx="11599329" cy="2487168"/>
          </a:xfrm>
        </p:grpSpPr>
        <p:grpSp>
          <p:nvGrpSpPr>
            <p:cNvPr id="133" name="Group 133"/>
            <p:cNvGrpSpPr/>
            <p:nvPr/>
          </p:nvGrpSpPr>
          <p:grpSpPr>
            <a:xfrm>
              <a:off x="0" y="226911"/>
              <a:ext cx="180175" cy="765391"/>
              <a:chOff x="0" y="0"/>
              <a:chExt cx="180175" cy="765391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16891" y="16891"/>
                <a:ext cx="146304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46304" h="731520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Freeform 135"/>
              <p:cNvSpPr/>
              <p:nvPr/>
            </p:nvSpPr>
            <p:spPr>
              <a:xfrm>
                <a:off x="0" y="0"/>
                <a:ext cx="180086" cy="765304"/>
              </a:xfrm>
              <a:custGeom>
                <a:avLst/>
                <a:gdLst/>
                <a:ahLst/>
                <a:cxnLst/>
                <a:rect l="l" t="t" r="r" b="b"/>
                <a:pathLst>
                  <a:path w="180086" h="765304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748411"/>
                    </a:lnTo>
                    <a:cubicBezTo>
                      <a:pt x="180086" y="757809"/>
                      <a:pt x="172466" y="765302"/>
                      <a:pt x="163195" y="765302"/>
                    </a:cubicBezTo>
                    <a:lnTo>
                      <a:pt x="16891" y="765302"/>
                    </a:lnTo>
                    <a:cubicBezTo>
                      <a:pt x="7620" y="765429"/>
                      <a:pt x="0" y="757809"/>
                      <a:pt x="0" y="7484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48411"/>
                    </a:lnTo>
                    <a:lnTo>
                      <a:pt x="16891" y="748411"/>
                    </a:lnTo>
                    <a:lnTo>
                      <a:pt x="16891" y="731520"/>
                    </a:lnTo>
                    <a:lnTo>
                      <a:pt x="163195" y="731520"/>
                    </a:lnTo>
                    <a:lnTo>
                      <a:pt x="163195" y="748411"/>
                    </a:lnTo>
                    <a:lnTo>
                      <a:pt x="146304" y="74841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504609" y="0"/>
              <a:ext cx="5852160" cy="1219200"/>
              <a:chOff x="0" y="0"/>
              <a:chExt cx="5852160" cy="12192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58521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5852160" h="121920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3528" b="-43528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0" y="-47625"/>
                <a:ext cx="5852160" cy="12668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1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Géométrie Osseuse (26 dimensions)</a:t>
                </a: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6478689" y="0"/>
              <a:ext cx="5120640" cy="1219200"/>
              <a:chOff x="0" y="0"/>
              <a:chExt cx="5120640" cy="12192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512064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121920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837" b="-31837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TextBox 141"/>
              <p:cNvSpPr txBox="1"/>
              <p:nvPr/>
            </p:nvSpPr>
            <p:spPr>
              <a:xfrm>
                <a:off x="0" y="-38100"/>
                <a:ext cx="5120640" cy="1257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1">
                    <a:solidFill>
                      <a:srgbClr val="6B7A8D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Changements de posture / Morphologie du sujet</a:t>
                </a: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0" y="1494879"/>
              <a:ext cx="180175" cy="765391"/>
              <a:chOff x="0" y="0"/>
              <a:chExt cx="180175" cy="765391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16891" y="16891"/>
                <a:ext cx="146304" cy="731520"/>
              </a:xfrm>
              <a:custGeom>
                <a:avLst/>
                <a:gdLst/>
                <a:ahLst/>
                <a:cxnLst/>
                <a:rect l="l" t="t" r="r" b="b"/>
                <a:pathLst>
                  <a:path w="146304" h="731520">
                    <a:moveTo>
                      <a:pt x="0" y="0"/>
                    </a:moveTo>
                    <a:lnTo>
                      <a:pt x="146304" y="0"/>
                    </a:lnTo>
                    <a:lnTo>
                      <a:pt x="146304" y="731520"/>
                    </a:lnTo>
                    <a:lnTo>
                      <a:pt x="0" y="731520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4" name="Freeform 144"/>
              <p:cNvSpPr/>
              <p:nvPr/>
            </p:nvSpPr>
            <p:spPr>
              <a:xfrm>
                <a:off x="0" y="0"/>
                <a:ext cx="180086" cy="765304"/>
              </a:xfrm>
              <a:custGeom>
                <a:avLst/>
                <a:gdLst/>
                <a:ahLst/>
                <a:cxnLst/>
                <a:rect l="l" t="t" r="r" b="b"/>
                <a:pathLst>
                  <a:path w="180086" h="765304">
                    <a:moveTo>
                      <a:pt x="16891" y="0"/>
                    </a:moveTo>
                    <a:lnTo>
                      <a:pt x="163195" y="0"/>
                    </a:lnTo>
                    <a:cubicBezTo>
                      <a:pt x="172593" y="0"/>
                      <a:pt x="180086" y="7620"/>
                      <a:pt x="180086" y="16891"/>
                    </a:cubicBezTo>
                    <a:lnTo>
                      <a:pt x="180086" y="748411"/>
                    </a:lnTo>
                    <a:cubicBezTo>
                      <a:pt x="180086" y="757809"/>
                      <a:pt x="172466" y="765302"/>
                      <a:pt x="163195" y="765302"/>
                    </a:cubicBezTo>
                    <a:lnTo>
                      <a:pt x="16891" y="765302"/>
                    </a:lnTo>
                    <a:cubicBezTo>
                      <a:pt x="7620" y="765429"/>
                      <a:pt x="0" y="757809"/>
                      <a:pt x="0" y="74841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748411"/>
                    </a:lnTo>
                    <a:lnTo>
                      <a:pt x="16891" y="748411"/>
                    </a:lnTo>
                    <a:lnTo>
                      <a:pt x="16891" y="731520"/>
                    </a:lnTo>
                    <a:lnTo>
                      <a:pt x="163195" y="731520"/>
                    </a:lnTo>
                    <a:lnTo>
                      <a:pt x="163195" y="748411"/>
                    </a:lnTo>
                    <a:lnTo>
                      <a:pt x="146304" y="748411"/>
                    </a:lnTo>
                    <a:lnTo>
                      <a:pt x="146304" y="16891"/>
                    </a:lnTo>
                    <a:lnTo>
                      <a:pt x="163195" y="16891"/>
                    </a:lnTo>
                    <a:lnTo>
                      <a:pt x="163195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E5090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504609" y="1267968"/>
              <a:ext cx="5852160" cy="1219200"/>
              <a:chOff x="0" y="0"/>
              <a:chExt cx="5852160" cy="12192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585216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5852160" h="1219200">
                    <a:moveTo>
                      <a:pt x="0" y="0"/>
                    </a:moveTo>
                    <a:lnTo>
                      <a:pt x="5852160" y="0"/>
                    </a:lnTo>
                    <a:lnTo>
                      <a:pt x="585216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43528" b="-43528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7" name="TextBox 147"/>
              <p:cNvSpPr txBox="1"/>
              <p:nvPr/>
            </p:nvSpPr>
            <p:spPr>
              <a:xfrm>
                <a:off x="0" y="-47625"/>
                <a:ext cx="5852160" cy="12668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520"/>
                  </a:lnSpc>
                </a:pPr>
                <a:r>
                  <a:rPr lang="en-US" sz="2100" b="1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Distances Relationnelles (15 dimensions)</a:t>
                </a: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6478689" y="1267968"/>
              <a:ext cx="5120640" cy="1219200"/>
              <a:chOff x="0" y="0"/>
              <a:chExt cx="5120640" cy="12192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5120640" cy="1219200"/>
              </a:xfrm>
              <a:custGeom>
                <a:avLst/>
                <a:gdLst/>
                <a:ahLst/>
                <a:cxnLst/>
                <a:rect l="l" t="t" r="r" b="b"/>
                <a:pathLst>
                  <a:path w="5120640" h="1219200">
                    <a:moveTo>
                      <a:pt x="0" y="0"/>
                    </a:moveTo>
                    <a:lnTo>
                      <a:pt x="5120640" y="0"/>
                    </a:lnTo>
                    <a:lnTo>
                      <a:pt x="5120640" y="1219200"/>
                    </a:lnTo>
                    <a:lnTo>
                      <a:pt x="0" y="12192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1837" b="-31837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0" y="-38100"/>
                <a:ext cx="5120640" cy="125730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i="1">
                    <a:solidFill>
                      <a:srgbClr val="6B7A8D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Interactions clés (boire, appeler, agiter)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57FD-7AB7-85D6-393D-F294C95BB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C06F488-CD96-5AD4-ED48-754A30FA4FF0}"/>
              </a:ext>
            </a:extLst>
          </p:cNvPr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79A0A90-7861-A78D-DC0C-58F95D4D35C6}"/>
                </a:ext>
              </a:extLst>
            </p:cNvPr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A9F05AD-7E70-37A7-8A18-4F2B5E508A43}"/>
                </a:ext>
              </a:extLst>
            </p:cNvPr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" name="Group 2">
            <a:extLst>
              <a:ext uri="{FF2B5EF4-FFF2-40B4-BE49-F238E27FC236}">
                <a16:creationId xmlns:a16="http://schemas.microsoft.com/office/drawing/2014/main" id="{4B145817-0D08-C3E2-EE20-501099B6ADE0}"/>
              </a:ext>
            </a:extLst>
          </p:cNvPr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3F4DAA8-BEC1-A782-B31A-AC8E67003871}"/>
                </a:ext>
              </a:extLst>
            </p:cNvPr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38E2E9A-B8E7-D0FA-7F5F-2668A2E0F714}"/>
                </a:ext>
              </a:extLst>
            </p:cNvPr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RÉSULTATS</a:t>
              </a:r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C131132-5601-D807-7000-65E33F37F253}"/>
              </a:ext>
            </a:extLst>
          </p:cNvPr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617349-C9E5-BCC9-25A0-60E152D07060}"/>
                </a:ext>
              </a:extLst>
            </p:cNvPr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05F90A9-D9A0-9C45-8D4B-85669427FFA1}"/>
                </a:ext>
              </a:extLst>
            </p:cNvPr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Analyse des résultats</a:t>
              </a: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A4AB34EF-436C-D9EA-9983-4C38361C624E}"/>
              </a:ext>
            </a:extLst>
          </p:cNvPr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52C5BE3-E348-2755-B1F8-03350869CDF8}"/>
                </a:ext>
              </a:extLst>
            </p:cNvPr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4B881BE-AE08-C214-3110-0F739B4069DA}"/>
                </a:ext>
              </a:extLst>
            </p:cNvPr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6D14E3F3-CE29-B397-9DDD-2CD7D9A85AED}"/>
              </a:ext>
            </a:extLst>
          </p:cNvPr>
          <p:cNvSpPr/>
          <p:nvPr/>
        </p:nvSpPr>
        <p:spPr>
          <a:xfrm>
            <a:off x="5257771" y="6919208"/>
            <a:ext cx="7772400" cy="457200"/>
          </a:xfrm>
          <a:custGeom>
            <a:avLst/>
            <a:gdLst/>
            <a:ahLst/>
            <a:cxnLst/>
            <a:rect l="l" t="t" r="r" b="b"/>
            <a:pathLst>
              <a:path w="10363200" h="609600">
                <a:moveTo>
                  <a:pt x="0" y="0"/>
                </a:moveTo>
                <a:lnTo>
                  <a:pt x="10363200" y="0"/>
                </a:lnTo>
                <a:lnTo>
                  <a:pt x="10363200" y="609600"/>
                </a:lnTo>
                <a:lnTo>
                  <a:pt x="0" y="60960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81245" b="-281245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7564D9F0-84AB-37D8-09D8-6FE16592761D}"/>
              </a:ext>
            </a:extLst>
          </p:cNvPr>
          <p:cNvSpPr/>
          <p:nvPr/>
        </p:nvSpPr>
        <p:spPr>
          <a:xfrm>
            <a:off x="11004228" y="7097647"/>
            <a:ext cx="7772400" cy="457200"/>
          </a:xfrm>
          <a:custGeom>
            <a:avLst/>
            <a:gdLst/>
            <a:ahLst/>
            <a:cxnLst/>
            <a:rect l="l" t="t" r="r" b="b"/>
            <a:pathLst>
              <a:path w="10363200" h="609600">
                <a:moveTo>
                  <a:pt x="0" y="0"/>
                </a:moveTo>
                <a:lnTo>
                  <a:pt x="10363200" y="0"/>
                </a:lnTo>
                <a:lnTo>
                  <a:pt x="10363200" y="609600"/>
                </a:lnTo>
                <a:lnTo>
                  <a:pt x="0" y="609600"/>
                </a:lnTo>
                <a:close/>
              </a:path>
            </a:pathLst>
          </a:custGeom>
          <a:blipFill>
            <a:blip r:embed="rId3">
              <a:alphaModFix amt="0"/>
            </a:blip>
            <a:stretch>
              <a:fillRect t="-281245" b="-281245"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24" name="Group 24">
            <a:extLst>
              <a:ext uri="{FF2B5EF4-FFF2-40B4-BE49-F238E27FC236}">
                <a16:creationId xmlns:a16="http://schemas.microsoft.com/office/drawing/2014/main" id="{FD04B978-8B42-25C3-7907-9F1F4E3F7DA1}"/>
              </a:ext>
            </a:extLst>
          </p:cNvPr>
          <p:cNvGrpSpPr/>
          <p:nvPr/>
        </p:nvGrpSpPr>
        <p:grpSpPr>
          <a:xfrm>
            <a:off x="786355" y="7580328"/>
            <a:ext cx="16837657" cy="2207257"/>
            <a:chOff x="0" y="0"/>
            <a:chExt cx="22450209" cy="294300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999C694-0A28-35A6-BBAD-408EA01C601D}"/>
                </a:ext>
              </a:extLst>
            </p:cNvPr>
            <p:cNvSpPr/>
            <p:nvPr/>
          </p:nvSpPr>
          <p:spPr>
            <a:xfrm>
              <a:off x="8509" y="8509"/>
              <a:ext cx="22433281" cy="2926080"/>
            </a:xfrm>
            <a:custGeom>
              <a:avLst/>
              <a:gdLst/>
              <a:ahLst/>
              <a:cxnLst/>
              <a:rect l="l" t="t" r="r" b="b"/>
              <a:pathLst>
                <a:path w="22433281" h="292608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22139148" y="0"/>
                  </a:lnTo>
                  <a:cubicBezTo>
                    <a:pt x="22301582" y="0"/>
                    <a:pt x="22433281" y="131064"/>
                    <a:pt x="22433281" y="292608"/>
                  </a:cubicBezTo>
                  <a:lnTo>
                    <a:pt x="22433281" y="2633472"/>
                  </a:lnTo>
                  <a:cubicBezTo>
                    <a:pt x="22433281" y="2795016"/>
                    <a:pt x="22301582" y="2926080"/>
                    <a:pt x="22139148" y="2926080"/>
                  </a:cubicBezTo>
                  <a:lnTo>
                    <a:pt x="294005" y="2926080"/>
                  </a:lnTo>
                  <a:cubicBezTo>
                    <a:pt x="131572" y="2926080"/>
                    <a:pt x="0" y="2795016"/>
                    <a:pt x="0" y="26334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3D5F31F-FA6C-B2DC-1531-5D6581C489A8}"/>
                </a:ext>
              </a:extLst>
            </p:cNvPr>
            <p:cNvSpPr/>
            <p:nvPr/>
          </p:nvSpPr>
          <p:spPr>
            <a:xfrm>
              <a:off x="0" y="0"/>
              <a:ext cx="22450171" cy="2943098"/>
            </a:xfrm>
            <a:custGeom>
              <a:avLst/>
              <a:gdLst/>
              <a:ahLst/>
              <a:cxnLst/>
              <a:rect l="l" t="t" r="r" b="b"/>
              <a:pathLst>
                <a:path w="22450171" h="294309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22147657" y="0"/>
                  </a:lnTo>
                  <a:lnTo>
                    <a:pt x="22147657" y="8509"/>
                  </a:lnTo>
                  <a:lnTo>
                    <a:pt x="22147657" y="0"/>
                  </a:lnTo>
                  <a:cubicBezTo>
                    <a:pt x="22314663" y="0"/>
                    <a:pt x="22450171" y="134747"/>
                    <a:pt x="22450171" y="301117"/>
                  </a:cubicBezTo>
                  <a:lnTo>
                    <a:pt x="22441663" y="301117"/>
                  </a:lnTo>
                  <a:lnTo>
                    <a:pt x="22450171" y="301117"/>
                  </a:lnTo>
                  <a:lnTo>
                    <a:pt x="22450171" y="2641981"/>
                  </a:lnTo>
                  <a:lnTo>
                    <a:pt x="22441663" y="2641981"/>
                  </a:lnTo>
                  <a:lnTo>
                    <a:pt x="22450171" y="2641981"/>
                  </a:lnTo>
                  <a:cubicBezTo>
                    <a:pt x="22450171" y="2808351"/>
                    <a:pt x="22314663" y="2943098"/>
                    <a:pt x="22147657" y="2943098"/>
                  </a:cubicBezTo>
                  <a:lnTo>
                    <a:pt x="22147657" y="2934589"/>
                  </a:lnTo>
                  <a:lnTo>
                    <a:pt x="22147657" y="2943098"/>
                  </a:lnTo>
                  <a:lnTo>
                    <a:pt x="302514" y="2943098"/>
                  </a:lnTo>
                  <a:lnTo>
                    <a:pt x="302514" y="2934589"/>
                  </a:lnTo>
                  <a:lnTo>
                    <a:pt x="302514" y="2943098"/>
                  </a:lnTo>
                  <a:cubicBezTo>
                    <a:pt x="135509" y="2942971"/>
                    <a:pt x="0" y="2808224"/>
                    <a:pt x="0" y="264198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641981"/>
                  </a:lnTo>
                  <a:lnTo>
                    <a:pt x="8509" y="2641981"/>
                  </a:lnTo>
                  <a:lnTo>
                    <a:pt x="17018" y="2641981"/>
                  </a:lnTo>
                  <a:cubicBezTo>
                    <a:pt x="17018" y="2798826"/>
                    <a:pt x="144907" y="2926080"/>
                    <a:pt x="302641" y="2926080"/>
                  </a:cubicBezTo>
                  <a:lnTo>
                    <a:pt x="22147657" y="2926080"/>
                  </a:lnTo>
                  <a:cubicBezTo>
                    <a:pt x="22305392" y="2926080"/>
                    <a:pt x="22433280" y="2798826"/>
                    <a:pt x="22433280" y="2641981"/>
                  </a:cubicBezTo>
                  <a:lnTo>
                    <a:pt x="22433280" y="301117"/>
                  </a:lnTo>
                  <a:cubicBezTo>
                    <a:pt x="22433280" y="144272"/>
                    <a:pt x="22305392" y="17018"/>
                    <a:pt x="22147657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58CE1BE-C0F7-6624-B23A-8BE57930A47E}"/>
              </a:ext>
            </a:extLst>
          </p:cNvPr>
          <p:cNvGrpSpPr/>
          <p:nvPr/>
        </p:nvGrpSpPr>
        <p:grpSpPr>
          <a:xfrm>
            <a:off x="718823" y="7668263"/>
            <a:ext cx="135131" cy="2219963"/>
            <a:chOff x="0" y="0"/>
            <a:chExt cx="180175" cy="2959951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A741E499-7AA9-EE11-1A67-90EEB29566DA}"/>
                </a:ext>
              </a:extLst>
            </p:cNvPr>
            <p:cNvSpPr/>
            <p:nvPr/>
          </p:nvSpPr>
          <p:spPr>
            <a:xfrm>
              <a:off x="16891" y="16891"/>
              <a:ext cx="146304" cy="2926080"/>
            </a:xfrm>
            <a:custGeom>
              <a:avLst/>
              <a:gdLst/>
              <a:ahLst/>
              <a:cxnLst/>
              <a:rect l="l" t="t" r="r" b="b"/>
              <a:pathLst>
                <a:path w="146304" h="2926080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4359B06-CC4A-4874-AF57-F263B2166664}"/>
                </a:ext>
              </a:extLst>
            </p:cNvPr>
            <p:cNvSpPr/>
            <p:nvPr/>
          </p:nvSpPr>
          <p:spPr>
            <a:xfrm>
              <a:off x="0" y="0"/>
              <a:ext cx="180086" cy="2959862"/>
            </a:xfrm>
            <a:custGeom>
              <a:avLst/>
              <a:gdLst/>
              <a:ahLst/>
              <a:cxnLst/>
              <a:rect l="l" t="t" r="r" b="b"/>
              <a:pathLst>
                <a:path w="180086" h="295986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42971"/>
                  </a:lnTo>
                  <a:cubicBezTo>
                    <a:pt x="180086" y="2952369"/>
                    <a:pt x="172466" y="2959862"/>
                    <a:pt x="163195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63195" y="2926080"/>
                  </a:lnTo>
                  <a:lnTo>
                    <a:pt x="163195" y="2942971"/>
                  </a:lnTo>
                  <a:lnTo>
                    <a:pt x="146304" y="29429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31" name="Picture 30">
            <a:extLst>
              <a:ext uri="{FF2B5EF4-FFF2-40B4-BE49-F238E27FC236}">
                <a16:creationId xmlns:a16="http://schemas.microsoft.com/office/drawing/2014/main" id="{115894E6-F659-9644-CBE8-A1D9730F4F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092" y="1197864"/>
            <a:ext cx="10186863" cy="7398622"/>
          </a:xfrm>
          <a:prstGeom prst="rect">
            <a:avLst/>
          </a:prstGeom>
        </p:spPr>
      </p:pic>
      <p:sp>
        <p:nvSpPr>
          <p:cNvPr id="32" name="Rectangle 2">
            <a:extLst>
              <a:ext uri="{FF2B5EF4-FFF2-40B4-BE49-F238E27FC236}">
                <a16:creationId xmlns:a16="http://schemas.microsoft.com/office/drawing/2014/main" id="{B0B9FCE0-E28E-C18A-D05F-56D3A542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377" y="-9602629"/>
            <a:ext cx="8627362" cy="19205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Confusions principales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Horizontal ↔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(similarité des mouvements dans des plans proches)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Bend ↔ autres actions dynamiques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(variabilité du geste selon les personnes)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Continuité du mouvement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fr-FR" altLang="fr-FR" i="1" dirty="0">
                <a:latin typeface="Arial" panose="020B0604020202020204" pitchFamily="34" charset="0"/>
              </a:rPr>
              <a:t>                                    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Boire 8 ↔ Ap</a:t>
            </a:r>
            <a:r>
              <a:rPr lang="fr-FR" altLang="fr-FR" i="1" dirty="0">
                <a:latin typeface="Arial" panose="020B0604020202020204" pitchFamily="34" charset="0"/>
              </a:rPr>
              <a:t>peler 7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i="1" dirty="0">
                <a:latin typeface="Arial" panose="020B0604020202020204" pitchFamily="34" charset="0"/>
              </a:rPr>
              <a:t>     Bend 4 ↔ marcher 6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Toutes les autres classes sont </a:t>
            </a:r>
            <a:r>
              <a:rPr lang="fr-FR" altLang="fr-FR" b="1" dirty="0">
                <a:latin typeface="Arial" panose="020B0604020202020204" pitchFamily="34" charset="0"/>
              </a:rPr>
              <a:t>presque totalement séparées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111012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MODÉLISATION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Modèles &amp; Optimisation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5167" y="2151631"/>
            <a:ext cx="8059417" cy="3853177"/>
            <a:chOff x="0" y="0"/>
            <a:chExt cx="10745889" cy="5137569"/>
          </a:xfrm>
        </p:grpSpPr>
        <p:sp>
          <p:nvSpPr>
            <p:cNvPr id="15" name="Freeform 15"/>
            <p:cNvSpPr/>
            <p:nvPr/>
          </p:nvSpPr>
          <p:spPr>
            <a:xfrm>
              <a:off x="8509" y="8509"/>
              <a:ext cx="10728960" cy="5120640"/>
            </a:xfrm>
            <a:custGeom>
              <a:avLst/>
              <a:gdLst/>
              <a:ahLst/>
              <a:cxnLst/>
              <a:rect l="l" t="t" r="r" b="b"/>
              <a:pathLst>
                <a:path w="10728960" h="5120640">
                  <a:moveTo>
                    <a:pt x="0" y="292608"/>
                  </a:moveTo>
                  <a:cubicBezTo>
                    <a:pt x="0" y="130937"/>
                    <a:pt x="131191" y="0"/>
                    <a:pt x="293116" y="0"/>
                  </a:cubicBezTo>
                  <a:lnTo>
                    <a:pt x="10435844" y="0"/>
                  </a:lnTo>
                  <a:cubicBezTo>
                    <a:pt x="10597769" y="0"/>
                    <a:pt x="10728960" y="130937"/>
                    <a:pt x="10728960" y="292608"/>
                  </a:cubicBezTo>
                  <a:lnTo>
                    <a:pt x="10728960" y="4828032"/>
                  </a:lnTo>
                  <a:cubicBezTo>
                    <a:pt x="10728960" y="4989576"/>
                    <a:pt x="10597769" y="5120640"/>
                    <a:pt x="10435844" y="5120640"/>
                  </a:cubicBezTo>
                  <a:lnTo>
                    <a:pt x="293116" y="5120640"/>
                  </a:lnTo>
                  <a:cubicBezTo>
                    <a:pt x="131191" y="5120640"/>
                    <a:pt x="0" y="4989576"/>
                    <a:pt x="0" y="48280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745978" cy="5137658"/>
            </a:xfrm>
            <a:custGeom>
              <a:avLst/>
              <a:gdLst/>
              <a:ahLst/>
              <a:cxnLst/>
              <a:rect l="l" t="t" r="r" b="b"/>
              <a:pathLst>
                <a:path w="10745978" h="5137658">
                  <a:moveTo>
                    <a:pt x="0" y="301117"/>
                  </a:moveTo>
                  <a:cubicBezTo>
                    <a:pt x="0" y="134747"/>
                    <a:pt x="135001" y="0"/>
                    <a:pt x="301625" y="0"/>
                  </a:cubicBezTo>
                  <a:lnTo>
                    <a:pt x="10444353" y="0"/>
                  </a:lnTo>
                  <a:lnTo>
                    <a:pt x="10444353" y="8509"/>
                  </a:lnTo>
                  <a:lnTo>
                    <a:pt x="10444353" y="0"/>
                  </a:lnTo>
                  <a:cubicBezTo>
                    <a:pt x="10610850" y="0"/>
                    <a:pt x="10745978" y="134747"/>
                    <a:pt x="10745978" y="301117"/>
                  </a:cubicBezTo>
                  <a:lnTo>
                    <a:pt x="10737469" y="301117"/>
                  </a:lnTo>
                  <a:lnTo>
                    <a:pt x="10745978" y="301117"/>
                  </a:lnTo>
                  <a:lnTo>
                    <a:pt x="10745978" y="4836541"/>
                  </a:lnTo>
                  <a:lnTo>
                    <a:pt x="10737469" y="4836541"/>
                  </a:lnTo>
                  <a:lnTo>
                    <a:pt x="10745978" y="4836541"/>
                  </a:lnTo>
                  <a:cubicBezTo>
                    <a:pt x="10745978" y="5002784"/>
                    <a:pt x="10610977" y="5137658"/>
                    <a:pt x="10444353" y="5137658"/>
                  </a:cubicBezTo>
                  <a:lnTo>
                    <a:pt x="10444353" y="5129149"/>
                  </a:lnTo>
                  <a:lnTo>
                    <a:pt x="10444353" y="5137658"/>
                  </a:lnTo>
                  <a:lnTo>
                    <a:pt x="301625" y="5137658"/>
                  </a:lnTo>
                  <a:lnTo>
                    <a:pt x="301625" y="5129149"/>
                  </a:lnTo>
                  <a:lnTo>
                    <a:pt x="301625" y="5137658"/>
                  </a:lnTo>
                  <a:cubicBezTo>
                    <a:pt x="135001" y="5137531"/>
                    <a:pt x="0" y="5002784"/>
                    <a:pt x="0" y="48365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4836541"/>
                  </a:lnTo>
                  <a:lnTo>
                    <a:pt x="8509" y="4836541"/>
                  </a:lnTo>
                  <a:lnTo>
                    <a:pt x="17018" y="4836541"/>
                  </a:lnTo>
                  <a:cubicBezTo>
                    <a:pt x="17018" y="4993386"/>
                    <a:pt x="144399" y="5120640"/>
                    <a:pt x="301625" y="5120640"/>
                  </a:cubicBezTo>
                  <a:lnTo>
                    <a:pt x="10444353" y="5120640"/>
                  </a:lnTo>
                  <a:cubicBezTo>
                    <a:pt x="10601579" y="5120640"/>
                    <a:pt x="10728960" y="4993386"/>
                    <a:pt x="10728960" y="4836541"/>
                  </a:cubicBezTo>
                  <a:lnTo>
                    <a:pt x="10728960" y="301117"/>
                  </a:lnTo>
                  <a:cubicBezTo>
                    <a:pt x="10728960" y="144272"/>
                    <a:pt x="10601579" y="17018"/>
                    <a:pt x="10444353" y="17018"/>
                  </a:cubicBezTo>
                  <a:lnTo>
                    <a:pt x="301625" y="17018"/>
                  </a:lnTo>
                  <a:lnTo>
                    <a:pt x="301625" y="8509"/>
                  </a:lnTo>
                  <a:lnTo>
                    <a:pt x="301625" y="17018"/>
                  </a:lnTo>
                  <a:cubicBezTo>
                    <a:pt x="144399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8823" y="2145287"/>
            <a:ext cx="8072123" cy="116843"/>
            <a:chOff x="0" y="0"/>
            <a:chExt cx="10762831" cy="15579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0728960" cy="121920"/>
            </a:xfrm>
            <a:custGeom>
              <a:avLst/>
              <a:gdLst/>
              <a:ahLst/>
              <a:cxnLst/>
              <a:rect l="l" t="t" r="r" b="b"/>
              <a:pathLst>
                <a:path w="10728960" h="12192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0762742" cy="155704"/>
            </a:xfrm>
            <a:custGeom>
              <a:avLst/>
              <a:gdLst/>
              <a:ahLst/>
              <a:cxnLst/>
              <a:rect l="l" t="t" r="r" b="b"/>
              <a:pathLst>
                <a:path w="10762742" h="15570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8811"/>
                  </a:lnTo>
                  <a:cubicBezTo>
                    <a:pt x="10762742" y="148209"/>
                    <a:pt x="10755122" y="155702"/>
                    <a:pt x="1074585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745851" y="121920"/>
                  </a:lnTo>
                  <a:lnTo>
                    <a:pt x="10745851" y="138811"/>
                  </a:lnTo>
                  <a:lnTo>
                    <a:pt x="10728960" y="1388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2340864"/>
            <a:ext cx="7315200" cy="640080"/>
            <a:chOff x="0" y="0"/>
            <a:chExt cx="9753600" cy="8534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SVM — Support Vector Machine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88720" y="3070479"/>
            <a:ext cx="713232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Noyau : RBF  ·  C = 10  ·  gamma = 0.01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Optimisation : GridSearchCV  (5-fold StratifiedGroupKFold)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: ~96,59 %  ·  F1 : ~96,41 %  ·  AUC &gt; 0.99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503407" y="2151631"/>
            <a:ext cx="8059417" cy="3853177"/>
            <a:chOff x="0" y="0"/>
            <a:chExt cx="10745889" cy="5137569"/>
          </a:xfrm>
        </p:grpSpPr>
        <p:sp>
          <p:nvSpPr>
            <p:cNvPr id="25" name="Freeform 25"/>
            <p:cNvSpPr/>
            <p:nvPr/>
          </p:nvSpPr>
          <p:spPr>
            <a:xfrm>
              <a:off x="8509" y="8509"/>
              <a:ext cx="10728960" cy="5120640"/>
            </a:xfrm>
            <a:custGeom>
              <a:avLst/>
              <a:gdLst/>
              <a:ahLst/>
              <a:cxnLst/>
              <a:rect l="l" t="t" r="r" b="b"/>
              <a:pathLst>
                <a:path w="10728960" h="5120640">
                  <a:moveTo>
                    <a:pt x="0" y="292608"/>
                  </a:moveTo>
                  <a:cubicBezTo>
                    <a:pt x="0" y="130937"/>
                    <a:pt x="131191" y="0"/>
                    <a:pt x="293116" y="0"/>
                  </a:cubicBezTo>
                  <a:lnTo>
                    <a:pt x="10435844" y="0"/>
                  </a:lnTo>
                  <a:cubicBezTo>
                    <a:pt x="10597769" y="0"/>
                    <a:pt x="10728960" y="130937"/>
                    <a:pt x="10728960" y="292608"/>
                  </a:cubicBezTo>
                  <a:lnTo>
                    <a:pt x="10728960" y="4828032"/>
                  </a:lnTo>
                  <a:cubicBezTo>
                    <a:pt x="10728960" y="4989576"/>
                    <a:pt x="10597769" y="5120640"/>
                    <a:pt x="10435844" y="5120640"/>
                  </a:cubicBezTo>
                  <a:lnTo>
                    <a:pt x="293116" y="5120640"/>
                  </a:lnTo>
                  <a:cubicBezTo>
                    <a:pt x="131191" y="5120640"/>
                    <a:pt x="0" y="4989576"/>
                    <a:pt x="0" y="482803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745978" cy="5137658"/>
            </a:xfrm>
            <a:custGeom>
              <a:avLst/>
              <a:gdLst/>
              <a:ahLst/>
              <a:cxnLst/>
              <a:rect l="l" t="t" r="r" b="b"/>
              <a:pathLst>
                <a:path w="10745978" h="5137658">
                  <a:moveTo>
                    <a:pt x="0" y="301117"/>
                  </a:moveTo>
                  <a:cubicBezTo>
                    <a:pt x="0" y="134747"/>
                    <a:pt x="135001" y="0"/>
                    <a:pt x="301625" y="0"/>
                  </a:cubicBezTo>
                  <a:lnTo>
                    <a:pt x="10444353" y="0"/>
                  </a:lnTo>
                  <a:lnTo>
                    <a:pt x="10444353" y="8509"/>
                  </a:lnTo>
                  <a:lnTo>
                    <a:pt x="10444353" y="0"/>
                  </a:lnTo>
                  <a:cubicBezTo>
                    <a:pt x="10610850" y="0"/>
                    <a:pt x="10745978" y="134747"/>
                    <a:pt x="10745978" y="301117"/>
                  </a:cubicBezTo>
                  <a:lnTo>
                    <a:pt x="10737469" y="301117"/>
                  </a:lnTo>
                  <a:lnTo>
                    <a:pt x="10745978" y="301117"/>
                  </a:lnTo>
                  <a:lnTo>
                    <a:pt x="10745978" y="4836541"/>
                  </a:lnTo>
                  <a:lnTo>
                    <a:pt x="10737469" y="4836541"/>
                  </a:lnTo>
                  <a:lnTo>
                    <a:pt x="10745978" y="4836541"/>
                  </a:lnTo>
                  <a:cubicBezTo>
                    <a:pt x="10745978" y="5002784"/>
                    <a:pt x="10610977" y="5137658"/>
                    <a:pt x="10444353" y="5137658"/>
                  </a:cubicBezTo>
                  <a:lnTo>
                    <a:pt x="10444353" y="5129149"/>
                  </a:lnTo>
                  <a:lnTo>
                    <a:pt x="10444353" y="5137658"/>
                  </a:lnTo>
                  <a:lnTo>
                    <a:pt x="301625" y="5137658"/>
                  </a:lnTo>
                  <a:lnTo>
                    <a:pt x="301625" y="5129149"/>
                  </a:lnTo>
                  <a:lnTo>
                    <a:pt x="301625" y="5137658"/>
                  </a:lnTo>
                  <a:cubicBezTo>
                    <a:pt x="135001" y="5137531"/>
                    <a:pt x="0" y="5002784"/>
                    <a:pt x="0" y="483654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4836541"/>
                  </a:lnTo>
                  <a:lnTo>
                    <a:pt x="8509" y="4836541"/>
                  </a:lnTo>
                  <a:lnTo>
                    <a:pt x="17018" y="4836541"/>
                  </a:lnTo>
                  <a:cubicBezTo>
                    <a:pt x="17018" y="4993386"/>
                    <a:pt x="144399" y="5120640"/>
                    <a:pt x="301625" y="5120640"/>
                  </a:cubicBezTo>
                  <a:lnTo>
                    <a:pt x="10444353" y="5120640"/>
                  </a:lnTo>
                  <a:cubicBezTo>
                    <a:pt x="10601579" y="5120640"/>
                    <a:pt x="10728960" y="4993386"/>
                    <a:pt x="10728960" y="4836541"/>
                  </a:cubicBezTo>
                  <a:lnTo>
                    <a:pt x="10728960" y="301117"/>
                  </a:lnTo>
                  <a:cubicBezTo>
                    <a:pt x="10728960" y="144272"/>
                    <a:pt x="10601579" y="17018"/>
                    <a:pt x="10444353" y="17018"/>
                  </a:cubicBezTo>
                  <a:lnTo>
                    <a:pt x="301625" y="17018"/>
                  </a:lnTo>
                  <a:lnTo>
                    <a:pt x="301625" y="8509"/>
                  </a:lnTo>
                  <a:lnTo>
                    <a:pt x="301625" y="17018"/>
                  </a:lnTo>
                  <a:cubicBezTo>
                    <a:pt x="144399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97063" y="2145287"/>
            <a:ext cx="8072123" cy="116843"/>
            <a:chOff x="0" y="0"/>
            <a:chExt cx="10762831" cy="15579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10728960" cy="121920"/>
            </a:xfrm>
            <a:custGeom>
              <a:avLst/>
              <a:gdLst/>
              <a:ahLst/>
              <a:cxnLst/>
              <a:rect l="l" t="t" r="r" b="b"/>
              <a:pathLst>
                <a:path w="10728960" h="12192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762742" cy="155704"/>
            </a:xfrm>
            <a:custGeom>
              <a:avLst/>
              <a:gdLst/>
              <a:ahLst/>
              <a:cxnLst/>
              <a:rect l="l" t="t" r="r" b="b"/>
              <a:pathLst>
                <a:path w="10762742" h="155704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138811"/>
                  </a:lnTo>
                  <a:cubicBezTo>
                    <a:pt x="10762742" y="148209"/>
                    <a:pt x="10755122" y="155702"/>
                    <a:pt x="1074585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10745851" y="121920"/>
                  </a:lnTo>
                  <a:lnTo>
                    <a:pt x="10745851" y="138811"/>
                  </a:lnTo>
                  <a:lnTo>
                    <a:pt x="10728960" y="13881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875520" y="2340864"/>
            <a:ext cx="7315200" cy="640080"/>
            <a:chOff x="0" y="0"/>
            <a:chExt cx="97536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753600" cy="853440"/>
            </a:xfrm>
            <a:custGeom>
              <a:avLst/>
              <a:gdLst/>
              <a:ahLst/>
              <a:cxnLst/>
              <a:rect l="l" t="t" r="r" b="b"/>
              <a:pathLst>
                <a:path w="9753600" h="85344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2686" b="-17268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57150"/>
              <a:ext cx="9753600" cy="9105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 ✓  Modèle retenu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966960" y="3070479"/>
            <a:ext cx="713232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1A1A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n_estimators = 225  ·  max_depth = 12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max_features = sqrt  ·  min_samples_leaf = 10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class_weight = balanced  ·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: ~98,48 %  ·  F1 : ~98,47 %  ·  AUC = 1.00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31520" y="6364224"/>
            <a:ext cx="16459200" cy="548640"/>
            <a:chOff x="0" y="0"/>
            <a:chExt cx="21945600" cy="731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45600" cy="731520"/>
            </a:xfrm>
            <a:custGeom>
              <a:avLst/>
              <a:gdLst/>
              <a:ahLst/>
              <a:cxnLst/>
              <a:rect l="l" t="t" r="r" b="b"/>
              <a:pathLst>
                <a:path w="21945600" h="73152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4551" b="-5345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Comparaison des performances</a:t>
              </a:r>
            </a:p>
          </p:txBody>
        </p:sp>
      </p:grpSp>
      <p:pic>
        <p:nvPicPr>
          <p:cNvPr id="37" name="Picture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50976" y="5303520"/>
            <a:ext cx="20189952" cy="61996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RÉSULTATS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8" name="Freeform 8"/>
          <p:cNvSpPr/>
          <p:nvPr/>
        </p:nvSpPr>
        <p:spPr>
          <a:xfrm>
            <a:off x="853954" y="1700784"/>
            <a:ext cx="7981883" cy="5966458"/>
          </a:xfrm>
          <a:custGeom>
            <a:avLst/>
            <a:gdLst/>
            <a:ahLst/>
            <a:cxnLst/>
            <a:rect l="l" t="t" r="r" b="b"/>
            <a:pathLst>
              <a:path w="7981883" h="5966458">
                <a:moveTo>
                  <a:pt x="0" y="0"/>
                </a:moveTo>
                <a:lnTo>
                  <a:pt x="7981884" y="0"/>
                </a:lnTo>
                <a:lnTo>
                  <a:pt x="7981884" y="5966458"/>
                </a:lnTo>
                <a:lnTo>
                  <a:pt x="0" y="5966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grpSp>
        <p:nvGrpSpPr>
          <p:cNvPr id="9" name="Group 9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Analyse des résultats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28800" y="6919208"/>
            <a:ext cx="7772400" cy="457200"/>
            <a:chOff x="0" y="0"/>
            <a:chExt cx="10363200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363200" cy="609600"/>
            </a:xfrm>
            <a:custGeom>
              <a:avLst/>
              <a:gdLst/>
              <a:ahLst/>
              <a:cxnLst/>
              <a:rect l="l" t="t" r="r" b="b"/>
              <a:pathLst>
                <a:path w="10363200" h="609600">
                  <a:moveTo>
                    <a:pt x="0" y="0"/>
                  </a:moveTo>
                  <a:lnTo>
                    <a:pt x="10363200" y="0"/>
                  </a:lnTo>
                  <a:lnTo>
                    <a:pt x="10363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363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 : Confusion Matrix — SVM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694495" y="1820544"/>
            <a:ext cx="7564805" cy="5734302"/>
            <a:chOff x="0" y="0"/>
            <a:chExt cx="10867809" cy="8238058"/>
          </a:xfrm>
        </p:grpSpPr>
        <p:sp>
          <p:nvSpPr>
            <p:cNvPr id="19" name="Freeform 19"/>
            <p:cNvSpPr/>
            <p:nvPr/>
          </p:nvSpPr>
          <p:spPr>
            <a:xfrm>
              <a:off x="8509" y="10062"/>
              <a:ext cx="10850753" cy="8217888"/>
            </a:xfrm>
            <a:custGeom>
              <a:avLst/>
              <a:gdLst/>
              <a:ahLst/>
              <a:cxnLst/>
              <a:rect l="l" t="t" r="r" b="b"/>
              <a:pathLst>
                <a:path w="10850753" h="8217888">
                  <a:moveTo>
                    <a:pt x="0" y="346023"/>
                  </a:moveTo>
                  <a:cubicBezTo>
                    <a:pt x="0" y="154839"/>
                    <a:pt x="131064" y="0"/>
                    <a:pt x="292862" y="0"/>
                  </a:cubicBezTo>
                  <a:lnTo>
                    <a:pt x="10557891" y="0"/>
                  </a:lnTo>
                  <a:cubicBezTo>
                    <a:pt x="10719689" y="0"/>
                    <a:pt x="10850753" y="154990"/>
                    <a:pt x="10850753" y="346023"/>
                  </a:cubicBezTo>
                  <a:lnTo>
                    <a:pt x="10850753" y="7871866"/>
                  </a:lnTo>
                  <a:cubicBezTo>
                    <a:pt x="10850753" y="8063050"/>
                    <a:pt x="10719562" y="8217888"/>
                    <a:pt x="10557891" y="8217888"/>
                  </a:cubicBezTo>
                  <a:lnTo>
                    <a:pt x="292862" y="8217888"/>
                  </a:lnTo>
                  <a:cubicBezTo>
                    <a:pt x="131064" y="8218039"/>
                    <a:pt x="0" y="8063050"/>
                    <a:pt x="0" y="7871866"/>
                  </a:cubicBezTo>
                  <a:close/>
                </a:path>
              </a:pathLst>
            </a:custGeom>
            <a:blipFill>
              <a:blip r:embed="rId5"/>
              <a:stretch>
                <a:fillRect t="-1329" b="-1329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0"/>
              <a:ext cx="10867771" cy="8238013"/>
            </a:xfrm>
            <a:custGeom>
              <a:avLst/>
              <a:gdLst/>
              <a:ahLst/>
              <a:cxnLst/>
              <a:rect l="l" t="t" r="r" b="b"/>
              <a:pathLst>
                <a:path w="10867771" h="8238013">
                  <a:moveTo>
                    <a:pt x="0" y="356085"/>
                  </a:moveTo>
                  <a:cubicBezTo>
                    <a:pt x="0" y="159345"/>
                    <a:pt x="134874" y="0"/>
                    <a:pt x="301371" y="0"/>
                  </a:cubicBezTo>
                  <a:lnTo>
                    <a:pt x="10566400" y="0"/>
                  </a:lnTo>
                  <a:lnTo>
                    <a:pt x="10566400" y="10062"/>
                  </a:lnTo>
                  <a:lnTo>
                    <a:pt x="10566400" y="0"/>
                  </a:lnTo>
                  <a:cubicBezTo>
                    <a:pt x="10732770" y="0"/>
                    <a:pt x="10867771" y="159345"/>
                    <a:pt x="10867771" y="356085"/>
                  </a:cubicBezTo>
                  <a:lnTo>
                    <a:pt x="10859262" y="356085"/>
                  </a:lnTo>
                  <a:lnTo>
                    <a:pt x="10867771" y="356085"/>
                  </a:lnTo>
                  <a:lnTo>
                    <a:pt x="10867771" y="7881928"/>
                  </a:lnTo>
                  <a:lnTo>
                    <a:pt x="10859262" y="7881928"/>
                  </a:lnTo>
                  <a:lnTo>
                    <a:pt x="10867771" y="7881928"/>
                  </a:lnTo>
                  <a:cubicBezTo>
                    <a:pt x="10867771" y="8078519"/>
                    <a:pt x="10732897" y="8238013"/>
                    <a:pt x="10566400" y="8238013"/>
                  </a:cubicBezTo>
                  <a:lnTo>
                    <a:pt x="10566400" y="8227950"/>
                  </a:lnTo>
                  <a:lnTo>
                    <a:pt x="10566400" y="8238013"/>
                  </a:lnTo>
                  <a:lnTo>
                    <a:pt x="301371" y="8238013"/>
                  </a:lnTo>
                  <a:lnTo>
                    <a:pt x="301371" y="8227950"/>
                  </a:lnTo>
                  <a:lnTo>
                    <a:pt x="301371" y="8238013"/>
                  </a:lnTo>
                  <a:cubicBezTo>
                    <a:pt x="134874" y="8238013"/>
                    <a:pt x="0" y="8078668"/>
                    <a:pt x="0" y="7881928"/>
                  </a:cubicBezTo>
                  <a:lnTo>
                    <a:pt x="0" y="356085"/>
                  </a:lnTo>
                  <a:lnTo>
                    <a:pt x="8509" y="356085"/>
                  </a:lnTo>
                  <a:lnTo>
                    <a:pt x="0" y="356085"/>
                  </a:lnTo>
                  <a:moveTo>
                    <a:pt x="16891" y="356085"/>
                  </a:moveTo>
                  <a:lnTo>
                    <a:pt x="16891" y="7881928"/>
                  </a:lnTo>
                  <a:lnTo>
                    <a:pt x="8509" y="7881928"/>
                  </a:lnTo>
                  <a:lnTo>
                    <a:pt x="17018" y="7881928"/>
                  </a:lnTo>
                  <a:cubicBezTo>
                    <a:pt x="17018" y="8067555"/>
                    <a:pt x="144399" y="8218039"/>
                    <a:pt x="301498" y="8218039"/>
                  </a:cubicBezTo>
                  <a:lnTo>
                    <a:pt x="10566400" y="8218039"/>
                  </a:lnTo>
                  <a:cubicBezTo>
                    <a:pt x="10723499" y="8218039"/>
                    <a:pt x="10850880" y="8067555"/>
                    <a:pt x="10850880" y="7881928"/>
                  </a:cubicBezTo>
                  <a:lnTo>
                    <a:pt x="10850880" y="356085"/>
                  </a:lnTo>
                  <a:cubicBezTo>
                    <a:pt x="10850880" y="170458"/>
                    <a:pt x="10723499" y="19974"/>
                    <a:pt x="10566400" y="19974"/>
                  </a:cubicBezTo>
                  <a:lnTo>
                    <a:pt x="301371" y="19974"/>
                  </a:lnTo>
                  <a:lnTo>
                    <a:pt x="301371" y="10062"/>
                  </a:lnTo>
                  <a:lnTo>
                    <a:pt x="301371" y="20125"/>
                  </a:lnTo>
                  <a:cubicBezTo>
                    <a:pt x="144272" y="20125"/>
                    <a:pt x="16891" y="170608"/>
                    <a:pt x="16891" y="356235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04228" y="7097647"/>
            <a:ext cx="7772400" cy="457200"/>
            <a:chOff x="0" y="0"/>
            <a:chExt cx="10363200" cy="6096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63200" cy="609600"/>
            </a:xfrm>
            <a:custGeom>
              <a:avLst/>
              <a:gdLst/>
              <a:ahLst/>
              <a:cxnLst/>
              <a:rect l="l" t="t" r="r" b="b"/>
              <a:pathLst>
                <a:path w="10363200" h="609600">
                  <a:moveTo>
                    <a:pt x="0" y="0"/>
                  </a:moveTo>
                  <a:lnTo>
                    <a:pt x="10363200" y="0"/>
                  </a:lnTo>
                  <a:lnTo>
                    <a:pt x="103632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363200" cy="6477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2 : Confusion Matrix — Random Forest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25167" y="7674607"/>
            <a:ext cx="16837657" cy="2207257"/>
            <a:chOff x="0" y="0"/>
            <a:chExt cx="22450209" cy="2943009"/>
          </a:xfrm>
        </p:grpSpPr>
        <p:sp>
          <p:nvSpPr>
            <p:cNvPr id="25" name="Freeform 25"/>
            <p:cNvSpPr/>
            <p:nvPr/>
          </p:nvSpPr>
          <p:spPr>
            <a:xfrm>
              <a:off x="8509" y="8509"/>
              <a:ext cx="22433281" cy="2926080"/>
            </a:xfrm>
            <a:custGeom>
              <a:avLst/>
              <a:gdLst/>
              <a:ahLst/>
              <a:cxnLst/>
              <a:rect l="l" t="t" r="r" b="b"/>
              <a:pathLst>
                <a:path w="22433281" h="2926080">
                  <a:moveTo>
                    <a:pt x="0" y="292608"/>
                  </a:moveTo>
                  <a:cubicBezTo>
                    <a:pt x="0" y="130937"/>
                    <a:pt x="131572" y="0"/>
                    <a:pt x="294005" y="0"/>
                  </a:cubicBezTo>
                  <a:lnTo>
                    <a:pt x="22139148" y="0"/>
                  </a:lnTo>
                  <a:cubicBezTo>
                    <a:pt x="22301582" y="0"/>
                    <a:pt x="22433281" y="131064"/>
                    <a:pt x="22433281" y="292608"/>
                  </a:cubicBezTo>
                  <a:lnTo>
                    <a:pt x="22433281" y="2633472"/>
                  </a:lnTo>
                  <a:cubicBezTo>
                    <a:pt x="22433281" y="2795016"/>
                    <a:pt x="22301582" y="2926080"/>
                    <a:pt x="22139148" y="2926080"/>
                  </a:cubicBezTo>
                  <a:lnTo>
                    <a:pt x="294005" y="2926080"/>
                  </a:lnTo>
                  <a:cubicBezTo>
                    <a:pt x="131572" y="2926080"/>
                    <a:pt x="0" y="2795016"/>
                    <a:pt x="0" y="26334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22450171" cy="2943098"/>
            </a:xfrm>
            <a:custGeom>
              <a:avLst/>
              <a:gdLst/>
              <a:ahLst/>
              <a:cxnLst/>
              <a:rect l="l" t="t" r="r" b="b"/>
              <a:pathLst>
                <a:path w="22450171" h="2943098">
                  <a:moveTo>
                    <a:pt x="0" y="301117"/>
                  </a:moveTo>
                  <a:cubicBezTo>
                    <a:pt x="0" y="134747"/>
                    <a:pt x="135509" y="0"/>
                    <a:pt x="302514" y="0"/>
                  </a:cubicBezTo>
                  <a:lnTo>
                    <a:pt x="22147657" y="0"/>
                  </a:lnTo>
                  <a:lnTo>
                    <a:pt x="22147657" y="8509"/>
                  </a:lnTo>
                  <a:lnTo>
                    <a:pt x="22147657" y="0"/>
                  </a:lnTo>
                  <a:cubicBezTo>
                    <a:pt x="22314663" y="0"/>
                    <a:pt x="22450171" y="134747"/>
                    <a:pt x="22450171" y="301117"/>
                  </a:cubicBezTo>
                  <a:lnTo>
                    <a:pt x="22441663" y="301117"/>
                  </a:lnTo>
                  <a:lnTo>
                    <a:pt x="22450171" y="301117"/>
                  </a:lnTo>
                  <a:lnTo>
                    <a:pt x="22450171" y="2641981"/>
                  </a:lnTo>
                  <a:lnTo>
                    <a:pt x="22441663" y="2641981"/>
                  </a:lnTo>
                  <a:lnTo>
                    <a:pt x="22450171" y="2641981"/>
                  </a:lnTo>
                  <a:cubicBezTo>
                    <a:pt x="22450171" y="2808351"/>
                    <a:pt x="22314663" y="2943098"/>
                    <a:pt x="22147657" y="2943098"/>
                  </a:cubicBezTo>
                  <a:lnTo>
                    <a:pt x="22147657" y="2934589"/>
                  </a:lnTo>
                  <a:lnTo>
                    <a:pt x="22147657" y="2943098"/>
                  </a:lnTo>
                  <a:lnTo>
                    <a:pt x="302514" y="2943098"/>
                  </a:lnTo>
                  <a:lnTo>
                    <a:pt x="302514" y="2934589"/>
                  </a:lnTo>
                  <a:lnTo>
                    <a:pt x="302514" y="2943098"/>
                  </a:lnTo>
                  <a:cubicBezTo>
                    <a:pt x="135509" y="2942971"/>
                    <a:pt x="0" y="2808224"/>
                    <a:pt x="0" y="264198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2641981"/>
                  </a:lnTo>
                  <a:lnTo>
                    <a:pt x="8509" y="2641981"/>
                  </a:lnTo>
                  <a:lnTo>
                    <a:pt x="17018" y="2641981"/>
                  </a:lnTo>
                  <a:cubicBezTo>
                    <a:pt x="17018" y="2798826"/>
                    <a:pt x="144907" y="2926080"/>
                    <a:pt x="302641" y="2926080"/>
                  </a:cubicBezTo>
                  <a:lnTo>
                    <a:pt x="22147657" y="2926080"/>
                  </a:lnTo>
                  <a:cubicBezTo>
                    <a:pt x="22305392" y="2926080"/>
                    <a:pt x="22433280" y="2798826"/>
                    <a:pt x="22433280" y="2641981"/>
                  </a:cubicBezTo>
                  <a:lnTo>
                    <a:pt x="22433280" y="301117"/>
                  </a:lnTo>
                  <a:cubicBezTo>
                    <a:pt x="22433280" y="144272"/>
                    <a:pt x="22305392" y="17018"/>
                    <a:pt x="22147657" y="17018"/>
                  </a:cubicBezTo>
                  <a:lnTo>
                    <a:pt x="302514" y="17018"/>
                  </a:lnTo>
                  <a:lnTo>
                    <a:pt x="302514" y="8509"/>
                  </a:lnTo>
                  <a:lnTo>
                    <a:pt x="302514" y="17018"/>
                  </a:lnTo>
                  <a:cubicBezTo>
                    <a:pt x="144780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8823" y="7668263"/>
            <a:ext cx="135131" cy="2219963"/>
            <a:chOff x="0" y="0"/>
            <a:chExt cx="180175" cy="2959951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146304" cy="2926080"/>
            </a:xfrm>
            <a:custGeom>
              <a:avLst/>
              <a:gdLst/>
              <a:ahLst/>
              <a:cxnLst/>
              <a:rect l="l" t="t" r="r" b="b"/>
              <a:pathLst>
                <a:path w="146304" h="2926080">
                  <a:moveTo>
                    <a:pt x="0" y="0"/>
                  </a:moveTo>
                  <a:lnTo>
                    <a:pt x="146304" y="0"/>
                  </a:lnTo>
                  <a:lnTo>
                    <a:pt x="146304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80086" cy="2959862"/>
            </a:xfrm>
            <a:custGeom>
              <a:avLst/>
              <a:gdLst/>
              <a:ahLst/>
              <a:cxnLst/>
              <a:rect l="l" t="t" r="r" b="b"/>
              <a:pathLst>
                <a:path w="180086" h="295986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2942971"/>
                  </a:lnTo>
                  <a:cubicBezTo>
                    <a:pt x="180086" y="2952369"/>
                    <a:pt x="172466" y="2959862"/>
                    <a:pt x="163195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63195" y="2926080"/>
                  </a:lnTo>
                  <a:lnTo>
                    <a:pt x="163195" y="2942971"/>
                  </a:lnTo>
                  <a:lnTo>
                    <a:pt x="146304" y="29429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" name="Rectangle 2">
            <a:extLst>
              <a:ext uri="{FF2B5EF4-FFF2-40B4-BE49-F238E27FC236}">
                <a16:creationId xmlns:a16="http://schemas.microsoft.com/office/drawing/2014/main" id="{B71451AD-F739-3BB4-F2FC-9B4B4B8EE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9741101"/>
            <a:ext cx="11046614" cy="19482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Confusions principales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Horizontal ↔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Wave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(similarité des mouvements dans des plans proches)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Bend ↔ autres actions dynamiques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(variabilité du geste selon les personnes)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Continuité du mouvement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i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</a:t>
            </a:r>
            <a:r>
              <a:rPr lang="fr-FR" altLang="fr-FR" i="1" dirty="0" err="1">
                <a:latin typeface="Arial" panose="020B0604020202020204" pitchFamily="34" charset="0"/>
              </a:rPr>
              <a:t>bend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↔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(transition naturelle du mouvement vertical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Classes parfaitement reconnues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 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(mouvement régulier et distinct)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Standing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(absence de mouvement → énergie très faible)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Comparaison des modèles :</a:t>
            </a:r>
            <a:b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           </a:t>
            </a:r>
            <a:r>
              <a:rPr kumimoji="0" lang="fr-FR" altLang="fr-FR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montre une précision légèrement supérieure au 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(moins de confusions)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COURBES ROC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4630400" cy="1005840"/>
            <a:chOff x="0" y="0"/>
            <a:chExt cx="195072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507200" cy="1341120"/>
            </a:xfrm>
            <a:custGeom>
              <a:avLst/>
              <a:gdLst/>
              <a:ahLst/>
              <a:cxnLst/>
              <a:rect l="l" t="t" r="r" b="b"/>
              <a:pathLst>
                <a:path w="19507200" h="1341120">
                  <a:moveTo>
                    <a:pt x="0" y="0"/>
                  </a:moveTo>
                  <a:lnTo>
                    <a:pt x="19507200" y="0"/>
                  </a:lnTo>
                  <a:lnTo>
                    <a:pt x="19507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3418" b="-23341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5072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Courbes ROC — One-vs-Rest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5167" y="2169928"/>
            <a:ext cx="7868628" cy="5846559"/>
            <a:chOff x="0" y="0"/>
            <a:chExt cx="10867809" cy="8075015"/>
          </a:xfrm>
        </p:grpSpPr>
        <p:sp>
          <p:nvSpPr>
            <p:cNvPr id="15" name="Freeform 15"/>
            <p:cNvSpPr/>
            <p:nvPr/>
          </p:nvSpPr>
          <p:spPr>
            <a:xfrm>
              <a:off x="8509" y="8787"/>
              <a:ext cx="10850753" cy="8057533"/>
            </a:xfrm>
            <a:custGeom>
              <a:avLst/>
              <a:gdLst/>
              <a:ahLst/>
              <a:cxnLst/>
              <a:rect l="l" t="t" r="r" b="b"/>
              <a:pathLst>
                <a:path w="10850753" h="8057533">
                  <a:moveTo>
                    <a:pt x="0" y="302157"/>
                  </a:moveTo>
                  <a:cubicBezTo>
                    <a:pt x="0" y="135210"/>
                    <a:pt x="131064" y="0"/>
                    <a:pt x="292735" y="0"/>
                  </a:cubicBezTo>
                  <a:lnTo>
                    <a:pt x="10558018" y="0"/>
                  </a:lnTo>
                  <a:cubicBezTo>
                    <a:pt x="10719689" y="0"/>
                    <a:pt x="10850753" y="135341"/>
                    <a:pt x="10850753" y="302157"/>
                  </a:cubicBezTo>
                  <a:lnTo>
                    <a:pt x="10850753" y="7755376"/>
                  </a:lnTo>
                  <a:cubicBezTo>
                    <a:pt x="10850753" y="7922192"/>
                    <a:pt x="10719689" y="8057533"/>
                    <a:pt x="10558018" y="8057533"/>
                  </a:cubicBezTo>
                  <a:lnTo>
                    <a:pt x="292735" y="8057533"/>
                  </a:lnTo>
                  <a:cubicBezTo>
                    <a:pt x="131064" y="8057533"/>
                    <a:pt x="0" y="7922192"/>
                    <a:pt x="0" y="7755376"/>
                  </a:cubicBezTo>
                  <a:close/>
                </a:path>
              </a:pathLst>
            </a:custGeom>
            <a:blipFill>
              <a:blip r:embed="rId4"/>
              <a:stretch>
                <a:fillRect t="-1341" b="-134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10867771" cy="8075104"/>
            </a:xfrm>
            <a:custGeom>
              <a:avLst/>
              <a:gdLst/>
              <a:ahLst/>
              <a:cxnLst/>
              <a:rect l="l" t="t" r="r" b="b"/>
              <a:pathLst>
                <a:path w="10867771" h="8075104">
                  <a:moveTo>
                    <a:pt x="0" y="310944"/>
                  </a:moveTo>
                  <a:cubicBezTo>
                    <a:pt x="0" y="139145"/>
                    <a:pt x="134874" y="0"/>
                    <a:pt x="301244" y="0"/>
                  </a:cubicBezTo>
                  <a:lnTo>
                    <a:pt x="10566527" y="0"/>
                  </a:lnTo>
                  <a:lnTo>
                    <a:pt x="10566527" y="8787"/>
                  </a:lnTo>
                  <a:lnTo>
                    <a:pt x="10566527" y="0"/>
                  </a:lnTo>
                  <a:cubicBezTo>
                    <a:pt x="10732897" y="0"/>
                    <a:pt x="10867771" y="139145"/>
                    <a:pt x="10867771" y="310944"/>
                  </a:cubicBezTo>
                  <a:lnTo>
                    <a:pt x="10859262" y="310944"/>
                  </a:lnTo>
                  <a:lnTo>
                    <a:pt x="10867771" y="310944"/>
                  </a:lnTo>
                  <a:lnTo>
                    <a:pt x="10867771" y="7764163"/>
                  </a:lnTo>
                  <a:lnTo>
                    <a:pt x="10859262" y="7764163"/>
                  </a:lnTo>
                  <a:lnTo>
                    <a:pt x="10867771" y="7764163"/>
                  </a:lnTo>
                  <a:cubicBezTo>
                    <a:pt x="10867771" y="7935832"/>
                    <a:pt x="10732897" y="8075104"/>
                    <a:pt x="10566527" y="8075104"/>
                  </a:cubicBezTo>
                  <a:lnTo>
                    <a:pt x="10566527" y="8066320"/>
                  </a:lnTo>
                  <a:lnTo>
                    <a:pt x="10566527" y="8075104"/>
                  </a:lnTo>
                  <a:lnTo>
                    <a:pt x="301244" y="8075104"/>
                  </a:lnTo>
                  <a:lnTo>
                    <a:pt x="301244" y="8066320"/>
                  </a:lnTo>
                  <a:lnTo>
                    <a:pt x="301244" y="8075104"/>
                  </a:lnTo>
                  <a:cubicBezTo>
                    <a:pt x="134874" y="8074975"/>
                    <a:pt x="0" y="7935831"/>
                    <a:pt x="0" y="7764163"/>
                  </a:cubicBezTo>
                  <a:lnTo>
                    <a:pt x="0" y="310944"/>
                  </a:lnTo>
                  <a:lnTo>
                    <a:pt x="8509" y="310944"/>
                  </a:lnTo>
                  <a:lnTo>
                    <a:pt x="0" y="310944"/>
                  </a:lnTo>
                  <a:moveTo>
                    <a:pt x="16891" y="310944"/>
                  </a:moveTo>
                  <a:lnTo>
                    <a:pt x="16891" y="7764163"/>
                  </a:lnTo>
                  <a:lnTo>
                    <a:pt x="8509" y="7764163"/>
                  </a:lnTo>
                  <a:lnTo>
                    <a:pt x="17018" y="7764163"/>
                  </a:lnTo>
                  <a:cubicBezTo>
                    <a:pt x="17018" y="7926257"/>
                    <a:pt x="144272" y="8057534"/>
                    <a:pt x="301371" y="8057534"/>
                  </a:cubicBezTo>
                  <a:lnTo>
                    <a:pt x="10566527" y="8057534"/>
                  </a:lnTo>
                  <a:cubicBezTo>
                    <a:pt x="10723499" y="8057534"/>
                    <a:pt x="10850880" y="7926126"/>
                    <a:pt x="10850880" y="7764163"/>
                  </a:cubicBezTo>
                  <a:lnTo>
                    <a:pt x="10850880" y="310944"/>
                  </a:lnTo>
                  <a:cubicBezTo>
                    <a:pt x="10850880" y="148849"/>
                    <a:pt x="10723626" y="17573"/>
                    <a:pt x="10566527" y="17573"/>
                  </a:cubicBezTo>
                  <a:lnTo>
                    <a:pt x="301244" y="17573"/>
                  </a:lnTo>
                  <a:lnTo>
                    <a:pt x="301244" y="8787"/>
                  </a:lnTo>
                  <a:lnTo>
                    <a:pt x="301244" y="17573"/>
                  </a:lnTo>
                  <a:cubicBezTo>
                    <a:pt x="144272" y="17442"/>
                    <a:pt x="16891" y="148849"/>
                    <a:pt x="16891" y="310944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31520" y="8156448"/>
            <a:ext cx="8138160" cy="512064"/>
            <a:chOff x="0" y="0"/>
            <a:chExt cx="10850880" cy="6827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850880" cy="682752"/>
            </a:xfrm>
            <a:custGeom>
              <a:avLst/>
              <a:gdLst/>
              <a:ahLst/>
              <a:cxnLst/>
              <a:rect l="l" t="t" r="r" b="b"/>
              <a:pathLst>
                <a:path w="10850880" h="682752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672" b="-25967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8508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3 : AUC &gt; 0.97 pour toutes les 11 classes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94106" y="2169928"/>
            <a:ext cx="7696614" cy="5846559"/>
            <a:chOff x="0" y="0"/>
            <a:chExt cx="10867809" cy="8255486"/>
          </a:xfrm>
        </p:grpSpPr>
        <p:sp>
          <p:nvSpPr>
            <p:cNvPr id="21" name="Freeform 21"/>
            <p:cNvSpPr/>
            <p:nvPr/>
          </p:nvSpPr>
          <p:spPr>
            <a:xfrm>
              <a:off x="8509" y="8983"/>
              <a:ext cx="10850753" cy="8237614"/>
            </a:xfrm>
            <a:custGeom>
              <a:avLst/>
              <a:gdLst/>
              <a:ahLst/>
              <a:cxnLst/>
              <a:rect l="l" t="t" r="r" b="b"/>
              <a:pathLst>
                <a:path w="10850753" h="8237614">
                  <a:moveTo>
                    <a:pt x="0" y="308911"/>
                  </a:moveTo>
                  <a:cubicBezTo>
                    <a:pt x="0" y="138232"/>
                    <a:pt x="131064" y="0"/>
                    <a:pt x="292735" y="0"/>
                  </a:cubicBezTo>
                  <a:lnTo>
                    <a:pt x="10558018" y="0"/>
                  </a:lnTo>
                  <a:cubicBezTo>
                    <a:pt x="10719689" y="0"/>
                    <a:pt x="10850753" y="138366"/>
                    <a:pt x="10850753" y="308911"/>
                  </a:cubicBezTo>
                  <a:lnTo>
                    <a:pt x="10850753" y="7928704"/>
                  </a:lnTo>
                  <a:cubicBezTo>
                    <a:pt x="10850753" y="8099248"/>
                    <a:pt x="10719689" y="8237614"/>
                    <a:pt x="10558018" y="8237614"/>
                  </a:cubicBezTo>
                  <a:lnTo>
                    <a:pt x="292735" y="8237614"/>
                  </a:lnTo>
                  <a:cubicBezTo>
                    <a:pt x="131064" y="8237614"/>
                    <a:pt x="0" y="8099248"/>
                    <a:pt x="0" y="7928704"/>
                  </a:cubicBezTo>
                  <a:close/>
                </a:path>
              </a:pathLst>
            </a:custGeom>
            <a:blipFill>
              <a:blip r:embed="rId5"/>
              <a:stretch>
                <a:fillRect t="-1783" b="-178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0867771" cy="8255576"/>
            </a:xfrm>
            <a:custGeom>
              <a:avLst/>
              <a:gdLst/>
              <a:ahLst/>
              <a:cxnLst/>
              <a:rect l="l" t="t" r="r" b="b"/>
              <a:pathLst>
                <a:path w="10867771" h="8255576">
                  <a:moveTo>
                    <a:pt x="0" y="317894"/>
                  </a:moveTo>
                  <a:cubicBezTo>
                    <a:pt x="0" y="142254"/>
                    <a:pt x="134874" y="0"/>
                    <a:pt x="301244" y="0"/>
                  </a:cubicBezTo>
                  <a:lnTo>
                    <a:pt x="10566527" y="0"/>
                  </a:lnTo>
                  <a:lnTo>
                    <a:pt x="10566527" y="8983"/>
                  </a:lnTo>
                  <a:lnTo>
                    <a:pt x="10566527" y="0"/>
                  </a:lnTo>
                  <a:cubicBezTo>
                    <a:pt x="10732897" y="0"/>
                    <a:pt x="10867771" y="142254"/>
                    <a:pt x="10867771" y="317894"/>
                  </a:cubicBezTo>
                  <a:lnTo>
                    <a:pt x="10859262" y="317894"/>
                  </a:lnTo>
                  <a:lnTo>
                    <a:pt x="10867771" y="317894"/>
                  </a:lnTo>
                  <a:lnTo>
                    <a:pt x="10867771" y="7937687"/>
                  </a:lnTo>
                  <a:lnTo>
                    <a:pt x="10859262" y="7937687"/>
                  </a:lnTo>
                  <a:lnTo>
                    <a:pt x="10867771" y="7937687"/>
                  </a:lnTo>
                  <a:cubicBezTo>
                    <a:pt x="10867771" y="8113192"/>
                    <a:pt x="10732897" y="8255576"/>
                    <a:pt x="10566527" y="8255576"/>
                  </a:cubicBezTo>
                  <a:lnTo>
                    <a:pt x="10566527" y="8246597"/>
                  </a:lnTo>
                  <a:lnTo>
                    <a:pt x="10566527" y="8255576"/>
                  </a:lnTo>
                  <a:lnTo>
                    <a:pt x="301244" y="8255576"/>
                  </a:lnTo>
                  <a:lnTo>
                    <a:pt x="301244" y="8246597"/>
                  </a:lnTo>
                  <a:lnTo>
                    <a:pt x="301244" y="8255576"/>
                  </a:lnTo>
                  <a:cubicBezTo>
                    <a:pt x="134874" y="8255446"/>
                    <a:pt x="0" y="8113192"/>
                    <a:pt x="0" y="7937687"/>
                  </a:cubicBezTo>
                  <a:lnTo>
                    <a:pt x="0" y="317894"/>
                  </a:lnTo>
                  <a:lnTo>
                    <a:pt x="8509" y="317894"/>
                  </a:lnTo>
                  <a:lnTo>
                    <a:pt x="0" y="317894"/>
                  </a:lnTo>
                  <a:moveTo>
                    <a:pt x="16891" y="317894"/>
                  </a:moveTo>
                  <a:lnTo>
                    <a:pt x="16891" y="7937687"/>
                  </a:lnTo>
                  <a:lnTo>
                    <a:pt x="8509" y="7937687"/>
                  </a:lnTo>
                  <a:lnTo>
                    <a:pt x="17018" y="7937687"/>
                  </a:lnTo>
                  <a:cubicBezTo>
                    <a:pt x="17018" y="8103405"/>
                    <a:pt x="144272" y="8237614"/>
                    <a:pt x="301371" y="8237614"/>
                  </a:cubicBezTo>
                  <a:lnTo>
                    <a:pt x="10566527" y="8237614"/>
                  </a:lnTo>
                  <a:cubicBezTo>
                    <a:pt x="10723499" y="8237614"/>
                    <a:pt x="10850880" y="8103271"/>
                    <a:pt x="10850880" y="7937687"/>
                  </a:cubicBezTo>
                  <a:lnTo>
                    <a:pt x="10850880" y="317894"/>
                  </a:lnTo>
                  <a:cubicBezTo>
                    <a:pt x="10850880" y="152176"/>
                    <a:pt x="10723626" y="17966"/>
                    <a:pt x="10566527" y="17966"/>
                  </a:cubicBezTo>
                  <a:lnTo>
                    <a:pt x="301244" y="17966"/>
                  </a:lnTo>
                  <a:lnTo>
                    <a:pt x="301244" y="8983"/>
                  </a:lnTo>
                  <a:lnTo>
                    <a:pt x="301244" y="17966"/>
                  </a:lnTo>
                  <a:cubicBezTo>
                    <a:pt x="144272" y="17832"/>
                    <a:pt x="16891" y="152176"/>
                    <a:pt x="16891" y="317894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418320" y="8156448"/>
            <a:ext cx="8138160" cy="512064"/>
            <a:chOff x="0" y="0"/>
            <a:chExt cx="10850880" cy="68275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850880" cy="682752"/>
            </a:xfrm>
            <a:custGeom>
              <a:avLst/>
              <a:gdLst/>
              <a:ahLst/>
              <a:cxnLst/>
              <a:rect l="l" t="t" r="r" b="b"/>
              <a:pathLst>
                <a:path w="10850880" h="682752">
                  <a:moveTo>
                    <a:pt x="0" y="0"/>
                  </a:moveTo>
                  <a:lnTo>
                    <a:pt x="10850880" y="0"/>
                  </a:lnTo>
                  <a:lnTo>
                    <a:pt x="10850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9672" b="-25967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085088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i="1">
                  <a:solidFill>
                    <a:srgbClr val="6B7A8D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4 : AUC moyen &gt; 0.98 — amélioration sur les classes difficiles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81000" y="8575939"/>
            <a:ext cx="17081765" cy="1621711"/>
            <a:chOff x="0" y="0"/>
            <a:chExt cx="22450209" cy="1601889"/>
          </a:xfrm>
        </p:grpSpPr>
        <p:sp>
          <p:nvSpPr>
            <p:cNvPr id="27" name="Freeform 27"/>
            <p:cNvSpPr/>
            <p:nvPr/>
          </p:nvSpPr>
          <p:spPr>
            <a:xfrm>
              <a:off x="8509" y="8509"/>
              <a:ext cx="22433281" cy="1584960"/>
            </a:xfrm>
            <a:custGeom>
              <a:avLst/>
              <a:gdLst/>
              <a:ahLst/>
              <a:cxnLst/>
              <a:rect l="l" t="t" r="r" b="b"/>
              <a:pathLst>
                <a:path w="22433281" h="1584960">
                  <a:moveTo>
                    <a:pt x="0" y="292608"/>
                  </a:moveTo>
                  <a:cubicBezTo>
                    <a:pt x="0" y="130937"/>
                    <a:pt x="132207" y="0"/>
                    <a:pt x="295529" y="0"/>
                  </a:cubicBezTo>
                  <a:lnTo>
                    <a:pt x="22137752" y="0"/>
                  </a:lnTo>
                  <a:cubicBezTo>
                    <a:pt x="22300946" y="0"/>
                    <a:pt x="22433281" y="131064"/>
                    <a:pt x="22433281" y="292608"/>
                  </a:cubicBezTo>
                  <a:lnTo>
                    <a:pt x="22433281" y="1292352"/>
                  </a:lnTo>
                  <a:cubicBezTo>
                    <a:pt x="22433281" y="1453896"/>
                    <a:pt x="22300946" y="1584960"/>
                    <a:pt x="22137752" y="1584960"/>
                  </a:cubicBezTo>
                  <a:lnTo>
                    <a:pt x="295529" y="1584960"/>
                  </a:lnTo>
                  <a:cubicBezTo>
                    <a:pt x="132207" y="1584960"/>
                    <a:pt x="0" y="1453896"/>
                    <a:pt x="0" y="12923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0" y="0"/>
              <a:ext cx="22450298" cy="1601978"/>
            </a:xfrm>
            <a:custGeom>
              <a:avLst/>
              <a:gdLst/>
              <a:ahLst/>
              <a:cxnLst/>
              <a:rect l="l" t="t" r="r" b="b"/>
              <a:pathLst>
                <a:path w="22450298" h="1601978">
                  <a:moveTo>
                    <a:pt x="0" y="301117"/>
                  </a:moveTo>
                  <a:cubicBezTo>
                    <a:pt x="0" y="134747"/>
                    <a:pt x="136144" y="0"/>
                    <a:pt x="304038" y="0"/>
                  </a:cubicBezTo>
                  <a:lnTo>
                    <a:pt x="22146261" y="0"/>
                  </a:lnTo>
                  <a:lnTo>
                    <a:pt x="22146261" y="8509"/>
                  </a:lnTo>
                  <a:lnTo>
                    <a:pt x="22146261" y="0"/>
                  </a:lnTo>
                  <a:cubicBezTo>
                    <a:pt x="22314027" y="0"/>
                    <a:pt x="22450298" y="134747"/>
                    <a:pt x="22450298" y="301117"/>
                  </a:cubicBezTo>
                  <a:lnTo>
                    <a:pt x="22441790" y="301117"/>
                  </a:lnTo>
                  <a:lnTo>
                    <a:pt x="22450298" y="301117"/>
                  </a:lnTo>
                  <a:lnTo>
                    <a:pt x="22450298" y="1300861"/>
                  </a:lnTo>
                  <a:lnTo>
                    <a:pt x="22441790" y="1300861"/>
                  </a:lnTo>
                  <a:lnTo>
                    <a:pt x="22450298" y="1300861"/>
                  </a:lnTo>
                  <a:cubicBezTo>
                    <a:pt x="22450298" y="1467231"/>
                    <a:pt x="22314154" y="1601978"/>
                    <a:pt x="22146261" y="1601978"/>
                  </a:cubicBezTo>
                  <a:lnTo>
                    <a:pt x="22146261" y="1593469"/>
                  </a:lnTo>
                  <a:lnTo>
                    <a:pt x="22146261" y="1601978"/>
                  </a:lnTo>
                  <a:lnTo>
                    <a:pt x="304038" y="1601978"/>
                  </a:lnTo>
                  <a:lnTo>
                    <a:pt x="304038" y="1593469"/>
                  </a:lnTo>
                  <a:lnTo>
                    <a:pt x="304038" y="1601978"/>
                  </a:lnTo>
                  <a:cubicBezTo>
                    <a:pt x="136144" y="1601851"/>
                    <a:pt x="0" y="1467231"/>
                    <a:pt x="0" y="130086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1300861"/>
                  </a:lnTo>
                  <a:lnTo>
                    <a:pt x="8509" y="1300861"/>
                  </a:lnTo>
                  <a:lnTo>
                    <a:pt x="17018" y="1300861"/>
                  </a:lnTo>
                  <a:cubicBezTo>
                    <a:pt x="17018" y="1457706"/>
                    <a:pt x="145415" y="1584960"/>
                    <a:pt x="304038" y="1584960"/>
                  </a:cubicBezTo>
                  <a:lnTo>
                    <a:pt x="22146261" y="1584960"/>
                  </a:lnTo>
                  <a:cubicBezTo>
                    <a:pt x="22304883" y="1584960"/>
                    <a:pt x="22433280" y="1457706"/>
                    <a:pt x="22433280" y="1300861"/>
                  </a:cubicBezTo>
                  <a:lnTo>
                    <a:pt x="22433280" y="301117"/>
                  </a:lnTo>
                  <a:cubicBezTo>
                    <a:pt x="22433280" y="144272"/>
                    <a:pt x="22304883" y="17018"/>
                    <a:pt x="22146261" y="17018"/>
                  </a:cubicBezTo>
                  <a:lnTo>
                    <a:pt x="304038" y="17018"/>
                  </a:lnTo>
                  <a:lnTo>
                    <a:pt x="304038" y="8509"/>
                  </a:lnTo>
                  <a:lnTo>
                    <a:pt x="304038" y="17018"/>
                  </a:lnTo>
                  <a:cubicBezTo>
                    <a:pt x="145415" y="17018"/>
                    <a:pt x="17018" y="144272"/>
                    <a:pt x="17018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8823" y="8802119"/>
            <a:ext cx="135131" cy="1214123"/>
            <a:chOff x="0" y="0"/>
            <a:chExt cx="180175" cy="1618831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146304" cy="1584960"/>
            </a:xfrm>
            <a:custGeom>
              <a:avLst/>
              <a:gdLst/>
              <a:ahLst/>
              <a:cxnLst/>
              <a:rect l="l" t="t" r="r" b="b"/>
              <a:pathLst>
                <a:path w="146304" h="1584960">
                  <a:moveTo>
                    <a:pt x="0" y="0"/>
                  </a:moveTo>
                  <a:lnTo>
                    <a:pt x="146304" y="0"/>
                  </a:lnTo>
                  <a:lnTo>
                    <a:pt x="146304" y="1584960"/>
                  </a:lnTo>
                  <a:lnTo>
                    <a:pt x="0" y="1584960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0" y="0"/>
              <a:ext cx="180086" cy="1618742"/>
            </a:xfrm>
            <a:custGeom>
              <a:avLst/>
              <a:gdLst/>
              <a:ahLst/>
              <a:cxnLst/>
              <a:rect l="l" t="t" r="r" b="b"/>
              <a:pathLst>
                <a:path w="180086" h="161874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601851"/>
                  </a:lnTo>
                  <a:cubicBezTo>
                    <a:pt x="180086" y="1611249"/>
                    <a:pt x="172466" y="1618742"/>
                    <a:pt x="163195" y="1618742"/>
                  </a:cubicBezTo>
                  <a:lnTo>
                    <a:pt x="16891" y="1618742"/>
                  </a:lnTo>
                  <a:cubicBezTo>
                    <a:pt x="7493" y="1618742"/>
                    <a:pt x="0" y="1611122"/>
                    <a:pt x="0" y="1601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01851"/>
                  </a:lnTo>
                  <a:lnTo>
                    <a:pt x="16891" y="1601851"/>
                  </a:lnTo>
                  <a:lnTo>
                    <a:pt x="16891" y="1584960"/>
                  </a:lnTo>
                  <a:lnTo>
                    <a:pt x="163195" y="1584960"/>
                  </a:lnTo>
                  <a:lnTo>
                    <a:pt x="163195" y="1601851"/>
                  </a:lnTo>
                  <a:lnTo>
                    <a:pt x="146304" y="160185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97217" y="7726795"/>
            <a:ext cx="16093440" cy="1005840"/>
            <a:chOff x="0" y="0"/>
            <a:chExt cx="21457920" cy="134112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1457920" cy="1341120"/>
            </a:xfrm>
            <a:custGeom>
              <a:avLst/>
              <a:gdLst/>
              <a:ahLst/>
              <a:cxnLst/>
              <a:rect l="l" t="t" r="r" b="b"/>
              <a:pathLst>
                <a:path w="21457920" h="1341120">
                  <a:moveTo>
                    <a:pt x="0" y="0"/>
                  </a:moveTo>
                  <a:lnTo>
                    <a:pt x="21457920" y="0"/>
                  </a:lnTo>
                  <a:lnTo>
                    <a:pt x="214579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21457920" cy="13887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endParaRPr lang="en-US" sz="2100" i="1" dirty="0">
                <a:solidFill>
                  <a:srgbClr val="1A1A2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sp>
        <p:nvSpPr>
          <p:cNvPr id="37" name="Rectangle 3">
            <a:extLst>
              <a:ext uri="{FF2B5EF4-FFF2-40B4-BE49-F238E27FC236}">
                <a16:creationId xmlns:a16="http://schemas.microsoft.com/office/drawing/2014/main" id="{58370654-1936-F5BD-25E1-45D5DFB28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7517" y="-8420100"/>
            <a:ext cx="8001000" cy="18805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globale élevée :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Toutes les classes présentent une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AUC &gt; 0.97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(SVM) et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 0.98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fr-FR" altLang="fr-F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Qualité de discrimination :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Les courbes sont proches du </a:t>
            </a: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 supérieur gauche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excellente séparation entre classes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fr-FR" altLang="fr-FR" sz="16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les plus performantes :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Walk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Standing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Clap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(AUC ≈ 1 → reconnaissance quasi parfaite)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Classes légèrement plus difficiles :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Bend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certaines actions similaires (courbes un peu moins proches du maximum)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des modèles :</a:t>
            </a:r>
            <a:b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Forest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améliore légèrement les performances du 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SVM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surtout sur les classes difficiles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DÉMONSTRATION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6459200" cy="1005840"/>
            <a:chOff x="0" y="0"/>
            <a:chExt cx="219456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846" b="-26884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Pipeline temps réel &amp; Interface Streamlit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E48E7A32-0E65-24F8-F668-0A5AB527A4A8}"/>
              </a:ext>
            </a:extLst>
          </p:cNvPr>
          <p:cNvGrpSpPr/>
          <p:nvPr/>
        </p:nvGrpSpPr>
        <p:grpSpPr>
          <a:xfrm>
            <a:off x="1981200" y="7686492"/>
            <a:ext cx="13792200" cy="1991289"/>
            <a:chOff x="688591" y="1907543"/>
            <a:chExt cx="17752057" cy="4499601"/>
          </a:xfrm>
        </p:grpSpPr>
        <p:grpSp>
          <p:nvGrpSpPr>
            <p:cNvPr id="11" name="Group 11"/>
            <p:cNvGrpSpPr/>
            <p:nvPr/>
          </p:nvGrpSpPr>
          <p:grpSpPr>
            <a:xfrm>
              <a:off x="718823" y="1907543"/>
              <a:ext cx="16850297" cy="52770"/>
              <a:chOff x="0" y="0"/>
              <a:chExt cx="22467063" cy="703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6891" y="16891"/>
                <a:ext cx="22433280" cy="36576"/>
              </a:xfrm>
              <a:custGeom>
                <a:avLst/>
                <a:gdLst/>
                <a:ahLst/>
                <a:cxnLst/>
                <a:rect l="l" t="t" r="r" b="b"/>
                <a:pathLst>
                  <a:path w="22433280" h="36576">
                    <a:moveTo>
                      <a:pt x="0" y="0"/>
                    </a:moveTo>
                    <a:lnTo>
                      <a:pt x="22433280" y="0"/>
                    </a:lnTo>
                    <a:lnTo>
                      <a:pt x="22433280" y="36576"/>
                    </a:lnTo>
                    <a:lnTo>
                      <a:pt x="0" y="36576"/>
                    </a:lnTo>
                    <a:close/>
                  </a:path>
                </a:pathLst>
              </a:custGeom>
              <a:solidFill>
                <a:srgbClr val="E8EEF7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0" y="0"/>
                <a:ext cx="22467063" cy="70360"/>
              </a:xfrm>
              <a:custGeom>
                <a:avLst/>
                <a:gdLst/>
                <a:ahLst/>
                <a:cxnLst/>
                <a:rect l="l" t="t" r="r" b="b"/>
                <a:pathLst>
                  <a:path w="22467063" h="70360">
                    <a:moveTo>
                      <a:pt x="16891" y="0"/>
                    </a:moveTo>
                    <a:lnTo>
                      <a:pt x="22450171" y="0"/>
                    </a:lnTo>
                    <a:cubicBezTo>
                      <a:pt x="22459569" y="0"/>
                      <a:pt x="22467063" y="7620"/>
                      <a:pt x="22467063" y="16891"/>
                    </a:cubicBezTo>
                    <a:lnTo>
                      <a:pt x="22467063" y="53467"/>
                    </a:lnTo>
                    <a:cubicBezTo>
                      <a:pt x="22467063" y="62865"/>
                      <a:pt x="22459443" y="70358"/>
                      <a:pt x="22450171" y="70358"/>
                    </a:cubicBezTo>
                    <a:lnTo>
                      <a:pt x="16891" y="70358"/>
                    </a:lnTo>
                    <a:cubicBezTo>
                      <a:pt x="7620" y="70485"/>
                      <a:pt x="0" y="62865"/>
                      <a:pt x="0" y="53467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53467"/>
                    </a:lnTo>
                    <a:lnTo>
                      <a:pt x="16891" y="53467"/>
                    </a:lnTo>
                    <a:lnTo>
                      <a:pt x="16891" y="36576"/>
                    </a:lnTo>
                    <a:lnTo>
                      <a:pt x="22450171" y="36576"/>
                    </a:lnTo>
                    <a:lnTo>
                      <a:pt x="22450171" y="53467"/>
                    </a:lnTo>
                    <a:lnTo>
                      <a:pt x="22433280" y="53467"/>
                    </a:lnTo>
                    <a:lnTo>
                      <a:pt x="22433280" y="16891"/>
                    </a:lnTo>
                    <a:lnTo>
                      <a:pt x="22450171" y="16891"/>
                    </a:lnTo>
                    <a:lnTo>
                      <a:pt x="2245017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E8EEF7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88591" y="2151631"/>
              <a:ext cx="2170681" cy="1750057"/>
              <a:chOff x="0" y="0"/>
              <a:chExt cx="2894241" cy="233340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94944" y="2231136"/>
              <a:ext cx="2157984" cy="512064"/>
              <a:chOff x="0" y="0"/>
              <a:chExt cx="2877312" cy="68275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1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94944" y="2743200"/>
              <a:ext cx="2157984" cy="1060704"/>
              <a:chOff x="0" y="0"/>
              <a:chExt cx="2877312" cy="141427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Kinect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285487" y="2151631"/>
              <a:ext cx="2170681" cy="1750057"/>
              <a:chOff x="0" y="0"/>
              <a:chExt cx="2894241" cy="233340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1840" y="2231136"/>
              <a:ext cx="2157984" cy="512064"/>
              <a:chOff x="0" y="0"/>
              <a:chExt cx="2877312" cy="68275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291840" y="2743200"/>
              <a:ext cx="2157984" cy="1060704"/>
              <a:chOff x="0" y="0"/>
              <a:chExt cx="2877312" cy="141427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Squelette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OpenNI2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882383" y="2151631"/>
              <a:ext cx="2170681" cy="1750057"/>
              <a:chOff x="0" y="0"/>
              <a:chExt cx="2894241" cy="233340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888736" y="2231136"/>
              <a:ext cx="2157984" cy="512064"/>
              <a:chOff x="0" y="0"/>
              <a:chExt cx="2877312" cy="68275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5888736" y="2743200"/>
              <a:ext cx="2157984" cy="1060704"/>
              <a:chOff x="0" y="0"/>
              <a:chExt cx="2877312" cy="141427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Buffer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circulaire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8479279" y="2151631"/>
              <a:ext cx="2170681" cy="1750057"/>
              <a:chOff x="0" y="0"/>
              <a:chExt cx="2894241" cy="233340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485632" y="2231136"/>
              <a:ext cx="2157984" cy="512064"/>
              <a:chOff x="0" y="0"/>
              <a:chExt cx="2877312" cy="682752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8485632" y="2743200"/>
              <a:ext cx="2157984" cy="1060704"/>
              <a:chOff x="0" y="0"/>
              <a:chExt cx="2877312" cy="1414272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Feature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Eng.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11076175" y="2151631"/>
              <a:ext cx="2170681" cy="1750057"/>
              <a:chOff x="0" y="0"/>
              <a:chExt cx="2894241" cy="2333409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4" name="Freeform 64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11082528" y="2231136"/>
              <a:ext cx="2157984" cy="512064"/>
              <a:chOff x="0" y="0"/>
              <a:chExt cx="2877312" cy="682752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11082528" y="2743200"/>
              <a:ext cx="2157984" cy="1060704"/>
              <a:chOff x="0" y="0"/>
              <a:chExt cx="2877312" cy="1414272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Scaler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13673071" y="2151631"/>
              <a:ext cx="2170681" cy="1750057"/>
              <a:chOff x="0" y="0"/>
              <a:chExt cx="2894241" cy="2333409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6" name="Freeform 76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13679424" y="2231136"/>
              <a:ext cx="2157984" cy="512064"/>
              <a:chOff x="0" y="0"/>
              <a:chExt cx="2877312" cy="682752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509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3679424" y="2743200"/>
              <a:ext cx="2157984" cy="1060704"/>
              <a:chOff x="0" y="0"/>
              <a:chExt cx="2877312" cy="1414272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RF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Predict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16269967" y="2151631"/>
              <a:ext cx="2170681" cy="1750057"/>
              <a:chOff x="0" y="0"/>
              <a:chExt cx="2894241" cy="2333409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8509" y="8509"/>
                <a:ext cx="2877185" cy="2316480"/>
              </a:xfrm>
              <a:custGeom>
                <a:avLst/>
                <a:gdLst/>
                <a:ahLst/>
                <a:cxnLst/>
                <a:rect l="l" t="t" r="r" b="b"/>
                <a:pathLst>
                  <a:path w="2877185" h="2316480">
                    <a:moveTo>
                      <a:pt x="0" y="292608"/>
                    </a:moveTo>
                    <a:cubicBezTo>
                      <a:pt x="0" y="130937"/>
                      <a:pt x="131191" y="0"/>
                      <a:pt x="292989" y="0"/>
                    </a:cubicBezTo>
                    <a:lnTo>
                      <a:pt x="2584196" y="0"/>
                    </a:lnTo>
                    <a:cubicBezTo>
                      <a:pt x="2745994" y="0"/>
                      <a:pt x="2877185" y="131064"/>
                      <a:pt x="2877185" y="292608"/>
                    </a:cubicBezTo>
                    <a:lnTo>
                      <a:pt x="2877185" y="2023872"/>
                    </a:lnTo>
                    <a:cubicBezTo>
                      <a:pt x="2877185" y="2185543"/>
                      <a:pt x="2745994" y="2316480"/>
                      <a:pt x="2584196" y="2316480"/>
                    </a:cubicBezTo>
                    <a:lnTo>
                      <a:pt x="292989" y="2316480"/>
                    </a:lnTo>
                    <a:cubicBezTo>
                      <a:pt x="131191" y="2316480"/>
                      <a:pt x="0" y="2185416"/>
                      <a:pt x="0" y="2023872"/>
                    </a:cubicBezTo>
                    <a:close/>
                  </a:path>
                </a:pathLst>
              </a:custGeom>
              <a:solidFill>
                <a:srgbClr val="EBF7F0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88" name="Freeform 88"/>
              <p:cNvSpPr/>
              <p:nvPr/>
            </p:nvSpPr>
            <p:spPr>
              <a:xfrm>
                <a:off x="0" y="0"/>
                <a:ext cx="2894203" cy="2333498"/>
              </a:xfrm>
              <a:custGeom>
                <a:avLst/>
                <a:gdLst/>
                <a:ahLst/>
                <a:cxnLst/>
                <a:rect l="l" t="t" r="r" b="b"/>
                <a:pathLst>
                  <a:path w="2894203" h="2333498">
                    <a:moveTo>
                      <a:pt x="0" y="301117"/>
                    </a:moveTo>
                    <a:cubicBezTo>
                      <a:pt x="0" y="134747"/>
                      <a:pt x="135001" y="0"/>
                      <a:pt x="301498" y="0"/>
                    </a:cubicBezTo>
                    <a:lnTo>
                      <a:pt x="2592705" y="0"/>
                    </a:lnTo>
                    <a:lnTo>
                      <a:pt x="2592705" y="8509"/>
                    </a:lnTo>
                    <a:lnTo>
                      <a:pt x="2592705" y="0"/>
                    </a:lnTo>
                    <a:cubicBezTo>
                      <a:pt x="2759202" y="0"/>
                      <a:pt x="2894203" y="134747"/>
                      <a:pt x="2894203" y="301117"/>
                    </a:cubicBezTo>
                    <a:lnTo>
                      <a:pt x="2885694" y="301117"/>
                    </a:lnTo>
                    <a:lnTo>
                      <a:pt x="2894203" y="301117"/>
                    </a:lnTo>
                    <a:lnTo>
                      <a:pt x="2894203" y="2032381"/>
                    </a:lnTo>
                    <a:lnTo>
                      <a:pt x="2885694" y="2032381"/>
                    </a:lnTo>
                    <a:lnTo>
                      <a:pt x="2894203" y="2032381"/>
                    </a:lnTo>
                    <a:cubicBezTo>
                      <a:pt x="2894203" y="2198624"/>
                      <a:pt x="2759202" y="2333498"/>
                      <a:pt x="2592705" y="2333498"/>
                    </a:cubicBezTo>
                    <a:lnTo>
                      <a:pt x="2592705" y="2324989"/>
                    </a:lnTo>
                    <a:lnTo>
                      <a:pt x="2592705" y="2333498"/>
                    </a:lnTo>
                    <a:lnTo>
                      <a:pt x="301498" y="2333498"/>
                    </a:lnTo>
                    <a:lnTo>
                      <a:pt x="301498" y="2324989"/>
                    </a:lnTo>
                    <a:lnTo>
                      <a:pt x="301498" y="2333498"/>
                    </a:lnTo>
                    <a:cubicBezTo>
                      <a:pt x="135001" y="2333371"/>
                      <a:pt x="0" y="2198624"/>
                      <a:pt x="0" y="20323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032381"/>
                    </a:lnTo>
                    <a:lnTo>
                      <a:pt x="8509" y="2032381"/>
                    </a:lnTo>
                    <a:lnTo>
                      <a:pt x="17018" y="2032381"/>
                    </a:lnTo>
                    <a:cubicBezTo>
                      <a:pt x="17018" y="2189353"/>
                      <a:pt x="144399" y="2316480"/>
                      <a:pt x="301625" y="2316480"/>
                    </a:cubicBezTo>
                    <a:lnTo>
                      <a:pt x="2592705" y="2316480"/>
                    </a:lnTo>
                    <a:cubicBezTo>
                      <a:pt x="2749931" y="2316480"/>
                      <a:pt x="2877312" y="2189226"/>
                      <a:pt x="2877312" y="2032381"/>
                    </a:cubicBezTo>
                    <a:lnTo>
                      <a:pt x="2877312" y="301117"/>
                    </a:lnTo>
                    <a:cubicBezTo>
                      <a:pt x="2877312" y="144145"/>
                      <a:pt x="2749931" y="17018"/>
                      <a:pt x="2592705" y="17018"/>
                    </a:cubicBezTo>
                    <a:lnTo>
                      <a:pt x="301498" y="17018"/>
                    </a:lnTo>
                    <a:lnTo>
                      <a:pt x="301498" y="8509"/>
                    </a:lnTo>
                    <a:lnTo>
                      <a:pt x="301498" y="17018"/>
                    </a:lnTo>
                    <a:cubicBezTo>
                      <a:pt x="144272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89" name="Group 89"/>
            <p:cNvGrpSpPr/>
            <p:nvPr/>
          </p:nvGrpSpPr>
          <p:grpSpPr>
            <a:xfrm>
              <a:off x="16276320" y="2231136"/>
              <a:ext cx="2157984" cy="512064"/>
              <a:chOff x="0" y="0"/>
              <a:chExt cx="2877312" cy="682752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0" y="0"/>
                <a:ext cx="2877312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68275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2115" b="-32115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1" name="TextBox 91"/>
              <p:cNvSpPr txBox="1"/>
              <p:nvPr/>
            </p:nvSpPr>
            <p:spPr>
              <a:xfrm>
                <a:off x="0" y="-38100"/>
                <a:ext cx="2877312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2E8B57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7</a:t>
                </a:r>
              </a:p>
            </p:txBody>
          </p:sp>
        </p:grpSp>
        <p:grpSp>
          <p:nvGrpSpPr>
            <p:cNvPr id="92" name="Group 92"/>
            <p:cNvGrpSpPr/>
            <p:nvPr/>
          </p:nvGrpSpPr>
          <p:grpSpPr>
            <a:xfrm>
              <a:off x="16276320" y="2743200"/>
              <a:ext cx="2157984" cy="1060704"/>
              <a:chOff x="0" y="0"/>
              <a:chExt cx="2877312" cy="141427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2877312" cy="1414272"/>
              </a:xfrm>
              <a:custGeom>
                <a:avLst/>
                <a:gdLst/>
                <a:ahLst/>
                <a:cxnLst/>
                <a:rect l="l" t="t" r="r" b="b"/>
                <a:pathLst>
                  <a:path w="2877312" h="1414272">
                    <a:moveTo>
                      <a:pt x="0" y="0"/>
                    </a:moveTo>
                    <a:lnTo>
                      <a:pt x="2877312" y="0"/>
                    </a:lnTo>
                    <a:lnTo>
                      <a:pt x="2877312" y="1414272"/>
                    </a:lnTo>
                    <a:lnTo>
                      <a:pt x="0" y="141427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13064" r="-13064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0" y="-38100"/>
                <a:ext cx="2877312" cy="145237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Streamlit</a:t>
                </a:r>
              </a:p>
              <a:p>
                <a:pPr algn="ctr">
                  <a:lnSpc>
                    <a:spcPts val="2160"/>
                  </a:lnSpc>
                </a:pPr>
                <a:r>
                  <a:rPr lang="en-US" sz="1800">
                    <a:solidFill>
                      <a:srgbClr val="1A1A2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UI</a:t>
                </a: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A82E5ED4-2F1C-2E2A-16A6-926F917D4E23}"/>
                </a:ext>
              </a:extLst>
            </p:cNvPr>
            <p:cNvGrpSpPr/>
            <p:nvPr/>
          </p:nvGrpSpPr>
          <p:grpSpPr>
            <a:xfrm>
              <a:off x="725167" y="2986535"/>
              <a:ext cx="15508995" cy="3420609"/>
              <a:chOff x="725167" y="2986535"/>
              <a:chExt cx="15508995" cy="3420609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2895095" y="2986535"/>
                <a:ext cx="354587" cy="80267"/>
                <a:chOff x="0" y="0"/>
                <a:chExt cx="472783" cy="10702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25" name="Freeform 25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5491991" y="2986535"/>
                <a:ext cx="354587" cy="80267"/>
                <a:chOff x="0" y="0"/>
                <a:chExt cx="472783" cy="107023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8088887" y="2986535"/>
                <a:ext cx="354587" cy="80267"/>
                <a:chOff x="0" y="0"/>
                <a:chExt cx="472783" cy="107023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9" name="Freeform 49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59" name="Group 59"/>
              <p:cNvGrpSpPr/>
              <p:nvPr/>
            </p:nvGrpSpPr>
            <p:grpSpPr>
              <a:xfrm>
                <a:off x="10685783" y="2986535"/>
                <a:ext cx="354587" cy="80267"/>
                <a:chOff x="0" y="0"/>
                <a:chExt cx="472783" cy="107023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71" name="Group 71"/>
              <p:cNvGrpSpPr/>
              <p:nvPr/>
            </p:nvGrpSpPr>
            <p:grpSpPr>
              <a:xfrm>
                <a:off x="13282679" y="2986535"/>
                <a:ext cx="354587" cy="80267"/>
                <a:chOff x="0" y="0"/>
                <a:chExt cx="472783" cy="107023"/>
              </a:xfrm>
            </p:grpSpPr>
            <p:sp>
              <p:nvSpPr>
                <p:cNvPr id="72" name="Freeform 72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3" name="Freeform 73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83" name="Group 83"/>
              <p:cNvGrpSpPr/>
              <p:nvPr/>
            </p:nvGrpSpPr>
            <p:grpSpPr>
              <a:xfrm>
                <a:off x="15879575" y="2986535"/>
                <a:ext cx="354587" cy="80267"/>
                <a:chOff x="0" y="0"/>
                <a:chExt cx="472783" cy="107023"/>
              </a:xfrm>
            </p:grpSpPr>
            <p:sp>
              <p:nvSpPr>
                <p:cNvPr id="84" name="Freeform 84"/>
                <p:cNvSpPr/>
                <p:nvPr/>
              </p:nvSpPr>
              <p:spPr>
                <a:xfrm>
                  <a:off x="16891" y="16891"/>
                  <a:ext cx="438912" cy="731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8912" h="73152">
                      <a:moveTo>
                        <a:pt x="0" y="0"/>
                      </a:moveTo>
                      <a:lnTo>
                        <a:pt x="438912" y="0"/>
                      </a:lnTo>
                      <a:lnTo>
                        <a:pt x="438912" y="73152"/>
                      </a:lnTo>
                      <a:lnTo>
                        <a:pt x="0" y="73152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85" name="Freeform 85"/>
                <p:cNvSpPr/>
                <p:nvPr/>
              </p:nvSpPr>
              <p:spPr>
                <a:xfrm>
                  <a:off x="0" y="0"/>
                  <a:ext cx="472694" cy="1069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94" h="106936">
                      <a:moveTo>
                        <a:pt x="16891" y="0"/>
                      </a:moveTo>
                      <a:lnTo>
                        <a:pt x="455803" y="0"/>
                      </a:lnTo>
                      <a:cubicBezTo>
                        <a:pt x="465201" y="0"/>
                        <a:pt x="472694" y="7620"/>
                        <a:pt x="472694" y="16891"/>
                      </a:cubicBezTo>
                      <a:lnTo>
                        <a:pt x="472694" y="90043"/>
                      </a:lnTo>
                      <a:cubicBezTo>
                        <a:pt x="472694" y="99441"/>
                        <a:pt x="465074" y="106934"/>
                        <a:pt x="455803" y="106934"/>
                      </a:cubicBezTo>
                      <a:lnTo>
                        <a:pt x="16891" y="106934"/>
                      </a:lnTo>
                      <a:cubicBezTo>
                        <a:pt x="7620" y="107061"/>
                        <a:pt x="0" y="99441"/>
                        <a:pt x="0" y="90043"/>
                      </a:cubicBezTo>
                      <a:lnTo>
                        <a:pt x="0" y="16891"/>
                      </a:lnTo>
                      <a:cubicBezTo>
                        <a:pt x="0" y="7620"/>
                        <a:pt x="7620" y="0"/>
                        <a:pt x="16891" y="0"/>
                      </a:cubicBezTo>
                      <a:moveTo>
                        <a:pt x="16891" y="33909"/>
                      </a:moveTo>
                      <a:lnTo>
                        <a:pt x="16891" y="16891"/>
                      </a:lnTo>
                      <a:lnTo>
                        <a:pt x="33909" y="16891"/>
                      </a:lnTo>
                      <a:lnTo>
                        <a:pt x="33909" y="90043"/>
                      </a:lnTo>
                      <a:lnTo>
                        <a:pt x="16891" y="90043"/>
                      </a:lnTo>
                      <a:lnTo>
                        <a:pt x="16891" y="73152"/>
                      </a:lnTo>
                      <a:lnTo>
                        <a:pt x="455803" y="73152"/>
                      </a:lnTo>
                      <a:lnTo>
                        <a:pt x="455803" y="90043"/>
                      </a:lnTo>
                      <a:lnTo>
                        <a:pt x="438912" y="90043"/>
                      </a:lnTo>
                      <a:lnTo>
                        <a:pt x="438912" y="16891"/>
                      </a:lnTo>
                      <a:lnTo>
                        <a:pt x="455803" y="16891"/>
                      </a:lnTo>
                      <a:lnTo>
                        <a:pt x="455803" y="33909"/>
                      </a:lnTo>
                      <a:lnTo>
                        <a:pt x="16891" y="33909"/>
                      </a:lnTo>
                      <a:close/>
                    </a:path>
                  </a:pathLst>
                </a:custGeom>
                <a:solidFill>
                  <a:srgbClr val="2E5090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95" name="Group 95"/>
              <p:cNvGrpSpPr/>
              <p:nvPr/>
            </p:nvGrpSpPr>
            <p:grpSpPr>
              <a:xfrm>
                <a:off x="725167" y="4199887"/>
                <a:ext cx="3944617" cy="2207257"/>
                <a:chOff x="0" y="0"/>
                <a:chExt cx="5259489" cy="2943009"/>
              </a:xfrm>
            </p:grpSpPr>
            <p:sp>
              <p:nvSpPr>
                <p:cNvPr id="96" name="Freeform 96"/>
                <p:cNvSpPr/>
                <p:nvPr/>
              </p:nvSpPr>
              <p:spPr>
                <a:xfrm>
                  <a:off x="8509" y="8509"/>
                  <a:ext cx="5242560" cy="292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2926080">
                      <a:moveTo>
                        <a:pt x="0" y="292608"/>
                      </a:moveTo>
                      <a:cubicBezTo>
                        <a:pt x="0" y="130937"/>
                        <a:pt x="131318" y="0"/>
                        <a:pt x="293370" y="0"/>
                      </a:cubicBezTo>
                      <a:lnTo>
                        <a:pt x="4949190" y="0"/>
                      </a:lnTo>
                      <a:cubicBezTo>
                        <a:pt x="5111242" y="0"/>
                        <a:pt x="5242560" y="131064"/>
                        <a:pt x="5242560" y="292608"/>
                      </a:cubicBezTo>
                      <a:lnTo>
                        <a:pt x="5242560" y="2633472"/>
                      </a:lnTo>
                      <a:cubicBezTo>
                        <a:pt x="5242560" y="2795016"/>
                        <a:pt x="5111242" y="2926080"/>
                        <a:pt x="4949190" y="2926080"/>
                      </a:cubicBezTo>
                      <a:lnTo>
                        <a:pt x="293370" y="2926080"/>
                      </a:lnTo>
                      <a:cubicBezTo>
                        <a:pt x="131318" y="2926080"/>
                        <a:pt x="0" y="2795016"/>
                        <a:pt x="0" y="26334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7" name="Freeform 97"/>
                <p:cNvSpPr/>
                <p:nvPr/>
              </p:nvSpPr>
              <p:spPr>
                <a:xfrm>
                  <a:off x="0" y="0"/>
                  <a:ext cx="5259578" cy="29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9578" h="2943098">
                      <a:moveTo>
                        <a:pt x="0" y="301117"/>
                      </a:moveTo>
                      <a:cubicBezTo>
                        <a:pt x="0" y="134747"/>
                        <a:pt x="135128" y="0"/>
                        <a:pt x="301879" y="0"/>
                      </a:cubicBezTo>
                      <a:lnTo>
                        <a:pt x="4957699" y="0"/>
                      </a:lnTo>
                      <a:lnTo>
                        <a:pt x="4957699" y="8509"/>
                      </a:lnTo>
                      <a:lnTo>
                        <a:pt x="4957699" y="0"/>
                      </a:lnTo>
                      <a:cubicBezTo>
                        <a:pt x="5124323" y="0"/>
                        <a:pt x="5259578" y="134747"/>
                        <a:pt x="5259578" y="301117"/>
                      </a:cubicBezTo>
                      <a:lnTo>
                        <a:pt x="5251069" y="301117"/>
                      </a:lnTo>
                      <a:lnTo>
                        <a:pt x="5259578" y="301117"/>
                      </a:lnTo>
                      <a:lnTo>
                        <a:pt x="5259578" y="2641981"/>
                      </a:lnTo>
                      <a:lnTo>
                        <a:pt x="5251069" y="2641981"/>
                      </a:lnTo>
                      <a:lnTo>
                        <a:pt x="5259578" y="2641981"/>
                      </a:lnTo>
                      <a:cubicBezTo>
                        <a:pt x="5259578" y="2808224"/>
                        <a:pt x="5124450" y="2943098"/>
                        <a:pt x="4957699" y="2943098"/>
                      </a:cubicBezTo>
                      <a:lnTo>
                        <a:pt x="4957699" y="2934589"/>
                      </a:lnTo>
                      <a:lnTo>
                        <a:pt x="4957699" y="2943098"/>
                      </a:lnTo>
                      <a:lnTo>
                        <a:pt x="301879" y="2943098"/>
                      </a:lnTo>
                      <a:lnTo>
                        <a:pt x="301879" y="2934589"/>
                      </a:lnTo>
                      <a:lnTo>
                        <a:pt x="301879" y="2943098"/>
                      </a:lnTo>
                      <a:cubicBezTo>
                        <a:pt x="135128" y="2942971"/>
                        <a:pt x="0" y="2808224"/>
                        <a:pt x="0" y="2641981"/>
                      </a:cubicBezTo>
                      <a:lnTo>
                        <a:pt x="0" y="301117"/>
                      </a:lnTo>
                      <a:lnTo>
                        <a:pt x="8509" y="301117"/>
                      </a:lnTo>
                      <a:lnTo>
                        <a:pt x="0" y="301117"/>
                      </a:lnTo>
                      <a:moveTo>
                        <a:pt x="16891" y="301117"/>
                      </a:moveTo>
                      <a:lnTo>
                        <a:pt x="16891" y="2641981"/>
                      </a:lnTo>
                      <a:lnTo>
                        <a:pt x="8509" y="2641981"/>
                      </a:lnTo>
                      <a:lnTo>
                        <a:pt x="17018" y="2641981"/>
                      </a:lnTo>
                      <a:cubicBezTo>
                        <a:pt x="17018" y="2798826"/>
                        <a:pt x="144526" y="2926080"/>
                        <a:pt x="301879" y="2926080"/>
                      </a:cubicBezTo>
                      <a:lnTo>
                        <a:pt x="4957699" y="2926080"/>
                      </a:lnTo>
                      <a:cubicBezTo>
                        <a:pt x="5115052" y="2926080"/>
                        <a:pt x="5242560" y="2798826"/>
                        <a:pt x="5242560" y="2641981"/>
                      </a:cubicBezTo>
                      <a:lnTo>
                        <a:pt x="5242560" y="301117"/>
                      </a:lnTo>
                      <a:cubicBezTo>
                        <a:pt x="5242560" y="144272"/>
                        <a:pt x="5115052" y="17018"/>
                        <a:pt x="4957699" y="17018"/>
                      </a:cubicBezTo>
                      <a:lnTo>
                        <a:pt x="301879" y="17018"/>
                      </a:lnTo>
                      <a:lnTo>
                        <a:pt x="301879" y="8509"/>
                      </a:lnTo>
                      <a:lnTo>
                        <a:pt x="301879" y="17018"/>
                      </a:lnTo>
                      <a:cubicBezTo>
                        <a:pt x="144399" y="16891"/>
                        <a:pt x="16891" y="144145"/>
                        <a:pt x="16891" y="301117"/>
                      </a:cubicBezTo>
                      <a:close/>
                    </a:path>
                  </a:pathLst>
                </a:custGeom>
                <a:solidFill>
                  <a:srgbClr val="D8E2E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98" name="Group 98"/>
              <p:cNvGrpSpPr/>
              <p:nvPr/>
            </p:nvGrpSpPr>
            <p:grpSpPr>
              <a:xfrm>
                <a:off x="731520" y="4352544"/>
                <a:ext cx="3931920" cy="950976"/>
                <a:chOff x="0" y="0"/>
                <a:chExt cx="5242560" cy="1267968"/>
              </a:xfrm>
            </p:grpSpPr>
            <p:sp>
              <p:nvSpPr>
                <p:cNvPr id="99" name="Freeform 99"/>
                <p:cNvSpPr/>
                <p:nvPr/>
              </p:nvSpPr>
              <p:spPr>
                <a:xfrm>
                  <a:off x="0" y="0"/>
                  <a:ext cx="5242560" cy="126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1267968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1267968"/>
                      </a:lnTo>
                      <a:lnTo>
                        <a:pt x="0" y="1267968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30563" b="-30563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0" name="TextBox 100"/>
                <p:cNvSpPr txBox="1"/>
                <p:nvPr/>
              </p:nvSpPr>
              <p:spPr>
                <a:xfrm>
                  <a:off x="0" y="-114300"/>
                  <a:ext cx="5242560" cy="1382268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6719"/>
                    </a:lnSpc>
                  </a:pPr>
                  <a:r>
                    <a:rPr lang="en-US" sz="5599" b="1">
                      <a:solidFill>
                        <a:srgbClr val="2E509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30</a:t>
                  </a:r>
                </a:p>
              </p:txBody>
            </p:sp>
          </p:grpSp>
          <p:grpSp>
            <p:nvGrpSpPr>
              <p:cNvPr id="101" name="Group 101"/>
              <p:cNvGrpSpPr/>
              <p:nvPr/>
            </p:nvGrpSpPr>
            <p:grpSpPr>
              <a:xfrm>
                <a:off x="731520" y="5303520"/>
                <a:ext cx="3931920" cy="512064"/>
                <a:chOff x="0" y="0"/>
                <a:chExt cx="5242560" cy="682752"/>
              </a:xfrm>
            </p:grpSpPr>
            <p:sp>
              <p:nvSpPr>
                <p:cNvPr id="102" name="Freeform 102"/>
                <p:cNvSpPr/>
                <p:nvPr/>
              </p:nvSpPr>
              <p:spPr>
                <a:xfrm>
                  <a:off x="0" y="0"/>
                  <a:ext cx="5242560" cy="682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82752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82752"/>
                      </a:lnTo>
                      <a:lnTo>
                        <a:pt x="0" y="682752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99617" b="-99617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3" name="TextBox 103"/>
                <p:cNvSpPr txBox="1"/>
                <p:nvPr/>
              </p:nvSpPr>
              <p:spPr>
                <a:xfrm>
                  <a:off x="0" y="-38100"/>
                  <a:ext cx="5242560" cy="720852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400"/>
                    </a:lnSpc>
                  </a:pPr>
                  <a:r>
                    <a:rPr lang="en-US" sz="2000" b="1">
                      <a:solidFill>
                        <a:srgbClr val="1A1A2E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frames / fenêtre</a:t>
                  </a:r>
                </a:p>
              </p:txBody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731520" y="5815584"/>
                <a:ext cx="3931920" cy="475488"/>
                <a:chOff x="0" y="0"/>
                <a:chExt cx="5242560" cy="633984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0" y="0"/>
                  <a:ext cx="5242560" cy="633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33984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33984"/>
                      </a:lnTo>
                      <a:lnTo>
                        <a:pt x="0" y="633984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111126" b="-111126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6" name="TextBox 106"/>
                <p:cNvSpPr txBox="1"/>
                <p:nvPr/>
              </p:nvSpPr>
              <p:spPr>
                <a:xfrm>
                  <a:off x="0" y="-38100"/>
                  <a:ext cx="5242560" cy="6720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160"/>
                    </a:lnSpc>
                  </a:pPr>
                  <a:r>
                    <a:rPr lang="en-US" sz="1800" i="1">
                      <a:solidFill>
                        <a:srgbClr val="6B7A8D"/>
                      </a:solidFill>
                      <a:latin typeface="Calibri (MS) Italics"/>
                      <a:ea typeface="Calibri (MS) Italics"/>
                      <a:cs typeface="Calibri (MS) Italics"/>
                      <a:sym typeface="Calibri (MS) Italics"/>
                    </a:rPr>
                    <a:t>1 seconde @ 30 Hz</a:t>
                  </a:r>
                </a:p>
              </p:txBody>
            </p:sp>
          </p:grpSp>
          <p:grpSp>
            <p:nvGrpSpPr>
              <p:cNvPr id="107" name="Group 107"/>
              <p:cNvGrpSpPr/>
              <p:nvPr/>
            </p:nvGrpSpPr>
            <p:grpSpPr>
              <a:xfrm>
                <a:off x="5114287" y="4199887"/>
                <a:ext cx="3944617" cy="2207257"/>
                <a:chOff x="0" y="0"/>
                <a:chExt cx="5259489" cy="2943009"/>
              </a:xfrm>
            </p:grpSpPr>
            <p:sp>
              <p:nvSpPr>
                <p:cNvPr id="108" name="Freeform 108"/>
                <p:cNvSpPr/>
                <p:nvPr/>
              </p:nvSpPr>
              <p:spPr>
                <a:xfrm>
                  <a:off x="8509" y="8509"/>
                  <a:ext cx="5242560" cy="292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2926080">
                      <a:moveTo>
                        <a:pt x="0" y="292608"/>
                      </a:moveTo>
                      <a:cubicBezTo>
                        <a:pt x="0" y="130937"/>
                        <a:pt x="131318" y="0"/>
                        <a:pt x="293370" y="0"/>
                      </a:cubicBezTo>
                      <a:lnTo>
                        <a:pt x="4949190" y="0"/>
                      </a:lnTo>
                      <a:cubicBezTo>
                        <a:pt x="5111242" y="0"/>
                        <a:pt x="5242560" y="131064"/>
                        <a:pt x="5242560" y="292608"/>
                      </a:cubicBezTo>
                      <a:lnTo>
                        <a:pt x="5242560" y="2633472"/>
                      </a:lnTo>
                      <a:cubicBezTo>
                        <a:pt x="5242560" y="2795016"/>
                        <a:pt x="5111242" y="2926080"/>
                        <a:pt x="4949190" y="2926080"/>
                      </a:cubicBezTo>
                      <a:lnTo>
                        <a:pt x="293370" y="2926080"/>
                      </a:lnTo>
                      <a:cubicBezTo>
                        <a:pt x="131318" y="2926080"/>
                        <a:pt x="0" y="2795016"/>
                        <a:pt x="0" y="26334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9" name="Freeform 109"/>
                <p:cNvSpPr/>
                <p:nvPr/>
              </p:nvSpPr>
              <p:spPr>
                <a:xfrm>
                  <a:off x="0" y="0"/>
                  <a:ext cx="5259578" cy="29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9578" h="2943098">
                      <a:moveTo>
                        <a:pt x="0" y="301117"/>
                      </a:moveTo>
                      <a:cubicBezTo>
                        <a:pt x="0" y="134747"/>
                        <a:pt x="135128" y="0"/>
                        <a:pt x="301879" y="0"/>
                      </a:cubicBezTo>
                      <a:lnTo>
                        <a:pt x="4957699" y="0"/>
                      </a:lnTo>
                      <a:lnTo>
                        <a:pt x="4957699" y="8509"/>
                      </a:lnTo>
                      <a:lnTo>
                        <a:pt x="4957699" y="0"/>
                      </a:lnTo>
                      <a:cubicBezTo>
                        <a:pt x="5124323" y="0"/>
                        <a:pt x="5259578" y="134747"/>
                        <a:pt x="5259578" y="301117"/>
                      </a:cubicBezTo>
                      <a:lnTo>
                        <a:pt x="5251069" y="301117"/>
                      </a:lnTo>
                      <a:lnTo>
                        <a:pt x="5259578" y="301117"/>
                      </a:lnTo>
                      <a:lnTo>
                        <a:pt x="5259578" y="2641981"/>
                      </a:lnTo>
                      <a:lnTo>
                        <a:pt x="5251069" y="2641981"/>
                      </a:lnTo>
                      <a:lnTo>
                        <a:pt x="5259578" y="2641981"/>
                      </a:lnTo>
                      <a:cubicBezTo>
                        <a:pt x="5259578" y="2808224"/>
                        <a:pt x="5124450" y="2943098"/>
                        <a:pt x="4957699" y="2943098"/>
                      </a:cubicBezTo>
                      <a:lnTo>
                        <a:pt x="4957699" y="2934589"/>
                      </a:lnTo>
                      <a:lnTo>
                        <a:pt x="4957699" y="2943098"/>
                      </a:lnTo>
                      <a:lnTo>
                        <a:pt x="301879" y="2943098"/>
                      </a:lnTo>
                      <a:lnTo>
                        <a:pt x="301879" y="2934589"/>
                      </a:lnTo>
                      <a:lnTo>
                        <a:pt x="301879" y="2943098"/>
                      </a:lnTo>
                      <a:cubicBezTo>
                        <a:pt x="135128" y="2942971"/>
                        <a:pt x="0" y="2808224"/>
                        <a:pt x="0" y="2641981"/>
                      </a:cubicBezTo>
                      <a:lnTo>
                        <a:pt x="0" y="301117"/>
                      </a:lnTo>
                      <a:lnTo>
                        <a:pt x="8509" y="301117"/>
                      </a:lnTo>
                      <a:lnTo>
                        <a:pt x="0" y="301117"/>
                      </a:lnTo>
                      <a:moveTo>
                        <a:pt x="16891" y="301117"/>
                      </a:moveTo>
                      <a:lnTo>
                        <a:pt x="16891" y="2641981"/>
                      </a:lnTo>
                      <a:lnTo>
                        <a:pt x="8509" y="2641981"/>
                      </a:lnTo>
                      <a:lnTo>
                        <a:pt x="17018" y="2641981"/>
                      </a:lnTo>
                      <a:cubicBezTo>
                        <a:pt x="17018" y="2798826"/>
                        <a:pt x="144526" y="2926080"/>
                        <a:pt x="301879" y="2926080"/>
                      </a:cubicBezTo>
                      <a:lnTo>
                        <a:pt x="4957699" y="2926080"/>
                      </a:lnTo>
                      <a:cubicBezTo>
                        <a:pt x="5115052" y="2926080"/>
                        <a:pt x="5242560" y="2798826"/>
                        <a:pt x="5242560" y="2641981"/>
                      </a:cubicBezTo>
                      <a:lnTo>
                        <a:pt x="5242560" y="301117"/>
                      </a:lnTo>
                      <a:cubicBezTo>
                        <a:pt x="5242560" y="144272"/>
                        <a:pt x="5115052" y="17018"/>
                        <a:pt x="4957699" y="17018"/>
                      </a:cubicBezTo>
                      <a:lnTo>
                        <a:pt x="301879" y="17018"/>
                      </a:lnTo>
                      <a:lnTo>
                        <a:pt x="301879" y="8509"/>
                      </a:lnTo>
                      <a:lnTo>
                        <a:pt x="301879" y="17018"/>
                      </a:lnTo>
                      <a:cubicBezTo>
                        <a:pt x="144399" y="16891"/>
                        <a:pt x="16891" y="144145"/>
                        <a:pt x="16891" y="301117"/>
                      </a:cubicBezTo>
                      <a:close/>
                    </a:path>
                  </a:pathLst>
                </a:custGeom>
                <a:solidFill>
                  <a:srgbClr val="D8E2E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10" name="Group 110"/>
              <p:cNvGrpSpPr/>
              <p:nvPr/>
            </p:nvGrpSpPr>
            <p:grpSpPr>
              <a:xfrm>
                <a:off x="5120640" y="4352544"/>
                <a:ext cx="3931920" cy="950976"/>
                <a:chOff x="0" y="0"/>
                <a:chExt cx="5242560" cy="1267968"/>
              </a:xfrm>
            </p:grpSpPr>
            <p:sp>
              <p:nvSpPr>
                <p:cNvPr id="111" name="Freeform 111"/>
                <p:cNvSpPr/>
                <p:nvPr/>
              </p:nvSpPr>
              <p:spPr>
                <a:xfrm>
                  <a:off x="0" y="0"/>
                  <a:ext cx="5242560" cy="126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1267968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1267968"/>
                      </a:lnTo>
                      <a:lnTo>
                        <a:pt x="0" y="1267968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30563" b="-30563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2" name="TextBox 112"/>
                <p:cNvSpPr txBox="1"/>
                <p:nvPr/>
              </p:nvSpPr>
              <p:spPr>
                <a:xfrm>
                  <a:off x="0" y="-114300"/>
                  <a:ext cx="5242560" cy="1382268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6719"/>
                    </a:lnSpc>
                  </a:pPr>
                  <a:r>
                    <a:rPr lang="en-US" sz="5599" b="1">
                      <a:solidFill>
                        <a:srgbClr val="2E8B57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&lt;2ms</a:t>
                  </a:r>
                </a:p>
              </p:txBody>
            </p:sp>
          </p:grpSp>
          <p:grpSp>
            <p:nvGrpSpPr>
              <p:cNvPr id="113" name="Group 113"/>
              <p:cNvGrpSpPr/>
              <p:nvPr/>
            </p:nvGrpSpPr>
            <p:grpSpPr>
              <a:xfrm>
                <a:off x="5120640" y="5303520"/>
                <a:ext cx="3931920" cy="512064"/>
                <a:chOff x="0" y="0"/>
                <a:chExt cx="5242560" cy="682752"/>
              </a:xfrm>
            </p:grpSpPr>
            <p:sp>
              <p:nvSpPr>
                <p:cNvPr id="114" name="Freeform 114"/>
                <p:cNvSpPr/>
                <p:nvPr/>
              </p:nvSpPr>
              <p:spPr>
                <a:xfrm>
                  <a:off x="0" y="0"/>
                  <a:ext cx="5242560" cy="682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82752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82752"/>
                      </a:lnTo>
                      <a:lnTo>
                        <a:pt x="0" y="682752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99617" b="-99617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5" name="TextBox 115"/>
                <p:cNvSpPr txBox="1"/>
                <p:nvPr/>
              </p:nvSpPr>
              <p:spPr>
                <a:xfrm>
                  <a:off x="0" y="-38100"/>
                  <a:ext cx="5242560" cy="720852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400"/>
                    </a:lnSpc>
                  </a:pPr>
                  <a:r>
                    <a:rPr lang="en-US" sz="2000" b="1">
                      <a:solidFill>
                        <a:srgbClr val="1A1A2E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par inférence</a:t>
                  </a:r>
                </a:p>
              </p:txBody>
            </p:sp>
          </p:grpSp>
          <p:grpSp>
            <p:nvGrpSpPr>
              <p:cNvPr id="116" name="Group 116"/>
              <p:cNvGrpSpPr/>
              <p:nvPr/>
            </p:nvGrpSpPr>
            <p:grpSpPr>
              <a:xfrm>
                <a:off x="5120640" y="5815584"/>
                <a:ext cx="3931920" cy="475488"/>
                <a:chOff x="0" y="0"/>
                <a:chExt cx="5242560" cy="633984"/>
              </a:xfrm>
            </p:grpSpPr>
            <p:sp>
              <p:nvSpPr>
                <p:cNvPr id="117" name="Freeform 117"/>
                <p:cNvSpPr/>
                <p:nvPr/>
              </p:nvSpPr>
              <p:spPr>
                <a:xfrm>
                  <a:off x="0" y="0"/>
                  <a:ext cx="5242560" cy="633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33984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33984"/>
                      </a:lnTo>
                      <a:lnTo>
                        <a:pt x="0" y="633984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111126" b="-111126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18" name="TextBox 118"/>
                <p:cNvSpPr txBox="1"/>
                <p:nvPr/>
              </p:nvSpPr>
              <p:spPr>
                <a:xfrm>
                  <a:off x="0" y="-38100"/>
                  <a:ext cx="5242560" cy="6720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160"/>
                    </a:lnSpc>
                  </a:pPr>
                  <a:r>
                    <a:rPr lang="en-US" sz="1800" i="1">
                      <a:solidFill>
                        <a:srgbClr val="6B7A8D"/>
                      </a:solidFill>
                      <a:latin typeface="Calibri (MS) Italics"/>
                      <a:ea typeface="Calibri (MS) Italics"/>
                      <a:cs typeface="Calibri (MS) Italics"/>
                      <a:sym typeface="Calibri (MS) Italics"/>
                    </a:rPr>
                    <a:t>Random Forest</a:t>
                  </a:r>
                </a:p>
              </p:txBody>
            </p:sp>
          </p:grpSp>
          <p:grpSp>
            <p:nvGrpSpPr>
              <p:cNvPr id="119" name="Group 119"/>
              <p:cNvGrpSpPr/>
              <p:nvPr/>
            </p:nvGrpSpPr>
            <p:grpSpPr>
              <a:xfrm>
                <a:off x="9503407" y="4199887"/>
                <a:ext cx="3944617" cy="2207257"/>
                <a:chOff x="0" y="0"/>
                <a:chExt cx="5259489" cy="2943009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8509" y="8509"/>
                  <a:ext cx="5242560" cy="292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2926080">
                      <a:moveTo>
                        <a:pt x="0" y="292608"/>
                      </a:moveTo>
                      <a:cubicBezTo>
                        <a:pt x="0" y="130937"/>
                        <a:pt x="131318" y="0"/>
                        <a:pt x="293370" y="0"/>
                      </a:cubicBezTo>
                      <a:lnTo>
                        <a:pt x="4949190" y="0"/>
                      </a:lnTo>
                      <a:cubicBezTo>
                        <a:pt x="5111242" y="0"/>
                        <a:pt x="5242560" y="131064"/>
                        <a:pt x="5242560" y="292608"/>
                      </a:cubicBezTo>
                      <a:lnTo>
                        <a:pt x="5242560" y="2633472"/>
                      </a:lnTo>
                      <a:cubicBezTo>
                        <a:pt x="5242560" y="2795016"/>
                        <a:pt x="5111242" y="2926080"/>
                        <a:pt x="4949190" y="2926080"/>
                      </a:cubicBezTo>
                      <a:lnTo>
                        <a:pt x="293370" y="2926080"/>
                      </a:lnTo>
                      <a:cubicBezTo>
                        <a:pt x="131318" y="2926080"/>
                        <a:pt x="0" y="2795016"/>
                        <a:pt x="0" y="26334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21" name="Freeform 121"/>
                <p:cNvSpPr/>
                <p:nvPr/>
              </p:nvSpPr>
              <p:spPr>
                <a:xfrm>
                  <a:off x="0" y="0"/>
                  <a:ext cx="5259578" cy="2943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9578" h="2943098">
                      <a:moveTo>
                        <a:pt x="0" y="301117"/>
                      </a:moveTo>
                      <a:cubicBezTo>
                        <a:pt x="0" y="134747"/>
                        <a:pt x="135128" y="0"/>
                        <a:pt x="301879" y="0"/>
                      </a:cubicBezTo>
                      <a:lnTo>
                        <a:pt x="4957699" y="0"/>
                      </a:lnTo>
                      <a:lnTo>
                        <a:pt x="4957699" y="8509"/>
                      </a:lnTo>
                      <a:lnTo>
                        <a:pt x="4957699" y="0"/>
                      </a:lnTo>
                      <a:cubicBezTo>
                        <a:pt x="5124323" y="0"/>
                        <a:pt x="5259578" y="134747"/>
                        <a:pt x="5259578" y="301117"/>
                      </a:cubicBezTo>
                      <a:lnTo>
                        <a:pt x="5251069" y="301117"/>
                      </a:lnTo>
                      <a:lnTo>
                        <a:pt x="5259578" y="301117"/>
                      </a:lnTo>
                      <a:lnTo>
                        <a:pt x="5259578" y="2641981"/>
                      </a:lnTo>
                      <a:lnTo>
                        <a:pt x="5251069" y="2641981"/>
                      </a:lnTo>
                      <a:lnTo>
                        <a:pt x="5259578" y="2641981"/>
                      </a:lnTo>
                      <a:cubicBezTo>
                        <a:pt x="5259578" y="2808224"/>
                        <a:pt x="5124450" y="2943098"/>
                        <a:pt x="4957699" y="2943098"/>
                      </a:cubicBezTo>
                      <a:lnTo>
                        <a:pt x="4957699" y="2934589"/>
                      </a:lnTo>
                      <a:lnTo>
                        <a:pt x="4957699" y="2943098"/>
                      </a:lnTo>
                      <a:lnTo>
                        <a:pt x="301879" y="2943098"/>
                      </a:lnTo>
                      <a:lnTo>
                        <a:pt x="301879" y="2934589"/>
                      </a:lnTo>
                      <a:lnTo>
                        <a:pt x="301879" y="2943098"/>
                      </a:lnTo>
                      <a:cubicBezTo>
                        <a:pt x="135128" y="2942971"/>
                        <a:pt x="0" y="2808224"/>
                        <a:pt x="0" y="2641981"/>
                      </a:cubicBezTo>
                      <a:lnTo>
                        <a:pt x="0" y="301117"/>
                      </a:lnTo>
                      <a:lnTo>
                        <a:pt x="8509" y="301117"/>
                      </a:lnTo>
                      <a:lnTo>
                        <a:pt x="0" y="301117"/>
                      </a:lnTo>
                      <a:moveTo>
                        <a:pt x="16891" y="301117"/>
                      </a:moveTo>
                      <a:lnTo>
                        <a:pt x="16891" y="2641981"/>
                      </a:lnTo>
                      <a:lnTo>
                        <a:pt x="8509" y="2641981"/>
                      </a:lnTo>
                      <a:lnTo>
                        <a:pt x="17018" y="2641981"/>
                      </a:lnTo>
                      <a:cubicBezTo>
                        <a:pt x="17018" y="2798826"/>
                        <a:pt x="144526" y="2926080"/>
                        <a:pt x="301879" y="2926080"/>
                      </a:cubicBezTo>
                      <a:lnTo>
                        <a:pt x="4957699" y="2926080"/>
                      </a:lnTo>
                      <a:cubicBezTo>
                        <a:pt x="5115052" y="2926080"/>
                        <a:pt x="5242560" y="2798826"/>
                        <a:pt x="5242560" y="2641981"/>
                      </a:cubicBezTo>
                      <a:lnTo>
                        <a:pt x="5242560" y="301117"/>
                      </a:lnTo>
                      <a:cubicBezTo>
                        <a:pt x="5242560" y="144272"/>
                        <a:pt x="5115052" y="17018"/>
                        <a:pt x="4957699" y="17018"/>
                      </a:cubicBezTo>
                      <a:lnTo>
                        <a:pt x="301879" y="17018"/>
                      </a:lnTo>
                      <a:lnTo>
                        <a:pt x="301879" y="8509"/>
                      </a:lnTo>
                      <a:lnTo>
                        <a:pt x="301879" y="17018"/>
                      </a:lnTo>
                      <a:cubicBezTo>
                        <a:pt x="144399" y="16891"/>
                        <a:pt x="16891" y="144145"/>
                        <a:pt x="16891" y="301117"/>
                      </a:cubicBezTo>
                      <a:close/>
                    </a:path>
                  </a:pathLst>
                </a:custGeom>
                <a:solidFill>
                  <a:srgbClr val="D8E2EF"/>
                </a:solidFill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22" name="Group 122"/>
              <p:cNvGrpSpPr/>
              <p:nvPr/>
            </p:nvGrpSpPr>
            <p:grpSpPr>
              <a:xfrm>
                <a:off x="9509760" y="4352544"/>
                <a:ext cx="3931920" cy="950976"/>
                <a:chOff x="0" y="0"/>
                <a:chExt cx="5242560" cy="1267968"/>
              </a:xfrm>
            </p:grpSpPr>
            <p:sp>
              <p:nvSpPr>
                <p:cNvPr id="123" name="Freeform 123"/>
                <p:cNvSpPr/>
                <p:nvPr/>
              </p:nvSpPr>
              <p:spPr>
                <a:xfrm>
                  <a:off x="0" y="0"/>
                  <a:ext cx="5242560" cy="12679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1267968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1267968"/>
                      </a:lnTo>
                      <a:lnTo>
                        <a:pt x="0" y="1267968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30563" b="-30563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24" name="TextBox 124"/>
                <p:cNvSpPr txBox="1"/>
                <p:nvPr/>
              </p:nvSpPr>
              <p:spPr>
                <a:xfrm>
                  <a:off x="0" y="-114300"/>
                  <a:ext cx="5242560" cy="1382268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6719"/>
                    </a:lnSpc>
                  </a:pPr>
                  <a:r>
                    <a:rPr lang="en-US" sz="5599" b="1" dirty="0">
                      <a:solidFill>
                        <a:srgbClr val="2E509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3 Hz</a:t>
                  </a:r>
                </a:p>
              </p:txBody>
            </p:sp>
          </p:grpSp>
          <p:grpSp>
            <p:nvGrpSpPr>
              <p:cNvPr id="125" name="Group 125"/>
              <p:cNvGrpSpPr/>
              <p:nvPr/>
            </p:nvGrpSpPr>
            <p:grpSpPr>
              <a:xfrm>
                <a:off x="9509760" y="5303520"/>
                <a:ext cx="3931920" cy="512064"/>
                <a:chOff x="0" y="0"/>
                <a:chExt cx="5242560" cy="682752"/>
              </a:xfrm>
            </p:grpSpPr>
            <p:sp>
              <p:nvSpPr>
                <p:cNvPr id="126" name="Freeform 126"/>
                <p:cNvSpPr/>
                <p:nvPr/>
              </p:nvSpPr>
              <p:spPr>
                <a:xfrm>
                  <a:off x="0" y="0"/>
                  <a:ext cx="5242560" cy="682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82752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82752"/>
                      </a:lnTo>
                      <a:lnTo>
                        <a:pt x="0" y="682752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99617" b="-99617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27" name="TextBox 127"/>
                <p:cNvSpPr txBox="1"/>
                <p:nvPr/>
              </p:nvSpPr>
              <p:spPr>
                <a:xfrm>
                  <a:off x="0" y="-38100"/>
                  <a:ext cx="5242560" cy="720852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400"/>
                    </a:lnSpc>
                  </a:pPr>
                  <a:r>
                    <a:rPr lang="en-US" sz="2000" b="1">
                      <a:solidFill>
                        <a:srgbClr val="1A1A2E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rafraîchissement</a:t>
                  </a:r>
                </a:p>
              </p:txBody>
            </p:sp>
          </p:grpSp>
          <p:grpSp>
            <p:nvGrpSpPr>
              <p:cNvPr id="128" name="Group 128"/>
              <p:cNvGrpSpPr/>
              <p:nvPr/>
            </p:nvGrpSpPr>
            <p:grpSpPr>
              <a:xfrm>
                <a:off x="9509760" y="5815584"/>
                <a:ext cx="3931920" cy="475488"/>
                <a:chOff x="0" y="0"/>
                <a:chExt cx="5242560" cy="633984"/>
              </a:xfrm>
            </p:grpSpPr>
            <p:sp>
              <p:nvSpPr>
                <p:cNvPr id="129" name="Freeform 129"/>
                <p:cNvSpPr/>
                <p:nvPr/>
              </p:nvSpPr>
              <p:spPr>
                <a:xfrm>
                  <a:off x="0" y="0"/>
                  <a:ext cx="5242560" cy="6339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42560" h="633984">
                      <a:moveTo>
                        <a:pt x="0" y="0"/>
                      </a:moveTo>
                      <a:lnTo>
                        <a:pt x="5242560" y="0"/>
                      </a:lnTo>
                      <a:lnTo>
                        <a:pt x="5242560" y="633984"/>
                      </a:lnTo>
                      <a:lnTo>
                        <a:pt x="0" y="633984"/>
                      </a:lnTo>
                      <a:close/>
                    </a:path>
                  </a:pathLst>
                </a:custGeom>
                <a:blipFill>
                  <a:blip r:embed="rId3">
                    <a:alphaModFix amt="0"/>
                  </a:blip>
                  <a:stretch>
                    <a:fillRect t="-111126" b="-111126"/>
                  </a:stretch>
                </a:blipFill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30" name="TextBox 130"/>
                <p:cNvSpPr txBox="1"/>
                <p:nvPr/>
              </p:nvSpPr>
              <p:spPr>
                <a:xfrm>
                  <a:off x="0" y="-38100"/>
                  <a:ext cx="5242560" cy="6720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>
                    <a:lnSpc>
                      <a:spcPts val="2160"/>
                    </a:lnSpc>
                  </a:pPr>
                  <a:r>
                    <a:rPr lang="en-US" sz="1800" i="1">
                      <a:solidFill>
                        <a:srgbClr val="6B7A8D"/>
                      </a:solidFill>
                      <a:latin typeface="Calibri (MS) Italics"/>
                      <a:ea typeface="Calibri (MS) Italics"/>
                      <a:cs typeface="Calibri (MS) Italics"/>
                      <a:sym typeface="Calibri (MS) Italics"/>
                    </a:rPr>
                    <a:t>stride = 10 frames</a:t>
                  </a:r>
                </a:p>
              </p:txBody>
            </p:sp>
          </p:grpSp>
        </p:grpSp>
        <p:grpSp>
          <p:nvGrpSpPr>
            <p:cNvPr id="131" name="Group 131"/>
            <p:cNvGrpSpPr/>
            <p:nvPr/>
          </p:nvGrpSpPr>
          <p:grpSpPr>
            <a:xfrm>
              <a:off x="13892527" y="4199887"/>
              <a:ext cx="3944617" cy="2207257"/>
              <a:chOff x="0" y="0"/>
              <a:chExt cx="5259489" cy="2943009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8509" y="8509"/>
                <a:ext cx="5242560" cy="2926080"/>
              </a:xfrm>
              <a:custGeom>
                <a:avLst/>
                <a:gdLst/>
                <a:ahLst/>
                <a:cxnLst/>
                <a:rect l="l" t="t" r="r" b="b"/>
                <a:pathLst>
                  <a:path w="5242560" h="2926080">
                    <a:moveTo>
                      <a:pt x="0" y="292608"/>
                    </a:moveTo>
                    <a:cubicBezTo>
                      <a:pt x="0" y="130937"/>
                      <a:pt x="131318" y="0"/>
                      <a:pt x="293370" y="0"/>
                    </a:cubicBezTo>
                    <a:lnTo>
                      <a:pt x="4949190" y="0"/>
                    </a:lnTo>
                    <a:cubicBezTo>
                      <a:pt x="5111242" y="0"/>
                      <a:pt x="5242560" y="131064"/>
                      <a:pt x="5242560" y="292608"/>
                    </a:cubicBezTo>
                    <a:lnTo>
                      <a:pt x="5242560" y="2633472"/>
                    </a:lnTo>
                    <a:cubicBezTo>
                      <a:pt x="5242560" y="2795016"/>
                      <a:pt x="5111242" y="2926080"/>
                      <a:pt x="4949190" y="2926080"/>
                    </a:cubicBezTo>
                    <a:lnTo>
                      <a:pt x="293370" y="2926080"/>
                    </a:lnTo>
                    <a:cubicBezTo>
                      <a:pt x="131318" y="2926080"/>
                      <a:pt x="0" y="2795016"/>
                      <a:pt x="0" y="2633472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Freeform 133"/>
              <p:cNvSpPr/>
              <p:nvPr/>
            </p:nvSpPr>
            <p:spPr>
              <a:xfrm>
                <a:off x="0" y="0"/>
                <a:ext cx="5259578" cy="2943098"/>
              </a:xfrm>
              <a:custGeom>
                <a:avLst/>
                <a:gdLst/>
                <a:ahLst/>
                <a:cxnLst/>
                <a:rect l="l" t="t" r="r" b="b"/>
                <a:pathLst>
                  <a:path w="5259578" h="2943098">
                    <a:moveTo>
                      <a:pt x="0" y="301117"/>
                    </a:moveTo>
                    <a:cubicBezTo>
                      <a:pt x="0" y="134747"/>
                      <a:pt x="135128" y="0"/>
                      <a:pt x="301879" y="0"/>
                    </a:cubicBezTo>
                    <a:lnTo>
                      <a:pt x="4957699" y="0"/>
                    </a:lnTo>
                    <a:lnTo>
                      <a:pt x="4957699" y="8509"/>
                    </a:lnTo>
                    <a:lnTo>
                      <a:pt x="4957699" y="0"/>
                    </a:lnTo>
                    <a:cubicBezTo>
                      <a:pt x="5124323" y="0"/>
                      <a:pt x="5259578" y="134747"/>
                      <a:pt x="5259578" y="301117"/>
                    </a:cubicBezTo>
                    <a:lnTo>
                      <a:pt x="5251069" y="301117"/>
                    </a:lnTo>
                    <a:lnTo>
                      <a:pt x="5259578" y="301117"/>
                    </a:lnTo>
                    <a:lnTo>
                      <a:pt x="5259578" y="2641981"/>
                    </a:lnTo>
                    <a:lnTo>
                      <a:pt x="5251069" y="2641981"/>
                    </a:lnTo>
                    <a:lnTo>
                      <a:pt x="5259578" y="2641981"/>
                    </a:lnTo>
                    <a:cubicBezTo>
                      <a:pt x="5259578" y="2808224"/>
                      <a:pt x="5124450" y="2943098"/>
                      <a:pt x="4957699" y="2943098"/>
                    </a:cubicBezTo>
                    <a:lnTo>
                      <a:pt x="4957699" y="2934589"/>
                    </a:lnTo>
                    <a:lnTo>
                      <a:pt x="4957699" y="2943098"/>
                    </a:lnTo>
                    <a:lnTo>
                      <a:pt x="301879" y="2943098"/>
                    </a:lnTo>
                    <a:lnTo>
                      <a:pt x="301879" y="2934589"/>
                    </a:lnTo>
                    <a:lnTo>
                      <a:pt x="301879" y="2943098"/>
                    </a:lnTo>
                    <a:cubicBezTo>
                      <a:pt x="135128" y="2942971"/>
                      <a:pt x="0" y="2808224"/>
                      <a:pt x="0" y="2641981"/>
                    </a:cubicBezTo>
                    <a:lnTo>
                      <a:pt x="0" y="301117"/>
                    </a:lnTo>
                    <a:lnTo>
                      <a:pt x="8509" y="301117"/>
                    </a:lnTo>
                    <a:lnTo>
                      <a:pt x="0" y="301117"/>
                    </a:lnTo>
                    <a:moveTo>
                      <a:pt x="16891" y="301117"/>
                    </a:moveTo>
                    <a:lnTo>
                      <a:pt x="16891" y="2641981"/>
                    </a:lnTo>
                    <a:lnTo>
                      <a:pt x="8509" y="2641981"/>
                    </a:lnTo>
                    <a:lnTo>
                      <a:pt x="17018" y="2641981"/>
                    </a:lnTo>
                    <a:cubicBezTo>
                      <a:pt x="17018" y="2798826"/>
                      <a:pt x="144526" y="2926080"/>
                      <a:pt x="301879" y="2926080"/>
                    </a:cubicBezTo>
                    <a:lnTo>
                      <a:pt x="4957699" y="2926080"/>
                    </a:lnTo>
                    <a:cubicBezTo>
                      <a:pt x="5115052" y="2926080"/>
                      <a:pt x="5242560" y="2798826"/>
                      <a:pt x="5242560" y="2641981"/>
                    </a:cubicBezTo>
                    <a:lnTo>
                      <a:pt x="5242560" y="301117"/>
                    </a:lnTo>
                    <a:cubicBezTo>
                      <a:pt x="5242560" y="144272"/>
                      <a:pt x="5115052" y="17018"/>
                      <a:pt x="4957699" y="17018"/>
                    </a:cubicBezTo>
                    <a:lnTo>
                      <a:pt x="301879" y="17018"/>
                    </a:lnTo>
                    <a:lnTo>
                      <a:pt x="301879" y="8509"/>
                    </a:lnTo>
                    <a:lnTo>
                      <a:pt x="301879" y="17018"/>
                    </a:lnTo>
                    <a:cubicBezTo>
                      <a:pt x="144399" y="16891"/>
                      <a:pt x="16891" y="144145"/>
                      <a:pt x="16891" y="301117"/>
                    </a:cubicBezTo>
                    <a:close/>
                  </a:path>
                </a:pathLst>
              </a:custGeom>
              <a:solidFill>
                <a:srgbClr val="D8E2EF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13670280" y="4228166"/>
              <a:ext cx="4160520" cy="1075354"/>
              <a:chOff x="-304800" y="-165837"/>
              <a:chExt cx="5547360" cy="1433805"/>
            </a:xfrm>
          </p:grpSpPr>
          <p:sp>
            <p:nvSpPr>
              <p:cNvPr id="135" name="Freeform 135"/>
              <p:cNvSpPr/>
              <p:nvPr/>
            </p:nvSpPr>
            <p:spPr>
              <a:xfrm>
                <a:off x="-304800" y="-165837"/>
                <a:ext cx="5242560" cy="1267968"/>
              </a:xfrm>
              <a:custGeom>
                <a:avLst/>
                <a:gdLst/>
                <a:ahLst/>
                <a:cxnLst/>
                <a:rect l="l" t="t" r="r" b="b"/>
                <a:pathLst>
                  <a:path w="5242560" h="1267968">
                    <a:moveTo>
                      <a:pt x="0" y="0"/>
                    </a:moveTo>
                    <a:lnTo>
                      <a:pt x="5242560" y="0"/>
                    </a:lnTo>
                    <a:lnTo>
                      <a:pt x="5242560" y="1267968"/>
                    </a:lnTo>
                    <a:lnTo>
                      <a:pt x="0" y="126796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30563" b="-30563"/>
                </a:stretch>
              </a:blipFill>
            </p:spPr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136" name="TextBox 136"/>
              <p:cNvSpPr txBox="1"/>
              <p:nvPr/>
            </p:nvSpPr>
            <p:spPr>
              <a:xfrm>
                <a:off x="0" y="-114300"/>
                <a:ext cx="5242560" cy="138226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6719"/>
                  </a:lnSpc>
                </a:pPr>
                <a:r>
                  <a:rPr lang="en-US" sz="5599" b="1" dirty="0">
                    <a:solidFill>
                      <a:srgbClr val="C44E52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Top-11</a:t>
                </a:r>
              </a:p>
            </p:txBody>
          </p:sp>
        </p:grpSp>
        <p:grpSp>
          <p:nvGrpSpPr>
            <p:cNvPr id="137" name="Group 137"/>
            <p:cNvGrpSpPr/>
            <p:nvPr/>
          </p:nvGrpSpPr>
          <p:grpSpPr>
            <a:xfrm>
              <a:off x="13898880" y="5303520"/>
              <a:ext cx="3931920" cy="512064"/>
              <a:chOff x="0" y="0"/>
              <a:chExt cx="5242560" cy="682752"/>
            </a:xfrm>
          </p:grpSpPr>
          <p:sp>
            <p:nvSpPr>
              <p:cNvPr id="138" name="Freeform 138"/>
              <p:cNvSpPr/>
              <p:nvPr/>
            </p:nvSpPr>
            <p:spPr>
              <a:xfrm>
                <a:off x="0" y="0"/>
                <a:ext cx="5242560" cy="682752"/>
              </a:xfrm>
              <a:custGeom>
                <a:avLst/>
                <a:gdLst/>
                <a:ahLst/>
                <a:cxnLst/>
                <a:rect l="l" t="t" r="r" b="b"/>
                <a:pathLst>
                  <a:path w="5242560" h="682752">
                    <a:moveTo>
                      <a:pt x="0" y="0"/>
                    </a:moveTo>
                    <a:lnTo>
                      <a:pt x="5242560" y="0"/>
                    </a:lnTo>
                    <a:lnTo>
                      <a:pt x="5242560" y="682752"/>
                    </a:lnTo>
                    <a:lnTo>
                      <a:pt x="0" y="68275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99617" b="-99617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TextBox 139"/>
              <p:cNvSpPr txBox="1"/>
              <p:nvPr/>
            </p:nvSpPr>
            <p:spPr>
              <a:xfrm>
                <a:off x="0" y="-38100"/>
                <a:ext cx="5242560" cy="72085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400"/>
                  </a:lnSpc>
                </a:pPr>
                <a:r>
                  <a:rPr lang="en-US" sz="2000" b="1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probabilités</a:t>
                </a:r>
              </a:p>
            </p:txBody>
          </p:sp>
        </p:grpSp>
        <p:grpSp>
          <p:nvGrpSpPr>
            <p:cNvPr id="140" name="Group 140"/>
            <p:cNvGrpSpPr/>
            <p:nvPr/>
          </p:nvGrpSpPr>
          <p:grpSpPr>
            <a:xfrm>
              <a:off x="13898880" y="5815584"/>
              <a:ext cx="3931920" cy="475488"/>
              <a:chOff x="0" y="0"/>
              <a:chExt cx="5242560" cy="633984"/>
            </a:xfrm>
          </p:grpSpPr>
          <p:sp>
            <p:nvSpPr>
              <p:cNvPr id="141" name="Freeform 141"/>
              <p:cNvSpPr/>
              <p:nvPr/>
            </p:nvSpPr>
            <p:spPr>
              <a:xfrm>
                <a:off x="0" y="0"/>
                <a:ext cx="5242560" cy="633984"/>
              </a:xfrm>
              <a:custGeom>
                <a:avLst/>
                <a:gdLst/>
                <a:ahLst/>
                <a:cxnLst/>
                <a:rect l="l" t="t" r="r" b="b"/>
                <a:pathLst>
                  <a:path w="5242560" h="633984">
                    <a:moveTo>
                      <a:pt x="0" y="0"/>
                    </a:moveTo>
                    <a:lnTo>
                      <a:pt x="5242560" y="0"/>
                    </a:lnTo>
                    <a:lnTo>
                      <a:pt x="5242560" y="633984"/>
                    </a:lnTo>
                    <a:lnTo>
                      <a:pt x="0" y="6339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1126" b="-111126"/>
                </a:stretch>
              </a:blipFill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TextBox 142"/>
              <p:cNvSpPr txBox="1"/>
              <p:nvPr/>
            </p:nvSpPr>
            <p:spPr>
              <a:xfrm>
                <a:off x="0" y="-38100"/>
                <a:ext cx="5242560" cy="672084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1800" i="1">
                    <a:solidFill>
                      <a:srgbClr val="6B7A8D"/>
                    </a:solidFill>
                    <a:latin typeface="Calibri (MS) Italics"/>
                    <a:ea typeface="Calibri (MS) Italics"/>
                    <a:cs typeface="Calibri (MS) Italics"/>
                    <a:sym typeface="Calibri (MS) Italics"/>
                  </a:rPr>
                  <a:t>affichées en temps réel</a:t>
                </a:r>
              </a:p>
            </p:txBody>
          </p:sp>
        </p:grpSp>
      </p:grpSp>
      <p:pic>
        <p:nvPicPr>
          <p:cNvPr id="151" name="Picture 150">
            <a:extLst>
              <a:ext uri="{FF2B5EF4-FFF2-40B4-BE49-F238E27FC236}">
                <a16:creationId xmlns:a16="http://schemas.microsoft.com/office/drawing/2014/main" id="{53337570-5FD0-CDC3-3547-764941EB8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579622"/>
            <a:ext cx="12801600" cy="58951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1520" y="329184"/>
            <a:ext cx="5486400" cy="402336"/>
            <a:chOff x="0" y="0"/>
            <a:chExt cx="7315200" cy="5364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536448"/>
            </a:xfrm>
            <a:custGeom>
              <a:avLst/>
              <a:gdLst/>
              <a:ahLst/>
              <a:cxnLst/>
              <a:rect l="l" t="t" r="r" b="b"/>
              <a:pathLst>
                <a:path w="7315200" h="536448">
                  <a:moveTo>
                    <a:pt x="0" y="0"/>
                  </a:moveTo>
                  <a:lnTo>
                    <a:pt x="7315200" y="0"/>
                  </a:lnTo>
                  <a:lnTo>
                    <a:pt x="73152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5705" b="-215705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7315200" cy="5650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20"/>
                </a:lnSpc>
              </a:pPr>
              <a:r>
                <a:rPr lang="en-US" sz="1600" b="1" spc="400">
                  <a:solidFill>
                    <a:srgbClr val="6B7A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CONCLUSION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18823" y="718823"/>
            <a:ext cx="135131" cy="1031243"/>
            <a:chOff x="0" y="0"/>
            <a:chExt cx="180175" cy="1374991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146304" cy="1341120"/>
            </a:xfrm>
            <a:custGeom>
              <a:avLst/>
              <a:gdLst/>
              <a:ahLst/>
              <a:cxnLst/>
              <a:rect l="l" t="t" r="r" b="b"/>
              <a:pathLst>
                <a:path w="146304" h="1341120">
                  <a:moveTo>
                    <a:pt x="0" y="0"/>
                  </a:moveTo>
                  <a:lnTo>
                    <a:pt x="146304" y="0"/>
                  </a:lnTo>
                  <a:lnTo>
                    <a:pt x="146304" y="1341120"/>
                  </a:lnTo>
                  <a:lnTo>
                    <a:pt x="0" y="1341120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80086" cy="1374902"/>
            </a:xfrm>
            <a:custGeom>
              <a:avLst/>
              <a:gdLst/>
              <a:ahLst/>
              <a:cxnLst/>
              <a:rect l="l" t="t" r="r" b="b"/>
              <a:pathLst>
                <a:path w="180086" h="137490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358011"/>
                  </a:lnTo>
                  <a:cubicBezTo>
                    <a:pt x="180086" y="1367409"/>
                    <a:pt x="172466" y="1374902"/>
                    <a:pt x="163195" y="1374902"/>
                  </a:cubicBezTo>
                  <a:lnTo>
                    <a:pt x="16891" y="1374902"/>
                  </a:lnTo>
                  <a:cubicBezTo>
                    <a:pt x="7493" y="1374902"/>
                    <a:pt x="0" y="1367282"/>
                    <a:pt x="0" y="1358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58011"/>
                  </a:lnTo>
                  <a:lnTo>
                    <a:pt x="16891" y="1358011"/>
                  </a:lnTo>
                  <a:lnTo>
                    <a:pt x="16891" y="1341120"/>
                  </a:lnTo>
                  <a:lnTo>
                    <a:pt x="163195" y="1341120"/>
                  </a:lnTo>
                  <a:lnTo>
                    <a:pt x="163195" y="1358011"/>
                  </a:lnTo>
                  <a:lnTo>
                    <a:pt x="146304" y="135801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694944"/>
            <a:ext cx="16459200" cy="1005840"/>
            <a:chOff x="0" y="0"/>
            <a:chExt cx="21945600" cy="134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1341120"/>
            </a:xfrm>
            <a:custGeom>
              <a:avLst/>
              <a:gdLst/>
              <a:ahLst/>
              <a:cxnLst/>
              <a:rect l="l" t="t" r="r" b="b"/>
              <a:pathLst>
                <a:path w="21945600" h="134112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8846" b="-26884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21945600" cy="1455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719"/>
                </a:lnSpc>
              </a:pPr>
              <a:r>
                <a:rPr lang="en-US" sz="5599" b="1">
                  <a:solidFill>
                    <a:srgbClr val="1A2B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 &amp; Perspectives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8823" y="1907543"/>
            <a:ext cx="16850363" cy="52835"/>
            <a:chOff x="0" y="0"/>
            <a:chExt cx="22467151" cy="70447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22433280" cy="36576"/>
            </a:xfrm>
            <a:custGeom>
              <a:avLst/>
              <a:gdLst/>
              <a:ahLst/>
              <a:cxnLst/>
              <a:rect l="l" t="t" r="r" b="b"/>
              <a:pathLst>
                <a:path w="22433280" h="36576">
                  <a:moveTo>
                    <a:pt x="0" y="0"/>
                  </a:moveTo>
                  <a:lnTo>
                    <a:pt x="22433280" y="0"/>
                  </a:lnTo>
                  <a:lnTo>
                    <a:pt x="22433280" y="36576"/>
                  </a:lnTo>
                  <a:lnTo>
                    <a:pt x="0" y="36576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2467063" cy="70360"/>
            </a:xfrm>
            <a:custGeom>
              <a:avLst/>
              <a:gdLst/>
              <a:ahLst/>
              <a:cxnLst/>
              <a:rect l="l" t="t" r="r" b="b"/>
              <a:pathLst>
                <a:path w="22467063" h="70360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53467"/>
                  </a:lnTo>
                  <a:cubicBezTo>
                    <a:pt x="22467063" y="62865"/>
                    <a:pt x="22459443" y="70358"/>
                    <a:pt x="22450171" y="70358"/>
                  </a:cubicBezTo>
                  <a:lnTo>
                    <a:pt x="16891" y="70358"/>
                  </a:lnTo>
                  <a:cubicBezTo>
                    <a:pt x="7620" y="70485"/>
                    <a:pt x="0" y="62865"/>
                    <a:pt x="0" y="5346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467"/>
                  </a:lnTo>
                  <a:lnTo>
                    <a:pt x="16891" y="53467"/>
                  </a:lnTo>
                  <a:lnTo>
                    <a:pt x="16891" y="36576"/>
                  </a:lnTo>
                  <a:lnTo>
                    <a:pt x="22450171" y="36576"/>
                  </a:lnTo>
                  <a:lnTo>
                    <a:pt x="22450171" y="53467"/>
                  </a:lnTo>
                  <a:lnTo>
                    <a:pt x="22433280" y="53467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25167" y="2151631"/>
            <a:ext cx="16837657" cy="2664457"/>
            <a:chOff x="0" y="0"/>
            <a:chExt cx="22450209" cy="3552609"/>
          </a:xfrm>
        </p:grpSpPr>
        <p:sp>
          <p:nvSpPr>
            <p:cNvPr id="15" name="Freeform 15"/>
            <p:cNvSpPr/>
            <p:nvPr/>
          </p:nvSpPr>
          <p:spPr>
            <a:xfrm>
              <a:off x="8509" y="8509"/>
              <a:ext cx="22433154" cy="3535680"/>
            </a:xfrm>
            <a:custGeom>
              <a:avLst/>
              <a:gdLst/>
              <a:ahLst/>
              <a:cxnLst/>
              <a:rect l="l" t="t" r="r" b="b"/>
              <a:pathLst>
                <a:path w="22433154" h="3535680">
                  <a:moveTo>
                    <a:pt x="0" y="292608"/>
                  </a:moveTo>
                  <a:cubicBezTo>
                    <a:pt x="0" y="130937"/>
                    <a:pt x="131445" y="0"/>
                    <a:pt x="293751" y="0"/>
                  </a:cubicBezTo>
                  <a:lnTo>
                    <a:pt x="22139403" y="0"/>
                  </a:lnTo>
                  <a:cubicBezTo>
                    <a:pt x="22301709" y="0"/>
                    <a:pt x="22433154" y="131064"/>
                    <a:pt x="22433154" y="292608"/>
                  </a:cubicBezTo>
                  <a:lnTo>
                    <a:pt x="22433154" y="3243072"/>
                  </a:lnTo>
                  <a:cubicBezTo>
                    <a:pt x="22433154" y="3404616"/>
                    <a:pt x="22301582" y="3535680"/>
                    <a:pt x="22139403" y="3535680"/>
                  </a:cubicBezTo>
                  <a:lnTo>
                    <a:pt x="293751" y="3535680"/>
                  </a:lnTo>
                  <a:cubicBezTo>
                    <a:pt x="131445" y="3535680"/>
                    <a:pt x="0" y="3404616"/>
                    <a:pt x="0" y="32430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22450172" cy="3552698"/>
            </a:xfrm>
            <a:custGeom>
              <a:avLst/>
              <a:gdLst/>
              <a:ahLst/>
              <a:cxnLst/>
              <a:rect l="l" t="t" r="r" b="b"/>
              <a:pathLst>
                <a:path w="22450172" h="3552698">
                  <a:moveTo>
                    <a:pt x="0" y="301117"/>
                  </a:moveTo>
                  <a:cubicBezTo>
                    <a:pt x="0" y="134747"/>
                    <a:pt x="135382" y="0"/>
                    <a:pt x="302260" y="0"/>
                  </a:cubicBezTo>
                  <a:lnTo>
                    <a:pt x="22147912" y="0"/>
                  </a:lnTo>
                  <a:lnTo>
                    <a:pt x="22147912" y="8509"/>
                  </a:lnTo>
                  <a:lnTo>
                    <a:pt x="22147912" y="0"/>
                  </a:lnTo>
                  <a:cubicBezTo>
                    <a:pt x="22314790" y="0"/>
                    <a:pt x="22450172" y="134747"/>
                    <a:pt x="22450172" y="301117"/>
                  </a:cubicBezTo>
                  <a:lnTo>
                    <a:pt x="22441663" y="301117"/>
                  </a:lnTo>
                  <a:lnTo>
                    <a:pt x="22450172" y="301117"/>
                  </a:lnTo>
                  <a:lnTo>
                    <a:pt x="22450172" y="3251581"/>
                  </a:lnTo>
                  <a:lnTo>
                    <a:pt x="22441663" y="3251581"/>
                  </a:lnTo>
                  <a:lnTo>
                    <a:pt x="22450172" y="3251581"/>
                  </a:lnTo>
                  <a:cubicBezTo>
                    <a:pt x="22450172" y="3417951"/>
                    <a:pt x="22314790" y="3552698"/>
                    <a:pt x="22147912" y="3552698"/>
                  </a:cubicBezTo>
                  <a:lnTo>
                    <a:pt x="22147912" y="3544189"/>
                  </a:lnTo>
                  <a:lnTo>
                    <a:pt x="22147912" y="3552698"/>
                  </a:lnTo>
                  <a:lnTo>
                    <a:pt x="302260" y="3552698"/>
                  </a:lnTo>
                  <a:lnTo>
                    <a:pt x="302260" y="3544189"/>
                  </a:lnTo>
                  <a:lnTo>
                    <a:pt x="302260" y="3552698"/>
                  </a:lnTo>
                  <a:cubicBezTo>
                    <a:pt x="135382" y="3552571"/>
                    <a:pt x="0" y="3417824"/>
                    <a:pt x="0" y="3251581"/>
                  </a:cubicBezTo>
                  <a:lnTo>
                    <a:pt x="0" y="301117"/>
                  </a:lnTo>
                  <a:lnTo>
                    <a:pt x="8509" y="301117"/>
                  </a:lnTo>
                  <a:lnTo>
                    <a:pt x="0" y="301117"/>
                  </a:lnTo>
                  <a:moveTo>
                    <a:pt x="16891" y="301117"/>
                  </a:moveTo>
                  <a:lnTo>
                    <a:pt x="16891" y="3251581"/>
                  </a:lnTo>
                  <a:lnTo>
                    <a:pt x="8509" y="3251581"/>
                  </a:lnTo>
                  <a:lnTo>
                    <a:pt x="17018" y="3251581"/>
                  </a:lnTo>
                  <a:cubicBezTo>
                    <a:pt x="17018" y="3408426"/>
                    <a:pt x="144780" y="3535680"/>
                    <a:pt x="302387" y="3535680"/>
                  </a:cubicBezTo>
                  <a:lnTo>
                    <a:pt x="22147912" y="3535680"/>
                  </a:lnTo>
                  <a:cubicBezTo>
                    <a:pt x="22305519" y="3535680"/>
                    <a:pt x="22433280" y="3408426"/>
                    <a:pt x="22433280" y="3251581"/>
                  </a:cubicBezTo>
                  <a:lnTo>
                    <a:pt x="22433280" y="301117"/>
                  </a:lnTo>
                  <a:cubicBezTo>
                    <a:pt x="22433280" y="144272"/>
                    <a:pt x="22305519" y="17018"/>
                    <a:pt x="22147912" y="17018"/>
                  </a:cubicBezTo>
                  <a:lnTo>
                    <a:pt x="302260" y="17018"/>
                  </a:lnTo>
                  <a:lnTo>
                    <a:pt x="302260" y="8509"/>
                  </a:lnTo>
                  <a:lnTo>
                    <a:pt x="302260" y="17018"/>
                  </a:lnTo>
                  <a:cubicBezTo>
                    <a:pt x="144653" y="16891"/>
                    <a:pt x="16891" y="144145"/>
                    <a:pt x="16891" y="301117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18823" y="2145287"/>
            <a:ext cx="135131" cy="2677163"/>
            <a:chOff x="0" y="0"/>
            <a:chExt cx="180175" cy="3569551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146304" cy="3535680"/>
            </a:xfrm>
            <a:custGeom>
              <a:avLst/>
              <a:gdLst/>
              <a:ahLst/>
              <a:cxnLst/>
              <a:rect l="l" t="t" r="r" b="b"/>
              <a:pathLst>
                <a:path w="146304" h="3535680">
                  <a:moveTo>
                    <a:pt x="0" y="0"/>
                  </a:moveTo>
                  <a:lnTo>
                    <a:pt x="146304" y="0"/>
                  </a:lnTo>
                  <a:lnTo>
                    <a:pt x="146304" y="3535680"/>
                  </a:lnTo>
                  <a:lnTo>
                    <a:pt x="0" y="3535680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180086" cy="3569462"/>
            </a:xfrm>
            <a:custGeom>
              <a:avLst/>
              <a:gdLst/>
              <a:ahLst/>
              <a:cxnLst/>
              <a:rect l="l" t="t" r="r" b="b"/>
              <a:pathLst>
                <a:path w="180086" h="3569462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3552571"/>
                  </a:lnTo>
                  <a:cubicBezTo>
                    <a:pt x="180086" y="3561969"/>
                    <a:pt x="172466" y="3569462"/>
                    <a:pt x="163195" y="3569462"/>
                  </a:cubicBezTo>
                  <a:lnTo>
                    <a:pt x="16891" y="3569462"/>
                  </a:lnTo>
                  <a:cubicBezTo>
                    <a:pt x="7493" y="3569462"/>
                    <a:pt x="0" y="3561842"/>
                    <a:pt x="0" y="3552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552571"/>
                  </a:lnTo>
                  <a:lnTo>
                    <a:pt x="16891" y="3552571"/>
                  </a:lnTo>
                  <a:lnTo>
                    <a:pt x="16891" y="3535680"/>
                  </a:lnTo>
                  <a:lnTo>
                    <a:pt x="163195" y="3535680"/>
                  </a:lnTo>
                  <a:lnTo>
                    <a:pt x="163195" y="3552571"/>
                  </a:lnTo>
                  <a:lnTo>
                    <a:pt x="146304" y="3552571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8B57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97280" y="2286000"/>
            <a:ext cx="16093440" cy="585216"/>
            <a:chOff x="0" y="0"/>
            <a:chExt cx="2145792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457920" cy="780288"/>
            </a:xfrm>
            <a:custGeom>
              <a:avLst/>
              <a:gdLst/>
              <a:ahLst/>
              <a:cxnLst/>
              <a:rect l="l" t="t" r="r" b="b"/>
              <a:pathLst>
                <a:path w="21457920" h="780288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838" b="-485838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145792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E8B5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Résultats clés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88720" y="2897124"/>
            <a:ext cx="15910560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Pipeline complet validé — de la capture Kinect jusqu'à la démonstration Streamlit en temps quasi-réel.  Random Forest retenu : ~96,5 % accuracy, AUC &gt; 0,98, inférence &lt; 2 ms, interprétabilité via feature importance.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25167" y="5077711"/>
            <a:ext cx="8150857" cy="4950457"/>
            <a:chOff x="0" y="0"/>
            <a:chExt cx="10867809" cy="6600609"/>
          </a:xfrm>
        </p:grpSpPr>
        <p:sp>
          <p:nvSpPr>
            <p:cNvPr id="25" name="Freeform 25"/>
            <p:cNvSpPr/>
            <p:nvPr/>
          </p:nvSpPr>
          <p:spPr>
            <a:xfrm>
              <a:off x="8509" y="8509"/>
              <a:ext cx="10850880" cy="6583680"/>
            </a:xfrm>
            <a:custGeom>
              <a:avLst/>
              <a:gdLst/>
              <a:ahLst/>
              <a:cxnLst/>
              <a:rect l="l" t="t" r="r" b="b"/>
              <a:pathLst>
                <a:path w="10850880" h="6583680">
                  <a:moveTo>
                    <a:pt x="0" y="292481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10558018" y="0"/>
                  </a:lnTo>
                  <a:cubicBezTo>
                    <a:pt x="10719816" y="0"/>
                    <a:pt x="10850880" y="130937"/>
                    <a:pt x="10850880" y="292608"/>
                  </a:cubicBezTo>
                  <a:lnTo>
                    <a:pt x="10850880" y="6291072"/>
                  </a:lnTo>
                  <a:cubicBezTo>
                    <a:pt x="10850880" y="6452616"/>
                    <a:pt x="10719816" y="6583680"/>
                    <a:pt x="10558018" y="6583680"/>
                  </a:cubicBezTo>
                  <a:lnTo>
                    <a:pt x="292862" y="6583680"/>
                  </a:lnTo>
                  <a:cubicBezTo>
                    <a:pt x="131064" y="6583680"/>
                    <a:pt x="0" y="6452616"/>
                    <a:pt x="0" y="62910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867898" cy="6600571"/>
            </a:xfrm>
            <a:custGeom>
              <a:avLst/>
              <a:gdLst/>
              <a:ahLst/>
              <a:cxnLst/>
              <a:rect l="l" t="t" r="r" b="b"/>
              <a:pathLst>
                <a:path w="10867898" h="6600571">
                  <a:moveTo>
                    <a:pt x="0" y="300990"/>
                  </a:moveTo>
                  <a:cubicBezTo>
                    <a:pt x="0" y="134747"/>
                    <a:pt x="134874" y="0"/>
                    <a:pt x="301371" y="0"/>
                  </a:cubicBezTo>
                  <a:lnTo>
                    <a:pt x="10566527" y="0"/>
                  </a:lnTo>
                  <a:lnTo>
                    <a:pt x="10566527" y="8509"/>
                  </a:lnTo>
                  <a:lnTo>
                    <a:pt x="10566527" y="0"/>
                  </a:lnTo>
                  <a:cubicBezTo>
                    <a:pt x="10732897" y="0"/>
                    <a:pt x="10867898" y="134747"/>
                    <a:pt x="10867898" y="300990"/>
                  </a:cubicBezTo>
                  <a:lnTo>
                    <a:pt x="10859389" y="300990"/>
                  </a:lnTo>
                  <a:lnTo>
                    <a:pt x="10867898" y="300990"/>
                  </a:lnTo>
                  <a:lnTo>
                    <a:pt x="10867898" y="6299581"/>
                  </a:lnTo>
                  <a:lnTo>
                    <a:pt x="10859389" y="6299581"/>
                  </a:lnTo>
                  <a:lnTo>
                    <a:pt x="10867898" y="6299581"/>
                  </a:lnTo>
                  <a:cubicBezTo>
                    <a:pt x="10867898" y="6465824"/>
                    <a:pt x="10733024" y="6600571"/>
                    <a:pt x="10566527" y="6600571"/>
                  </a:cubicBezTo>
                  <a:lnTo>
                    <a:pt x="10566527" y="6592062"/>
                  </a:lnTo>
                  <a:lnTo>
                    <a:pt x="10566527" y="6600571"/>
                  </a:lnTo>
                  <a:lnTo>
                    <a:pt x="301371" y="6600571"/>
                  </a:lnTo>
                  <a:lnTo>
                    <a:pt x="301371" y="6592062"/>
                  </a:lnTo>
                  <a:lnTo>
                    <a:pt x="301371" y="6600571"/>
                  </a:lnTo>
                  <a:cubicBezTo>
                    <a:pt x="134874" y="6600571"/>
                    <a:pt x="0" y="6465824"/>
                    <a:pt x="0" y="6299581"/>
                  </a:cubicBezTo>
                  <a:lnTo>
                    <a:pt x="0" y="300990"/>
                  </a:lnTo>
                  <a:lnTo>
                    <a:pt x="8509" y="300990"/>
                  </a:lnTo>
                  <a:lnTo>
                    <a:pt x="0" y="300990"/>
                  </a:lnTo>
                  <a:moveTo>
                    <a:pt x="16891" y="300990"/>
                  </a:moveTo>
                  <a:lnTo>
                    <a:pt x="16891" y="6299581"/>
                  </a:lnTo>
                  <a:lnTo>
                    <a:pt x="8509" y="6299581"/>
                  </a:lnTo>
                  <a:lnTo>
                    <a:pt x="17018" y="6299581"/>
                  </a:lnTo>
                  <a:cubicBezTo>
                    <a:pt x="17018" y="6456426"/>
                    <a:pt x="144399" y="6583680"/>
                    <a:pt x="301371" y="6583680"/>
                  </a:cubicBezTo>
                  <a:lnTo>
                    <a:pt x="10566527" y="6583680"/>
                  </a:lnTo>
                  <a:cubicBezTo>
                    <a:pt x="10723626" y="6583680"/>
                    <a:pt x="10850880" y="6456426"/>
                    <a:pt x="10850880" y="6299581"/>
                  </a:cubicBezTo>
                  <a:lnTo>
                    <a:pt x="10850880" y="300990"/>
                  </a:lnTo>
                  <a:cubicBezTo>
                    <a:pt x="10850880" y="144145"/>
                    <a:pt x="10723499" y="16891"/>
                    <a:pt x="10566527" y="16891"/>
                  </a:cubicBezTo>
                  <a:lnTo>
                    <a:pt x="301371" y="16891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6891"/>
                    <a:pt x="16891" y="144145"/>
                    <a:pt x="16891" y="300990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8823" y="5071367"/>
            <a:ext cx="8163563" cy="135131"/>
            <a:chOff x="0" y="0"/>
            <a:chExt cx="10884751" cy="180175"/>
          </a:xfrm>
        </p:grpSpPr>
        <p:sp>
          <p:nvSpPr>
            <p:cNvPr id="28" name="Freeform 28"/>
            <p:cNvSpPr/>
            <p:nvPr/>
          </p:nvSpPr>
          <p:spPr>
            <a:xfrm>
              <a:off x="16891" y="16891"/>
              <a:ext cx="10850881" cy="146304"/>
            </a:xfrm>
            <a:custGeom>
              <a:avLst/>
              <a:gdLst/>
              <a:ahLst/>
              <a:cxnLst/>
              <a:rect l="l" t="t" r="r" b="b"/>
              <a:pathLst>
                <a:path w="10850881" h="146304">
                  <a:moveTo>
                    <a:pt x="0" y="0"/>
                  </a:moveTo>
                  <a:lnTo>
                    <a:pt x="10850881" y="0"/>
                  </a:lnTo>
                  <a:lnTo>
                    <a:pt x="108508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10884662" cy="180088"/>
            </a:xfrm>
            <a:custGeom>
              <a:avLst/>
              <a:gdLst/>
              <a:ahLst/>
              <a:cxnLst/>
              <a:rect l="l" t="t" r="r" b="b"/>
              <a:pathLst>
                <a:path w="10884662" h="180088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63195"/>
                  </a:lnTo>
                  <a:cubicBezTo>
                    <a:pt x="10884662" y="172593"/>
                    <a:pt x="10877042" y="180086"/>
                    <a:pt x="108677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867772" y="146304"/>
                  </a:lnTo>
                  <a:lnTo>
                    <a:pt x="10867772" y="163195"/>
                  </a:lnTo>
                  <a:lnTo>
                    <a:pt x="10850880" y="163195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44E52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97280" y="5266944"/>
            <a:ext cx="7498080" cy="585216"/>
            <a:chOff x="0" y="0"/>
            <a:chExt cx="9997440" cy="7802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997440" cy="780288"/>
            </a:xfrm>
            <a:custGeom>
              <a:avLst/>
              <a:gdLst/>
              <a:ahLst/>
              <a:cxnLst/>
              <a:rect l="l" t="t" r="r" b="b"/>
              <a:pathLst>
                <a:path w="9997440" h="780288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9652" b="-19965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C44E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Limites identifiées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88720" y="5923407"/>
            <a:ext cx="7315200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Angle de capture unique (de face)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10 sujets — panel restreint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Occlusions non traitées dynamiquement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· 11 / 18 actions KARD intégrées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411967" y="5077711"/>
            <a:ext cx="8150857" cy="4950457"/>
            <a:chOff x="0" y="0"/>
            <a:chExt cx="10867809" cy="6600609"/>
          </a:xfrm>
        </p:grpSpPr>
        <p:sp>
          <p:nvSpPr>
            <p:cNvPr id="35" name="Freeform 35"/>
            <p:cNvSpPr/>
            <p:nvPr/>
          </p:nvSpPr>
          <p:spPr>
            <a:xfrm>
              <a:off x="8509" y="8509"/>
              <a:ext cx="10850880" cy="6583680"/>
            </a:xfrm>
            <a:custGeom>
              <a:avLst/>
              <a:gdLst/>
              <a:ahLst/>
              <a:cxnLst/>
              <a:rect l="l" t="t" r="r" b="b"/>
              <a:pathLst>
                <a:path w="10850880" h="6583680">
                  <a:moveTo>
                    <a:pt x="0" y="292481"/>
                  </a:moveTo>
                  <a:cubicBezTo>
                    <a:pt x="0" y="130937"/>
                    <a:pt x="131064" y="0"/>
                    <a:pt x="292862" y="0"/>
                  </a:cubicBezTo>
                  <a:lnTo>
                    <a:pt x="10558018" y="0"/>
                  </a:lnTo>
                  <a:cubicBezTo>
                    <a:pt x="10719816" y="0"/>
                    <a:pt x="10850880" y="130937"/>
                    <a:pt x="10850880" y="292608"/>
                  </a:cubicBezTo>
                  <a:lnTo>
                    <a:pt x="10850880" y="6291072"/>
                  </a:lnTo>
                  <a:cubicBezTo>
                    <a:pt x="10850880" y="6452616"/>
                    <a:pt x="10719816" y="6583680"/>
                    <a:pt x="10558018" y="6583680"/>
                  </a:cubicBezTo>
                  <a:lnTo>
                    <a:pt x="292862" y="6583680"/>
                  </a:lnTo>
                  <a:cubicBezTo>
                    <a:pt x="131064" y="6583680"/>
                    <a:pt x="0" y="6452616"/>
                    <a:pt x="0" y="629107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0" y="0"/>
              <a:ext cx="10867898" cy="6600571"/>
            </a:xfrm>
            <a:custGeom>
              <a:avLst/>
              <a:gdLst/>
              <a:ahLst/>
              <a:cxnLst/>
              <a:rect l="l" t="t" r="r" b="b"/>
              <a:pathLst>
                <a:path w="10867898" h="6600571">
                  <a:moveTo>
                    <a:pt x="0" y="300990"/>
                  </a:moveTo>
                  <a:cubicBezTo>
                    <a:pt x="0" y="134747"/>
                    <a:pt x="134874" y="0"/>
                    <a:pt x="301371" y="0"/>
                  </a:cubicBezTo>
                  <a:lnTo>
                    <a:pt x="10566527" y="0"/>
                  </a:lnTo>
                  <a:lnTo>
                    <a:pt x="10566527" y="8509"/>
                  </a:lnTo>
                  <a:lnTo>
                    <a:pt x="10566527" y="0"/>
                  </a:lnTo>
                  <a:cubicBezTo>
                    <a:pt x="10732897" y="0"/>
                    <a:pt x="10867898" y="134747"/>
                    <a:pt x="10867898" y="300990"/>
                  </a:cubicBezTo>
                  <a:lnTo>
                    <a:pt x="10859389" y="300990"/>
                  </a:lnTo>
                  <a:lnTo>
                    <a:pt x="10867898" y="300990"/>
                  </a:lnTo>
                  <a:lnTo>
                    <a:pt x="10867898" y="6299581"/>
                  </a:lnTo>
                  <a:lnTo>
                    <a:pt x="10859389" y="6299581"/>
                  </a:lnTo>
                  <a:lnTo>
                    <a:pt x="10867898" y="6299581"/>
                  </a:lnTo>
                  <a:cubicBezTo>
                    <a:pt x="10867898" y="6465824"/>
                    <a:pt x="10733024" y="6600571"/>
                    <a:pt x="10566527" y="6600571"/>
                  </a:cubicBezTo>
                  <a:lnTo>
                    <a:pt x="10566527" y="6592062"/>
                  </a:lnTo>
                  <a:lnTo>
                    <a:pt x="10566527" y="6600571"/>
                  </a:lnTo>
                  <a:lnTo>
                    <a:pt x="301371" y="6600571"/>
                  </a:lnTo>
                  <a:lnTo>
                    <a:pt x="301371" y="6592062"/>
                  </a:lnTo>
                  <a:lnTo>
                    <a:pt x="301371" y="6600571"/>
                  </a:lnTo>
                  <a:cubicBezTo>
                    <a:pt x="134874" y="6600571"/>
                    <a:pt x="0" y="6465824"/>
                    <a:pt x="0" y="6299581"/>
                  </a:cubicBezTo>
                  <a:lnTo>
                    <a:pt x="0" y="300990"/>
                  </a:lnTo>
                  <a:lnTo>
                    <a:pt x="8509" y="300990"/>
                  </a:lnTo>
                  <a:lnTo>
                    <a:pt x="0" y="300990"/>
                  </a:lnTo>
                  <a:moveTo>
                    <a:pt x="16891" y="300990"/>
                  </a:moveTo>
                  <a:lnTo>
                    <a:pt x="16891" y="6299581"/>
                  </a:lnTo>
                  <a:lnTo>
                    <a:pt x="8509" y="6299581"/>
                  </a:lnTo>
                  <a:lnTo>
                    <a:pt x="17018" y="6299581"/>
                  </a:lnTo>
                  <a:cubicBezTo>
                    <a:pt x="17018" y="6456426"/>
                    <a:pt x="144399" y="6583680"/>
                    <a:pt x="301371" y="6583680"/>
                  </a:cubicBezTo>
                  <a:lnTo>
                    <a:pt x="10566527" y="6583680"/>
                  </a:lnTo>
                  <a:cubicBezTo>
                    <a:pt x="10723626" y="6583680"/>
                    <a:pt x="10850880" y="6456426"/>
                    <a:pt x="10850880" y="6299581"/>
                  </a:cubicBezTo>
                  <a:lnTo>
                    <a:pt x="10850880" y="300990"/>
                  </a:lnTo>
                  <a:cubicBezTo>
                    <a:pt x="10850880" y="144145"/>
                    <a:pt x="10723499" y="16891"/>
                    <a:pt x="10566527" y="16891"/>
                  </a:cubicBezTo>
                  <a:lnTo>
                    <a:pt x="301371" y="16891"/>
                  </a:lnTo>
                  <a:lnTo>
                    <a:pt x="301371" y="8509"/>
                  </a:lnTo>
                  <a:lnTo>
                    <a:pt x="301371" y="17018"/>
                  </a:lnTo>
                  <a:cubicBezTo>
                    <a:pt x="144272" y="16891"/>
                    <a:pt x="16891" y="144145"/>
                    <a:pt x="16891" y="300990"/>
                  </a:cubicBezTo>
                  <a:close/>
                </a:path>
              </a:pathLst>
            </a:custGeom>
            <a:solidFill>
              <a:srgbClr val="D8E2E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405623" y="5071367"/>
            <a:ext cx="8163563" cy="135131"/>
            <a:chOff x="0" y="0"/>
            <a:chExt cx="10884751" cy="180175"/>
          </a:xfrm>
        </p:grpSpPr>
        <p:sp>
          <p:nvSpPr>
            <p:cNvPr id="38" name="Freeform 38"/>
            <p:cNvSpPr/>
            <p:nvPr/>
          </p:nvSpPr>
          <p:spPr>
            <a:xfrm>
              <a:off x="16891" y="16891"/>
              <a:ext cx="10850881" cy="146304"/>
            </a:xfrm>
            <a:custGeom>
              <a:avLst/>
              <a:gdLst/>
              <a:ahLst/>
              <a:cxnLst/>
              <a:rect l="l" t="t" r="r" b="b"/>
              <a:pathLst>
                <a:path w="10850881" h="146304">
                  <a:moveTo>
                    <a:pt x="0" y="0"/>
                  </a:moveTo>
                  <a:lnTo>
                    <a:pt x="10850881" y="0"/>
                  </a:lnTo>
                  <a:lnTo>
                    <a:pt x="10850881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0" y="0"/>
              <a:ext cx="10884662" cy="180088"/>
            </a:xfrm>
            <a:custGeom>
              <a:avLst/>
              <a:gdLst/>
              <a:ahLst/>
              <a:cxnLst/>
              <a:rect l="l" t="t" r="r" b="b"/>
              <a:pathLst>
                <a:path w="10884662" h="180088">
                  <a:moveTo>
                    <a:pt x="16891" y="0"/>
                  </a:moveTo>
                  <a:lnTo>
                    <a:pt x="10867772" y="0"/>
                  </a:lnTo>
                  <a:cubicBezTo>
                    <a:pt x="10877169" y="0"/>
                    <a:pt x="10884662" y="7620"/>
                    <a:pt x="10884662" y="16891"/>
                  </a:cubicBezTo>
                  <a:lnTo>
                    <a:pt x="10884662" y="163195"/>
                  </a:lnTo>
                  <a:cubicBezTo>
                    <a:pt x="10884662" y="172593"/>
                    <a:pt x="10877042" y="180086"/>
                    <a:pt x="10867772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0867772" y="146304"/>
                  </a:lnTo>
                  <a:lnTo>
                    <a:pt x="10867772" y="163195"/>
                  </a:lnTo>
                  <a:lnTo>
                    <a:pt x="10850880" y="163195"/>
                  </a:lnTo>
                  <a:lnTo>
                    <a:pt x="10850880" y="16891"/>
                  </a:lnTo>
                  <a:lnTo>
                    <a:pt x="10867772" y="16891"/>
                  </a:lnTo>
                  <a:lnTo>
                    <a:pt x="10867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E5090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84080" y="5266944"/>
            <a:ext cx="7498080" cy="585216"/>
            <a:chOff x="0" y="0"/>
            <a:chExt cx="9997440" cy="78028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997440" cy="780288"/>
            </a:xfrm>
            <a:custGeom>
              <a:avLst/>
              <a:gdLst/>
              <a:ahLst/>
              <a:cxnLst/>
              <a:rect l="l" t="t" r="r" b="b"/>
              <a:pathLst>
                <a:path w="9997440" h="780288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9652" b="-19965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E509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Perspectives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9875520" y="5923407"/>
            <a:ext cx="73152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→ LSTM / Transformer séquentiels</a:t>
            </a:r>
          </a:p>
          <a:p>
            <a:pPr algn="l">
              <a:lnSpc>
                <a:spcPts val="2640"/>
              </a:lnSpc>
            </a:pPr>
            <a:r>
              <a:rPr lang="en-US" sz="2200">
                <a:solidFill>
                  <a:srgbClr val="1A1A2E"/>
                </a:solidFill>
                <a:latin typeface="Calibri (MS)"/>
                <a:ea typeface="Calibri (MS)"/>
                <a:cs typeface="Calibri (MS)"/>
                <a:sym typeface="Calibri (MS)"/>
              </a:rPr>
              <a:t>→ Extension à 18 classes KARD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3303" y="-1475737"/>
            <a:ext cx="6426203" cy="6426203"/>
            <a:chOff x="0" y="0"/>
            <a:chExt cx="8568271" cy="8568271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8534400" cy="8534400"/>
            </a:xfrm>
            <a:custGeom>
              <a:avLst/>
              <a:gdLst/>
              <a:ahLst/>
              <a:cxnLst/>
              <a:rect l="l" t="t" r="r" b="b"/>
              <a:pathLst>
                <a:path w="8534400" h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2E5090">
                <a:alpha val="5882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1475737" y="5839463"/>
            <a:ext cx="4597403" cy="4597403"/>
            <a:chOff x="0" y="0"/>
            <a:chExt cx="6129871" cy="6129871"/>
          </a:xfrm>
        </p:grpSpPr>
        <p:sp>
          <p:nvSpPr>
            <p:cNvPr id="5" name="Freeform 5"/>
            <p:cNvSpPr/>
            <p:nvPr/>
          </p:nvSpPr>
          <p:spPr>
            <a:xfrm>
              <a:off x="16891" y="16891"/>
              <a:ext cx="6096000" cy="6096000"/>
            </a:xfrm>
            <a:custGeom>
              <a:avLst/>
              <a:gdLst/>
              <a:ahLst/>
              <a:cxnLst/>
              <a:rect l="l" t="t" r="r" b="b"/>
              <a:pathLst>
                <a:path w="6096000" h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C44E52">
                <a:alpha val="3922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743200"/>
            <a:ext cx="16459200" cy="1463040"/>
            <a:chOff x="0" y="0"/>
            <a:chExt cx="21945600" cy="19507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1950720"/>
            </a:xfrm>
            <a:custGeom>
              <a:avLst/>
              <a:gdLst/>
              <a:ahLst/>
              <a:cxnLst/>
              <a:rect l="l" t="t" r="r" b="b"/>
              <a:pathLst>
                <a:path w="21945600" h="1950720">
                  <a:moveTo>
                    <a:pt x="0" y="0"/>
                  </a:moveTo>
                  <a:lnTo>
                    <a:pt x="21945600" y="0"/>
                  </a:lnTo>
                  <a:lnTo>
                    <a:pt x="21945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206" b="-16920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61925"/>
              <a:ext cx="21945600" cy="2112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Merci pour votre attention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" y="4389120"/>
            <a:ext cx="16459200" cy="914400"/>
            <a:chOff x="0" y="0"/>
            <a:chExt cx="21945600" cy="1219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21945600" cy="12954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280"/>
                </a:lnSpc>
              </a:pPr>
              <a:r>
                <a:rPr lang="en-US" sz="4400" i="1">
                  <a:solidFill>
                    <a:srgbClr val="8EAAD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Questions &amp; Discussion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88103" y="5565143"/>
            <a:ext cx="5511803" cy="71123"/>
            <a:chOff x="0" y="0"/>
            <a:chExt cx="7349071" cy="94831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7315200" cy="60960"/>
            </a:xfrm>
            <a:custGeom>
              <a:avLst/>
              <a:gdLst/>
              <a:ahLst/>
              <a:cxnLst/>
              <a:rect l="l" t="t" r="r" b="b"/>
              <a:pathLst>
                <a:path w="7315200" h="60960">
                  <a:moveTo>
                    <a:pt x="0" y="0"/>
                  </a:moveTo>
                  <a:lnTo>
                    <a:pt x="7315200" y="0"/>
                  </a:lnTo>
                  <a:lnTo>
                    <a:pt x="7315200" y="60960"/>
                  </a:lnTo>
                  <a:lnTo>
                    <a:pt x="0" y="60960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7348982" cy="94744"/>
            </a:xfrm>
            <a:custGeom>
              <a:avLst/>
              <a:gdLst/>
              <a:ahLst/>
              <a:cxnLst/>
              <a:rect l="l" t="t" r="r" b="b"/>
              <a:pathLst>
                <a:path w="7348982" h="94744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77851"/>
                  </a:lnTo>
                  <a:cubicBezTo>
                    <a:pt x="7348982" y="87249"/>
                    <a:pt x="7341362" y="94742"/>
                    <a:pt x="7332091" y="94742"/>
                  </a:cubicBezTo>
                  <a:lnTo>
                    <a:pt x="16891" y="94742"/>
                  </a:lnTo>
                  <a:cubicBezTo>
                    <a:pt x="7620" y="94869"/>
                    <a:pt x="0" y="87249"/>
                    <a:pt x="0" y="77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7851"/>
                  </a:lnTo>
                  <a:lnTo>
                    <a:pt x="16891" y="77851"/>
                  </a:lnTo>
                  <a:lnTo>
                    <a:pt x="16891" y="60960"/>
                  </a:lnTo>
                  <a:lnTo>
                    <a:pt x="7332091" y="60960"/>
                  </a:lnTo>
                  <a:lnTo>
                    <a:pt x="7332091" y="77851"/>
                  </a:lnTo>
                  <a:lnTo>
                    <a:pt x="7315200" y="7785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5FAA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5888736"/>
            <a:ext cx="16459200" cy="585216"/>
            <a:chOff x="0" y="0"/>
            <a:chExt cx="21945600" cy="7802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1945600" cy="780288"/>
            </a:xfrm>
            <a:custGeom>
              <a:avLst/>
              <a:gdLst/>
              <a:ahLst/>
              <a:cxnLst/>
              <a:rect l="l" t="t" r="r" b="b"/>
              <a:pathLst>
                <a:path w="21945600" h="780288">
                  <a:moveTo>
                    <a:pt x="0" y="0"/>
                  </a:moveTo>
                  <a:lnTo>
                    <a:pt x="21945600" y="0"/>
                  </a:lnTo>
                  <a:lnTo>
                    <a:pt x="21945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8016" b="-498016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19456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WIAME EL-AMIMRI  ·  GRAOUI ABDERRAHMANE  ·  HAJAR SAMTAL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6547104"/>
            <a:ext cx="16459200" cy="512064"/>
            <a:chOff x="0" y="0"/>
            <a:chExt cx="21945600" cy="68275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45600" cy="682752"/>
            </a:xfrm>
            <a:custGeom>
              <a:avLst/>
              <a:gdLst/>
              <a:ahLst/>
              <a:cxnLst/>
              <a:rect l="l" t="t" r="r" b="b"/>
              <a:pathLst>
                <a:path w="21945600" h="682752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76304" b="-57630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 i="1">
                  <a:solidFill>
                    <a:srgbClr val="4A60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MST-SDSI S8  ·  Machine Learning  ·  FSTF — 2025/2026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194560" y="8010144"/>
            <a:ext cx="2926080" cy="822960"/>
            <a:chOff x="0" y="0"/>
            <a:chExt cx="3901440" cy="10972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01440" cy="1097280"/>
            </a:xfrm>
            <a:custGeom>
              <a:avLst/>
              <a:gdLst/>
              <a:ahLst/>
              <a:cxnLst/>
              <a:rect l="l" t="t" r="r" b="b"/>
              <a:pathLst>
                <a:path w="3901440" h="109728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390144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~98.48%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4560" y="8833104"/>
            <a:ext cx="2926080" cy="512064"/>
            <a:chOff x="0" y="0"/>
            <a:chExt cx="3901440" cy="6827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Accuracy RF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852160" y="8010144"/>
            <a:ext cx="2926080" cy="822960"/>
            <a:chOff x="0" y="0"/>
            <a:chExt cx="3901440" cy="109728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01440" cy="1097280"/>
            </a:xfrm>
            <a:custGeom>
              <a:avLst/>
              <a:gdLst/>
              <a:ahLst/>
              <a:cxnLst/>
              <a:rect l="l" t="t" r="r" b="b"/>
              <a:pathLst>
                <a:path w="3901440" h="109728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76200"/>
              <a:ext cx="390144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&gt;0.99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852160" y="8833104"/>
            <a:ext cx="2926080" cy="512064"/>
            <a:chOff x="0" y="0"/>
            <a:chExt cx="3901440" cy="6827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AUC-ROC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09760" y="8010144"/>
            <a:ext cx="2926080" cy="822960"/>
            <a:chOff x="0" y="0"/>
            <a:chExt cx="3901440" cy="109728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01440" cy="1097280"/>
            </a:xfrm>
            <a:custGeom>
              <a:avLst/>
              <a:gdLst/>
              <a:ahLst/>
              <a:cxnLst/>
              <a:rect l="l" t="t" r="r" b="b"/>
              <a:pathLst>
                <a:path w="3901440" h="109728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76200"/>
              <a:ext cx="390144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&lt;2 ms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09760" y="8833104"/>
            <a:ext cx="2926080" cy="512064"/>
            <a:chOff x="0" y="0"/>
            <a:chExt cx="3901440" cy="68275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Inférence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167360" y="8010144"/>
            <a:ext cx="2926080" cy="822960"/>
            <a:chOff x="0" y="0"/>
            <a:chExt cx="3901440" cy="109728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901440" cy="1097280"/>
            </a:xfrm>
            <a:custGeom>
              <a:avLst/>
              <a:gdLst/>
              <a:ahLst/>
              <a:cxnLst/>
              <a:rect l="l" t="t" r="r" b="b"/>
              <a:pathLst>
                <a:path w="3901440" h="1097280">
                  <a:moveTo>
                    <a:pt x="0" y="0"/>
                  </a:moveTo>
                  <a:lnTo>
                    <a:pt x="3901440" y="0"/>
                  </a:lnTo>
                  <a:lnTo>
                    <a:pt x="39014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80" b="-1928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76200"/>
              <a:ext cx="3901440" cy="11734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161D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67360" y="8833104"/>
            <a:ext cx="2926080" cy="512064"/>
            <a:chOff x="0" y="0"/>
            <a:chExt cx="3901440" cy="68275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901440" cy="682752"/>
            </a:xfrm>
            <a:custGeom>
              <a:avLst/>
              <a:gdLst/>
              <a:ahLst/>
              <a:cxnLst/>
              <a:rect l="l" t="t" r="r" b="b"/>
              <a:pathLst>
                <a:path w="3901440" h="682752">
                  <a:moveTo>
                    <a:pt x="0" y="0"/>
                  </a:moveTo>
                  <a:lnTo>
                    <a:pt x="3901440" y="0"/>
                  </a:lnTo>
                  <a:lnTo>
                    <a:pt x="3901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1343" b="-61343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3901440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6B88B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Features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1001</Words>
  <Application>Microsoft Office PowerPoint</Application>
  <PresentationFormat>Custom</PresentationFormat>
  <Paragraphs>404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 (MS)</vt:lpstr>
      <vt:lpstr>Calibri (MS) Italics</vt:lpstr>
      <vt:lpstr>Calibri</vt:lpstr>
      <vt:lpstr>Calibri (MS)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Presentation_KARD.pptx</dc:title>
  <cp:lastModifiedBy>M. G.</cp:lastModifiedBy>
  <cp:revision>8</cp:revision>
  <dcterms:created xsi:type="dcterms:W3CDTF">2006-08-16T00:00:00Z</dcterms:created>
  <dcterms:modified xsi:type="dcterms:W3CDTF">2026-04-28T13:51:14Z</dcterms:modified>
  <dc:identifier>DAHIEyw5APA</dc:identifier>
</cp:coreProperties>
</file>